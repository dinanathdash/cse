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Quicksand"/>
      <p:regular r:id="rId25"/>
      <p:bold r:id="rId26"/>
    </p:embeddedFont>
    <p:embeddedFont>
      <p:font typeface="Gill Sans"/>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16">
          <p15:clr>
            <a:srgbClr val="747775"/>
          </p15:clr>
        </p15:guide>
        <p15:guide id="2" orient="horz" pos="504">
          <p15:clr>
            <a:srgbClr val="747775"/>
          </p15:clr>
        </p15:guide>
        <p15:guide id="3" orient="horz" pos="173">
          <p15:clr>
            <a:srgbClr val="747775"/>
          </p15:clr>
        </p15:guide>
        <p15:guide id="4" orient="horz" pos="7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9ABEBF-9BBF-4B88-B93A-B9F46CAE2BA6}">
  <a:tblStyle styleId="{6D9ABEBF-9BBF-4B88-B93A-B9F46CAE2BA6}"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
        <p:guide pos="504" orient="horz"/>
        <p:guide pos="173" orient="horz"/>
        <p:guide pos="72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Quicksand-bold.fntdata"/><Relationship Id="rId25" Type="http://schemas.openxmlformats.org/officeDocument/2006/relationships/font" Target="fonts/Quicksand-regular.fntdata"/><Relationship Id="rId28" Type="http://schemas.openxmlformats.org/officeDocument/2006/relationships/font" Target="fonts/GillSans-bold.fntdata"/><Relationship Id="rId27" Type="http://schemas.openxmlformats.org/officeDocument/2006/relationships/font" Target="fonts/Gill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dffdbfb35_2_84: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Good morning. I'm Dinanath, representing Group 3 alongside Satyajeet, Avignyan, and Ashutosh. Today, we are presenting our Review-1 progress on the automated detection of hardcoded secrets using LLM-augmented static analysis.</a:t>
            </a:r>
            <a:endParaRPr/>
          </a:p>
        </p:txBody>
      </p:sp>
      <p:sp>
        <p:nvSpPr>
          <p:cNvPr id="136" name="Google Shape;136;g3ddffdbfb35_2_84: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dffdbfb35_2_95: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ddffdbfb35_2_95:notes"/>
          <p:cNvSpPr txBox="1"/>
          <p:nvPr>
            <p:ph idx="1" type="body"/>
          </p:nvPr>
        </p:nvSpPr>
        <p:spPr>
          <a:xfrm>
            <a:off x="685512" y="4400392"/>
            <a:ext cx="5486976" cy="3600691"/>
          </a:xfrm>
          <a:prstGeom prst="rect">
            <a:avLst/>
          </a:prstGeom>
          <a:noFill/>
          <a:ln>
            <a:noFill/>
          </a:ln>
        </p:spPr>
        <p:txBody>
          <a:bodyPr anchorCtr="0" anchor="t" bIns="40675" lIns="81350" spcFirstLastPara="1" rIns="81350" wrap="square" tIns="40675">
            <a:noAutofit/>
          </a:bodyPr>
          <a:lstStyle/>
          <a:p>
            <a:pPr indent="0" lvl="0" marL="0" rtl="0" algn="l">
              <a:spcBef>
                <a:spcPts val="0"/>
              </a:spcBef>
              <a:spcAft>
                <a:spcPts val="0"/>
              </a:spcAft>
              <a:buNone/>
            </a:pPr>
            <a:r>
              <a:rPr lang="en" sz="1200"/>
              <a:t>Our presentation will move rapidly from the problem of alert fatigue to our proposed hybrid architecture, followed by our current implementation results and the bottlenecks we are addressing.</a:t>
            </a:r>
            <a:endParaRPr sz="1200"/>
          </a:p>
        </p:txBody>
      </p:sp>
      <p:sp>
        <p:nvSpPr>
          <p:cNvPr id="148" name="Google Shape;148;g3ddffdbfb35_2_95:notes"/>
          <p:cNvSpPr txBox="1"/>
          <p:nvPr>
            <p:ph idx="12" type="sldNum"/>
          </p:nvPr>
        </p:nvSpPr>
        <p:spPr>
          <a:xfrm>
            <a:off x="3884088" y="8685377"/>
            <a:ext cx="2972472" cy="458912"/>
          </a:xfrm>
          <a:prstGeom prst="rect">
            <a:avLst/>
          </a:prstGeom>
          <a:noFill/>
          <a:ln>
            <a:noFill/>
          </a:ln>
        </p:spPr>
        <p:txBody>
          <a:bodyPr anchorCtr="0" anchor="b" bIns="40675" lIns="81350" spcFirstLastPara="1" rIns="81350" wrap="square" tIns="40675">
            <a:noAutofit/>
          </a:bodyPr>
          <a:lstStyle/>
          <a:p>
            <a:pPr indent="0" lvl="0" marL="0" rtl="0" algn="r">
              <a:spcBef>
                <a:spcPts val="0"/>
              </a:spcBef>
              <a:spcAft>
                <a:spcPts val="0"/>
              </a:spcAft>
              <a:buNone/>
            </a:pPr>
            <a:fld id="{00000000-1234-1234-1234-123412341234}" type="slidenum">
              <a:rPr lang="en" sz="1200"/>
              <a:t>‹#›</a:t>
            </a:fld>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dffdbfb35_2_10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In DevSecOps, traditional static secret scanners rely heavily on Regex and Entropy. The fatal flaw here is a lack of semantic understanding—they flag dummy credentials and safe test variables, creating massive False Positive Rates. This leads to severe alert fatigue for security teams. Our primary objective is to implement a two-stage hybrid scanning pipeline to slash these false positives without compromising our recall capabilities. Furthermore, we are committed to keeping this zero-trust by executing the LLM entirely offline.</a:t>
            </a:r>
            <a:endParaRPr/>
          </a:p>
        </p:txBody>
      </p:sp>
      <p:sp>
        <p:nvSpPr>
          <p:cNvPr id="156" name="Google Shape;156;g3ddffdbfb35_2_10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dffdbfb35_2_110: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In DevSecOps, traditional static secret scanners rely heavily on Regex and Entropy. The fatal flaw here is a lack of semantic understanding—they flag dummy credentials and safe test variables, creating massive False Positive Rates. This leads to severe alert fatigue for security teams. Our primary objective is to implement a two-stage hybrid scanning pipeline to slash these false positives without compromising our recall capabilities. Furthermore, we are committed to keeping this zero-trust by executing the LLM entirely offline.</a:t>
            </a:r>
            <a:endParaRPr/>
          </a:p>
        </p:txBody>
      </p:sp>
      <p:sp>
        <p:nvSpPr>
          <p:cNvPr id="164" name="Google Shape;164;g3ddffdbfb35_2_110: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ddffdbfb35_2_117: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We analyzed current literature and existing solutions to establish our baseline. The consensus is that while LLMs improve accuracy, they introduce new, restrictive barriers in real-world application.</a:t>
            </a:r>
            <a:endParaRPr/>
          </a:p>
        </p:txBody>
      </p:sp>
      <p:sp>
        <p:nvSpPr>
          <p:cNvPr id="172" name="Google Shape;172;g3ddffdbfb35_2_117: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dffdbfb35_2_125: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We analyzed current literature and existing solutions to establish our baseline. The consensus is that while LLMs improve accuracy, they introduce new, restrictive barriers in real-world application.</a:t>
            </a:r>
            <a:endParaRPr/>
          </a:p>
        </p:txBody>
      </p:sp>
      <p:sp>
        <p:nvSpPr>
          <p:cNvPr id="181" name="Google Shape;181;g3ddffdbfb35_2_125: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dffdbfb35_2_13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We identified three major limitations in current research: token inefficiency, context blindness, and data privacy. Sending raw source code to external APIs like OpenAI violates zero-trust models. To solve this, we use a cascading filter. We use Regex as a Stage-1 pre-filter, and only send a strict 11-line Abstract Syntax Tree context to the LLM. To guarantee data privacy, we deploy a 4-bit quantized Llama 3 8B model locally using the Apple MLX framework.</a:t>
            </a:r>
            <a:endParaRPr/>
          </a:p>
        </p:txBody>
      </p:sp>
      <p:sp>
        <p:nvSpPr>
          <p:cNvPr id="190" name="Google Shape;190;g3ddffdbfb35_2_13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dffdbfb35_2_140: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We identified three major limitations in current research: token inefficiency, context blindness, and data privacy. Sending raw source code to external APIs like OpenAI violates zero-trust models. To solve this, we use a cascading filter. We use Regex as a Stage-1 pre-filter, and only send a strict 11-line Abstract Syntax Tree context to the LLM. To guarantee data privacy, we deploy a 4-bit quantized Llama 3 8B model locally using the Apple MLX framework.</a:t>
            </a:r>
            <a:endParaRPr/>
          </a:p>
        </p:txBody>
      </p:sp>
      <p:sp>
        <p:nvSpPr>
          <p:cNvPr id="198" name="Google Shape;198;g3ddffdbfb35_2_140: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dffdbfb35_2_147: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Here is the schematic of our model. We are evaluating this architecture against the open-source CredData benchmark, which contains roughly 27,000 lines of real-world code. Everything is orchestrated in Python and runs locally on Apple Silicon utilizing Unified Memory.</a:t>
            </a:r>
            <a:endParaRPr/>
          </a:p>
        </p:txBody>
      </p:sp>
      <p:sp>
        <p:nvSpPr>
          <p:cNvPr id="206" name="Google Shape;206;g3ddffdbfb35_2_147: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dffdbfb35_2_156: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Here is the schematic of our model. We are evaluating this architecture against the open-source CredData benchmark, which contains roughly 27,000 lines of real-world code. Everything is orchestrated in Python and runs locally on Apple Silicon utilizing Unified Memory.</a:t>
            </a:r>
            <a:endParaRPr/>
          </a:p>
        </p:txBody>
      </p:sp>
      <p:sp>
        <p:nvSpPr>
          <p:cNvPr id="215" name="Google Shape;215;g3ddffdbfb35_2_156: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dffdbfb35_2_16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Regarding our progress, Phase 1—the Regex and AST context extraction—and Phase 2—the local MLX inference—are fully operational. We have successfully fine-tuned the model using LoRA at 3000 iterations to enforce strict JSON output parsing, and we have scaled our testing to the full CredData dataset.</a:t>
            </a:r>
            <a:endParaRPr/>
          </a:p>
        </p:txBody>
      </p:sp>
      <p:sp>
        <p:nvSpPr>
          <p:cNvPr id="223" name="Google Shape;223;g3ddffdbfb35_2_16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e007c11df_0_0:notes"/>
          <p:cNvSpPr txBox="1"/>
          <p:nvPr>
            <p:ph idx="1" type="body"/>
          </p:nvPr>
        </p:nvSpPr>
        <p:spPr>
          <a:xfrm>
            <a:off x="685512" y="4400392"/>
            <a:ext cx="5487000" cy="3600600"/>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The baseline results expose the 'context blindness' of traditional tools. In our tests, TruffleHog failed entirely with a 0.0123 recall, while Gitleaks missed 74% of actual secrets. In contrast, our hybrid model achieved an 87% overall accuracy. We maintained a highly competitive Precision of 0.8117 while surging our Recall to 0.9427. The F1-Score sits at a dominant 0.8723.</a:t>
            </a:r>
            <a:endParaRPr/>
          </a:p>
        </p:txBody>
      </p:sp>
      <p:sp>
        <p:nvSpPr>
          <p:cNvPr id="231" name="Google Shape;231;g3de007c11df_0_0:notes"/>
          <p:cNvSpPr/>
          <p:nvPr>
            <p:ph idx="2" type="sldImg"/>
          </p:nvPr>
        </p:nvSpPr>
        <p:spPr>
          <a:xfrm>
            <a:off x="519895" y="1143206"/>
            <a:ext cx="58182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dffdbfb35_2_177: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The baseline results expose the 'context blindness' of traditional tools. In our tests, TruffleHog failed entirely with a 0.0123 recall, while Gitleaks missed 74% of actual secrets. In contrast, our hybrid model achieved an 87% overall accuracy. We maintained a highly competitive Precision of 0.8117 while surging our Recall to 0.9427. The F1-Score sits at a dominant 0.8723.</a:t>
            </a:r>
            <a:endParaRPr/>
          </a:p>
        </p:txBody>
      </p:sp>
      <p:sp>
        <p:nvSpPr>
          <p:cNvPr id="239" name="Google Shape;239;g3ddffdbfb35_2_177: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dffdbfb35_2_184: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However, we must address the operational reality: executing this 1,000-hit subset took 3.5 hours locally. Sequential LLM inference is currently a severe bottleneck that makes monolithic repository scans impractical for fast-paced CI/CD pipelines. Moving forward, our priority shifts aggressively from detection accuracy to operational speed. We will investigate batch processing and model pruning to bring inference times down to viable thresholds, and we will validate our generalization against the FPSecretBench dataset before packaging this as a deployable GitHub Action.</a:t>
            </a:r>
            <a:endParaRPr/>
          </a:p>
        </p:txBody>
      </p:sp>
      <p:sp>
        <p:nvSpPr>
          <p:cNvPr id="248" name="Google Shape;248;g3ddffdbfb35_2_184: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dffdbfb35_2_191: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However, we must address the operational reality: executing this 1,000-hit subset took 3.5 hours locally. Sequential LLM inference is currently a severe bottleneck that makes monolithic repository scans impractical for fast-paced CI/CD pipelines. Moving forward, our priority shifts aggressively from detection accuracy to operational speed. We will investigate batch processing and model pruning to bring inference times down to viable thresholds, and we will validate our generalization against the FPSecretBench dataset before packaging this as a deployable GitHub Action.</a:t>
            </a:r>
            <a:endParaRPr/>
          </a:p>
        </p:txBody>
      </p:sp>
      <p:sp>
        <p:nvSpPr>
          <p:cNvPr id="256" name="Google Shape;256;g3ddffdbfb35_2_191: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dffdbfb35_2_198: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t>These are the references that ground our methodology. Thank you everyone, we are now open to your questions.</a:t>
            </a:r>
            <a:endParaRPr/>
          </a:p>
        </p:txBody>
      </p:sp>
      <p:sp>
        <p:nvSpPr>
          <p:cNvPr id="264" name="Google Shape;264;g3ddffdbfb35_2_198: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ddffdbfb35_2_203:notes"/>
          <p:cNvSpPr txBox="1"/>
          <p:nvPr>
            <p:ph idx="1" type="body"/>
          </p:nvPr>
        </p:nvSpPr>
        <p:spPr>
          <a:xfrm>
            <a:off x="685512" y="4400392"/>
            <a:ext cx="5486976" cy="3600691"/>
          </a:xfrm>
          <a:prstGeom prst="rect">
            <a:avLst/>
          </a:prstGeom>
        </p:spPr>
        <p:txBody>
          <a:bodyPr anchorCtr="0" anchor="t" bIns="81350" lIns="81350" spcFirstLastPara="1" rIns="81350" wrap="square" tIns="81350">
            <a:noAutofit/>
          </a:bodyPr>
          <a:lstStyle/>
          <a:p>
            <a:pPr indent="0" lvl="0" marL="0" rtl="0" algn="l">
              <a:spcBef>
                <a:spcPts val="0"/>
              </a:spcBef>
              <a:spcAft>
                <a:spcPts val="0"/>
              </a:spcAft>
              <a:buNone/>
            </a:pPr>
            <a:r>
              <a:rPr lang="en">
                <a:solidFill>
                  <a:schemeClr val="dk1"/>
                </a:solidFill>
              </a:rPr>
              <a:t>These are the references that ground our methodology. Thank you everyone, we are now open to your questions.</a:t>
            </a:r>
            <a:endParaRPr/>
          </a:p>
        </p:txBody>
      </p:sp>
      <p:sp>
        <p:nvSpPr>
          <p:cNvPr id="271" name="Google Shape;271;g3ddffdbfb35_2_203:notes"/>
          <p:cNvSpPr/>
          <p:nvPr>
            <p:ph idx="2" type="sldImg"/>
          </p:nvPr>
        </p:nvSpPr>
        <p:spPr>
          <a:xfrm>
            <a:off x="519895" y="1143206"/>
            <a:ext cx="5818211" cy="30861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4"/>
          <p:cNvSpPr txBox="1"/>
          <p:nvPr>
            <p:ph type="title"/>
          </p:nvPr>
        </p:nvSpPr>
        <p:spPr>
          <a:xfrm>
            <a:off x="715100" y="535000"/>
            <a:ext cx="7708800" cy="572700"/>
          </a:xfrm>
          <a:prstGeom prst="rect">
            <a:avLst/>
          </a:prstGeom>
          <a:noFill/>
          <a:ln>
            <a:noFill/>
          </a:ln>
        </p:spPr>
        <p:txBody>
          <a:bodyPr anchorCtr="0" anchor="b" bIns="91425" lIns="91425" spcFirstLastPara="1" rIns="91425" wrap="square" tIns="91425">
            <a:noAutofit/>
          </a:bodyPr>
          <a:lstStyle>
            <a:lvl1pPr lvl="0" algn="l">
              <a:spcBef>
                <a:spcPts val="0"/>
              </a:spcBef>
              <a:spcAft>
                <a:spcPts val="0"/>
              </a:spcAft>
              <a:buClr>
                <a:schemeClr val="dk2"/>
              </a:buClr>
              <a:buSzPts val="2500"/>
              <a:buFont typeface="Arial"/>
              <a:buNone/>
              <a:defRPr sz="2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60" name="Google Shape;60;p14"/>
          <p:cNvSpPr txBox="1"/>
          <p:nvPr>
            <p:ph idx="1" type="body"/>
          </p:nvPr>
        </p:nvSpPr>
        <p:spPr>
          <a:xfrm>
            <a:off x="720000" y="1430950"/>
            <a:ext cx="7704000" cy="3177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1pPr>
            <a:lvl2pPr indent="-304800" lvl="1" marL="914400" algn="l">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2pPr>
            <a:lvl3pPr indent="-304800" lvl="2" marL="1371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3pPr>
            <a:lvl4pPr indent="-304800" lvl="3" marL="1828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4pPr>
            <a:lvl5pPr indent="-304800" lvl="4" marL="22860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5pPr>
            <a:lvl6pPr indent="-304800" lvl="5" marL="27432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6pPr>
            <a:lvl7pPr indent="-304800" lvl="6" marL="32004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7pPr>
            <a:lvl8pPr indent="-304800" lvl="7" marL="36576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8pPr>
            <a:lvl9pPr indent="-304800" lvl="8" marL="4114800" algn="l">
              <a:lnSpc>
                <a:spcPct val="115000"/>
              </a:lnSpc>
              <a:spcBef>
                <a:spcPts val="0"/>
              </a:spcBef>
              <a:spcAft>
                <a:spcPts val="0"/>
              </a:spcAft>
              <a:buClr>
                <a:schemeClr val="dk1"/>
              </a:buClr>
              <a:buSzPts val="1200"/>
              <a:buFont typeface="Quicksand"/>
              <a:buChar char="■"/>
              <a:defRPr>
                <a:solidFill>
                  <a:schemeClr val="dk1"/>
                </a:solidFill>
                <a:latin typeface="Quicksand"/>
                <a:ea typeface="Quicksand"/>
                <a:cs typeface="Quicksand"/>
                <a:sym typeface="Quicksa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15"/>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solidFill>
                <a:srgbClr val="FFFFFF"/>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5" name="Shape 65"/>
        <p:cNvGrpSpPr/>
        <p:nvPr/>
      </p:nvGrpSpPr>
      <p:grpSpPr>
        <a:xfrm>
          <a:off x="0" y="0"/>
          <a:ext cx="0" cy="0"/>
          <a:chOff x="0" y="0"/>
          <a:chExt cx="0" cy="0"/>
        </a:xfrm>
      </p:grpSpPr>
      <p:sp>
        <p:nvSpPr>
          <p:cNvPr id="66" name="Google Shape;66;p16"/>
          <p:cNvSpPr txBox="1"/>
          <p:nvPr>
            <p:ph type="ctrTitle"/>
          </p:nvPr>
        </p:nvSpPr>
        <p:spPr>
          <a:xfrm>
            <a:off x="685800" y="1028700"/>
            <a:ext cx="7848600" cy="1445419"/>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6"/>
          <p:cNvSpPr txBox="1"/>
          <p:nvPr>
            <p:ph idx="1" type="subTitle"/>
          </p:nvPr>
        </p:nvSpPr>
        <p:spPr>
          <a:xfrm>
            <a:off x="685800" y="2628900"/>
            <a:ext cx="6400800" cy="1314450"/>
          </a:xfrm>
          <a:prstGeom prst="rect">
            <a:avLst/>
          </a:prstGeom>
          <a:noFill/>
          <a:ln>
            <a:noFill/>
          </a:ln>
        </p:spPr>
        <p:txBody>
          <a:bodyPr anchorCtr="0" anchor="t" bIns="45700" lIns="91425" spcFirstLastPara="1" rIns="91425" wrap="square" tIns="45700">
            <a:normAutofit/>
          </a:bodyPr>
          <a:lstStyle>
            <a:lvl1pPr lvl="0" algn="l">
              <a:spcBef>
                <a:spcPts val="560"/>
              </a:spcBef>
              <a:spcAft>
                <a:spcPts val="0"/>
              </a:spcAft>
              <a:buSzPts val="2380"/>
              <a:buNone/>
              <a:defRPr>
                <a:solidFill>
                  <a:srgbClr val="3F3F3F"/>
                </a:solidFill>
              </a:defRPr>
            </a:lvl1pPr>
            <a:lvl2pPr lvl="1" algn="ctr">
              <a:spcBef>
                <a:spcPts val="480"/>
              </a:spcBef>
              <a:spcAft>
                <a:spcPts val="0"/>
              </a:spcAft>
              <a:buSzPts val="2040"/>
              <a:buNone/>
              <a:defRPr>
                <a:solidFill>
                  <a:srgbClr val="888888"/>
                </a:solidFill>
              </a:defRPr>
            </a:lvl2pPr>
            <a:lvl3pPr lvl="2" algn="ctr">
              <a:spcBef>
                <a:spcPts val="400"/>
              </a:spcBef>
              <a:spcAft>
                <a:spcPts val="0"/>
              </a:spcAft>
              <a:buSzPts val="18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260"/>
              </a:spcBef>
              <a:spcAft>
                <a:spcPts val="0"/>
              </a:spcAft>
              <a:buSzPts val="1300"/>
              <a:buNone/>
              <a:defRPr>
                <a:solidFill>
                  <a:srgbClr val="888888"/>
                </a:solidFill>
              </a:defRPr>
            </a:lvl6pPr>
            <a:lvl7pPr lvl="6" algn="ctr">
              <a:spcBef>
                <a:spcPts val="260"/>
              </a:spcBef>
              <a:spcAft>
                <a:spcPts val="0"/>
              </a:spcAft>
              <a:buSzPts val="1300"/>
              <a:buNone/>
              <a:defRPr>
                <a:solidFill>
                  <a:srgbClr val="888888"/>
                </a:solidFill>
              </a:defRPr>
            </a:lvl7pPr>
            <a:lvl8pPr lvl="7" algn="ctr">
              <a:spcBef>
                <a:spcPts val="260"/>
              </a:spcBef>
              <a:spcAft>
                <a:spcPts val="0"/>
              </a:spcAft>
              <a:buSzPts val="1300"/>
              <a:buNone/>
              <a:defRPr>
                <a:solidFill>
                  <a:srgbClr val="888888"/>
                </a:solidFill>
              </a:defRPr>
            </a:lvl8pPr>
            <a:lvl9pPr lvl="8" algn="ctr">
              <a:spcBef>
                <a:spcPts val="260"/>
              </a:spcBef>
              <a:spcAft>
                <a:spcPts val="0"/>
              </a:spcAft>
              <a:buSzPts val="1300"/>
              <a:buNone/>
              <a:defRPr>
                <a:solidFill>
                  <a:srgbClr val="888888"/>
                </a:solidFill>
              </a:defRPr>
            </a:lvl9pPr>
          </a:lstStyle>
          <a:p/>
        </p:txBody>
      </p:sp>
      <p:sp>
        <p:nvSpPr>
          <p:cNvPr id="68" name="Google Shape;68;p16"/>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6"/>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cxnSp>
        <p:nvCxnSpPr>
          <p:cNvPr id="71" name="Google Shape;71;p16"/>
          <p:cNvCxnSpPr/>
          <p:nvPr/>
        </p:nvCxnSpPr>
        <p:spPr>
          <a:xfrm>
            <a:off x="685800" y="2548890"/>
            <a:ext cx="7848600" cy="1191"/>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17"/>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58140" lvl="1" marL="914400" algn="l">
              <a:spcBef>
                <a:spcPts val="480"/>
              </a:spcBef>
              <a:spcAft>
                <a:spcPts val="0"/>
              </a:spcAft>
              <a:buClr>
                <a:schemeClr val="accent1"/>
              </a:buClr>
              <a:buSzPts val="204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Clr>
                <a:schemeClr val="accent1"/>
              </a:buClr>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17"/>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2"/>
        </a:solidFill>
      </p:bgPr>
    </p:bg>
    <p:spTree>
      <p:nvGrpSpPr>
        <p:cNvPr id="78" name="Shape 78"/>
        <p:cNvGrpSpPr/>
        <p:nvPr/>
      </p:nvGrpSpPr>
      <p:grpSpPr>
        <a:xfrm>
          <a:off x="0" y="0"/>
          <a:ext cx="0" cy="0"/>
          <a:chOff x="0" y="0"/>
          <a:chExt cx="0" cy="0"/>
        </a:xfrm>
      </p:grpSpPr>
      <p:sp>
        <p:nvSpPr>
          <p:cNvPr id="79" name="Google Shape;79;p18"/>
          <p:cNvSpPr txBox="1"/>
          <p:nvPr>
            <p:ph type="title"/>
          </p:nvPr>
        </p:nvSpPr>
        <p:spPr>
          <a:xfrm>
            <a:off x="722313" y="1771650"/>
            <a:ext cx="7772400" cy="165020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722313" y="3470149"/>
            <a:ext cx="7772400" cy="1125140"/>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81" name="Google Shape;81;p18"/>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solidFill>
                <a:srgbClr val="88A44E"/>
              </a:solidFill>
            </a:endParaRPr>
          </a:p>
        </p:txBody>
      </p:sp>
      <p:cxnSp>
        <p:nvCxnSpPr>
          <p:cNvPr id="84" name="Google Shape;84;p18"/>
          <p:cNvCxnSpPr/>
          <p:nvPr/>
        </p:nvCxnSpPr>
        <p:spPr>
          <a:xfrm>
            <a:off x="731520" y="3449574"/>
            <a:ext cx="7848600" cy="1191"/>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19"/>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88" name="Google Shape;88;p19"/>
          <p:cNvSpPr txBox="1"/>
          <p:nvPr>
            <p:ph idx="2" type="body"/>
          </p:nvPr>
        </p:nvSpPr>
        <p:spPr>
          <a:xfrm>
            <a:off x="4648200" y="1255014"/>
            <a:ext cx="4038600" cy="3538728"/>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89" name="Google Shape;89;p19"/>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9"/>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2" name="Shape 92"/>
        <p:cNvGrpSpPr/>
        <p:nvPr/>
      </p:nvGrpSpPr>
      <p:grpSpPr>
        <a:xfrm>
          <a:off x="0" y="0"/>
          <a:ext cx="0" cy="0"/>
          <a:chOff x="0" y="0"/>
          <a:chExt cx="0" cy="0"/>
        </a:xfrm>
      </p:grpSpPr>
      <p:sp>
        <p:nvSpPr>
          <p:cNvPr id="93" name="Google Shape;93;p20"/>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20"/>
          <p:cNvSpPr txBox="1"/>
          <p:nvPr>
            <p:ph idx="1" type="body"/>
          </p:nvPr>
        </p:nvSpPr>
        <p:spPr>
          <a:xfrm>
            <a:off x="45720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95" name="Google Shape;95;p20"/>
          <p:cNvSpPr txBox="1"/>
          <p:nvPr>
            <p:ph idx="2" type="body"/>
          </p:nvPr>
        </p:nvSpPr>
        <p:spPr>
          <a:xfrm>
            <a:off x="45720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70"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96" name="Google Shape;96;p20"/>
          <p:cNvSpPr txBox="1"/>
          <p:nvPr>
            <p:ph idx="3" type="body"/>
          </p:nvPr>
        </p:nvSpPr>
        <p:spPr>
          <a:xfrm>
            <a:off x="4754880" y="1257300"/>
            <a:ext cx="3931920" cy="47982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97" name="Google Shape;97;p20"/>
          <p:cNvSpPr txBox="1"/>
          <p:nvPr>
            <p:ph idx="4" type="body"/>
          </p:nvPr>
        </p:nvSpPr>
        <p:spPr>
          <a:xfrm>
            <a:off x="4754880" y="1828800"/>
            <a:ext cx="3931920" cy="2963466"/>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70"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98" name="Google Shape;98;p20"/>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0"/>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0"/>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cxnSp>
        <p:nvCxnSpPr>
          <p:cNvPr id="101" name="Google Shape;101;p20"/>
          <p:cNvCxnSpPr/>
          <p:nvPr/>
        </p:nvCxnSpPr>
        <p:spPr>
          <a:xfrm rot="5400000">
            <a:off x="2806462" y="3034268"/>
            <a:ext cx="353187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1"/>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21"/>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457200" y="594060"/>
            <a:ext cx="2139696" cy="94640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22"/>
          <p:cNvSpPr txBox="1"/>
          <p:nvPr>
            <p:ph idx="1" type="body"/>
          </p:nvPr>
        </p:nvSpPr>
        <p:spPr>
          <a:xfrm>
            <a:off x="2971800" y="594060"/>
            <a:ext cx="5715000" cy="418338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110" name="Google Shape;110;p22"/>
          <p:cNvSpPr txBox="1"/>
          <p:nvPr>
            <p:ph idx="2" type="body"/>
          </p:nvPr>
        </p:nvSpPr>
        <p:spPr>
          <a:xfrm>
            <a:off x="457201" y="1597915"/>
            <a:ext cx="2139696" cy="3182711"/>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11" name="Google Shape;111;p22"/>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2"/>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solidFill>
                <a:srgbClr val="88A44E"/>
              </a:solidFill>
            </a:endParaRPr>
          </a:p>
        </p:txBody>
      </p:sp>
      <p:cxnSp>
        <p:nvCxnSpPr>
          <p:cNvPr id="114" name="Google Shape;114;p22"/>
          <p:cNvCxnSpPr/>
          <p:nvPr/>
        </p:nvCxnSpPr>
        <p:spPr>
          <a:xfrm rot="5400000">
            <a:off x="684114" y="2684956"/>
            <a:ext cx="418338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5" name="Shape 115"/>
        <p:cNvGrpSpPr/>
        <p:nvPr/>
      </p:nvGrpSpPr>
      <p:grpSpPr>
        <a:xfrm>
          <a:off x="0" y="0"/>
          <a:ext cx="0" cy="0"/>
          <a:chOff x="0" y="0"/>
          <a:chExt cx="0" cy="0"/>
        </a:xfrm>
      </p:grpSpPr>
      <p:sp>
        <p:nvSpPr>
          <p:cNvPr id="116" name="Google Shape;116;p23"/>
          <p:cNvSpPr txBox="1"/>
          <p:nvPr>
            <p:ph type="title"/>
          </p:nvPr>
        </p:nvSpPr>
        <p:spPr>
          <a:xfrm>
            <a:off x="457200" y="594360"/>
            <a:ext cx="2142680" cy="9486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23"/>
          <p:cNvSpPr/>
          <p:nvPr>
            <p:ph idx="2" type="pic"/>
          </p:nvPr>
        </p:nvSpPr>
        <p:spPr>
          <a:xfrm>
            <a:off x="2858610" y="628651"/>
            <a:ext cx="5904390" cy="4125342"/>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sp>
      <p:sp>
        <p:nvSpPr>
          <p:cNvPr id="118" name="Google Shape;118;p23"/>
          <p:cNvSpPr txBox="1"/>
          <p:nvPr>
            <p:ph idx="1" type="body"/>
          </p:nvPr>
        </p:nvSpPr>
        <p:spPr>
          <a:xfrm>
            <a:off x="457200" y="1600200"/>
            <a:ext cx="2139696" cy="318211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119" name="Google Shape;119;p2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2" name="Shape 122"/>
        <p:cNvGrpSpPr/>
        <p:nvPr/>
      </p:nvGrpSpPr>
      <p:grpSpPr>
        <a:xfrm>
          <a:off x="0" y="0"/>
          <a:ext cx="0" cy="0"/>
          <a:chOff x="0" y="0"/>
          <a:chExt cx="0" cy="0"/>
        </a:xfrm>
      </p:grpSpPr>
      <p:sp>
        <p:nvSpPr>
          <p:cNvPr id="123" name="Google Shape;123;p24"/>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24"/>
          <p:cNvSpPr txBox="1"/>
          <p:nvPr>
            <p:ph idx="1" type="body"/>
          </p:nvPr>
        </p:nvSpPr>
        <p:spPr>
          <a:xfrm rot="5400000">
            <a:off x="2743200" y="-1085850"/>
            <a:ext cx="36576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5" name="Google Shape;125;p24"/>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4"/>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4"/>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8" name="Shape 128"/>
        <p:cNvGrpSpPr/>
        <p:nvPr/>
      </p:nvGrpSpPr>
      <p:grpSpPr>
        <a:xfrm>
          <a:off x="0" y="0"/>
          <a:ext cx="0" cy="0"/>
          <a:chOff x="0" y="0"/>
          <a:chExt cx="0" cy="0"/>
        </a:xfrm>
      </p:grpSpPr>
      <p:sp>
        <p:nvSpPr>
          <p:cNvPr id="129" name="Google Shape;129;p25"/>
          <p:cNvSpPr txBox="1"/>
          <p:nvPr>
            <p:ph type="title"/>
          </p:nvPr>
        </p:nvSpPr>
        <p:spPr>
          <a:xfrm rot="5400000">
            <a:off x="5457825" y="1628775"/>
            <a:ext cx="440055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5"/>
          <p:cNvSpPr txBox="1"/>
          <p:nvPr>
            <p:ph idx="1" type="body"/>
          </p:nvPr>
        </p:nvSpPr>
        <p:spPr>
          <a:xfrm rot="5400000">
            <a:off x="1266825" y="-352425"/>
            <a:ext cx="440055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70"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1" name="Google Shape;131;p25"/>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5"/>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5"/>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165590"/>
            <a:ext cx="9144000" cy="1714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2" name="Google Shape;52;p13"/>
          <p:cNvSpPr txBox="1"/>
          <p:nvPr>
            <p:ph type="title"/>
          </p:nvPr>
        </p:nvSpPr>
        <p:spPr>
          <a:xfrm>
            <a:off x="457200" y="400050"/>
            <a:ext cx="8229600" cy="74295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3" name="Google Shape;53;p13"/>
          <p:cNvSpPr txBox="1"/>
          <p:nvPr>
            <p:ph idx="1" type="body"/>
          </p:nvPr>
        </p:nvSpPr>
        <p:spPr>
          <a:xfrm>
            <a:off x="457200" y="1200150"/>
            <a:ext cx="8229600" cy="3657600"/>
          </a:xfrm>
          <a:prstGeom prst="rect">
            <a:avLst/>
          </a:prstGeom>
          <a:noFill/>
          <a:ln>
            <a:noFill/>
          </a:ln>
        </p:spPr>
        <p:txBody>
          <a:bodyPr anchorCtr="0" anchor="t" bIns="45700" lIns="91425" spcFirstLastPara="1" rIns="91425" wrap="square" tIns="45700">
            <a:normAutofit/>
          </a:bodyPr>
          <a:lstStyle>
            <a:lvl1pPr indent="-379730" lvl="0" marL="457200" marR="0" rtl="0" algn="l">
              <a:spcBef>
                <a:spcPts val="560"/>
              </a:spcBef>
              <a:spcAft>
                <a:spcPts val="0"/>
              </a:spcAft>
              <a:buClr>
                <a:schemeClr val="accent6"/>
              </a:buClr>
              <a:buSzPts val="2380"/>
              <a:buFont typeface="Arial"/>
              <a:buChar char="•"/>
              <a:defRPr b="0" i="0" sz="2800" u="none" cap="none" strike="noStrike">
                <a:solidFill>
                  <a:schemeClr val="dk1"/>
                </a:solidFill>
                <a:latin typeface="Arial"/>
                <a:ea typeface="Arial"/>
                <a:cs typeface="Arial"/>
                <a:sym typeface="Arial"/>
              </a:defRPr>
            </a:lvl1pPr>
            <a:lvl2pPr indent="-358140" lvl="1" marL="914400" marR="0" rtl="0" algn="l">
              <a:spcBef>
                <a:spcPts val="480"/>
              </a:spcBef>
              <a:spcAft>
                <a:spcPts val="0"/>
              </a:spcAft>
              <a:buClr>
                <a:schemeClr val="accent6"/>
              </a:buClr>
              <a:buSzPts val="2040"/>
              <a:buFont typeface="Arial"/>
              <a:buChar char="•"/>
              <a:defRPr b="0" i="0" sz="24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accent6"/>
              </a:buClr>
              <a:buSzPts val="18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accent6"/>
              </a:buClr>
              <a:buSzPts val="1800"/>
              <a:buFont typeface="Arial"/>
              <a:buChar char="•"/>
              <a:defRPr b="0" i="0" sz="18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accent6"/>
              </a:buClr>
              <a:buSzPts val="1600"/>
              <a:buFont typeface="Arial"/>
              <a:buChar char="•"/>
              <a:defRPr b="0" i="0" sz="16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54" name="Google Shape;54;p13"/>
          <p:cNvSpPr/>
          <p:nvPr/>
        </p:nvSpPr>
        <p:spPr>
          <a:xfrm>
            <a:off x="0" y="0"/>
            <a:ext cx="9144000" cy="27432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5" name="Google Shape;55;p13"/>
          <p:cNvSpPr txBox="1"/>
          <p:nvPr>
            <p:ph idx="10" type="dt"/>
          </p:nvPr>
        </p:nvSpPr>
        <p:spPr>
          <a:xfrm>
            <a:off x="457200" y="13716"/>
            <a:ext cx="2895600" cy="2468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13"/>
          <p:cNvSpPr txBox="1"/>
          <p:nvPr>
            <p:ph idx="11" type="ftr"/>
          </p:nvPr>
        </p:nvSpPr>
        <p:spPr>
          <a:xfrm>
            <a:off x="3429000" y="13716"/>
            <a:ext cx="4114800" cy="24688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7" name="Google Shape;57;p13"/>
          <p:cNvSpPr txBox="1"/>
          <p:nvPr>
            <p:ph idx="12" type="sldNum"/>
          </p:nvPr>
        </p:nvSpPr>
        <p:spPr>
          <a:xfrm>
            <a:off x="7620000" y="13716"/>
            <a:ext cx="1066800" cy="246888"/>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400" u="none" cap="none" strike="noStrike">
                <a:solidFill>
                  <a:srgbClr val="FFFFFF"/>
                </a:solidFill>
                <a:latin typeface="Arial"/>
                <a:ea typeface="Arial"/>
                <a:cs typeface="Arial"/>
                <a:sym typeface="Arial"/>
              </a:defRPr>
            </a:lvl1pPr>
            <a:lvl2pPr indent="0" lvl="1" marL="0" marR="0" rtl="0" algn="l">
              <a:spcBef>
                <a:spcPts val="0"/>
              </a:spcBef>
              <a:buNone/>
              <a:defRPr b="1" i="0" sz="1400" u="none" cap="none" strike="noStrike">
                <a:solidFill>
                  <a:srgbClr val="FFFFFF"/>
                </a:solidFill>
                <a:latin typeface="Arial"/>
                <a:ea typeface="Arial"/>
                <a:cs typeface="Arial"/>
                <a:sym typeface="Arial"/>
              </a:defRPr>
            </a:lvl2pPr>
            <a:lvl3pPr indent="0" lvl="2" marL="0" marR="0" rtl="0" algn="l">
              <a:spcBef>
                <a:spcPts val="0"/>
              </a:spcBef>
              <a:buNone/>
              <a:defRPr b="1" i="0" sz="1400" u="none" cap="none" strike="noStrike">
                <a:solidFill>
                  <a:srgbClr val="FFFFFF"/>
                </a:solidFill>
                <a:latin typeface="Arial"/>
                <a:ea typeface="Arial"/>
                <a:cs typeface="Arial"/>
                <a:sym typeface="Arial"/>
              </a:defRPr>
            </a:lvl3pPr>
            <a:lvl4pPr indent="0" lvl="3" marL="0" marR="0" rtl="0" algn="l">
              <a:spcBef>
                <a:spcPts val="0"/>
              </a:spcBef>
              <a:buNone/>
              <a:defRPr b="1" i="0" sz="1400" u="none" cap="none" strike="noStrike">
                <a:solidFill>
                  <a:srgbClr val="FFFFFF"/>
                </a:solidFill>
                <a:latin typeface="Arial"/>
                <a:ea typeface="Arial"/>
                <a:cs typeface="Arial"/>
                <a:sym typeface="Arial"/>
              </a:defRPr>
            </a:lvl4pPr>
            <a:lvl5pPr indent="0" lvl="4" marL="0" marR="0" rtl="0" algn="l">
              <a:spcBef>
                <a:spcPts val="0"/>
              </a:spcBef>
              <a:buNone/>
              <a:defRPr b="1" i="0" sz="1400" u="none" cap="none" strike="noStrike">
                <a:solidFill>
                  <a:srgbClr val="FFFFFF"/>
                </a:solidFill>
                <a:latin typeface="Arial"/>
                <a:ea typeface="Arial"/>
                <a:cs typeface="Arial"/>
                <a:sym typeface="Arial"/>
              </a:defRPr>
            </a:lvl5pPr>
            <a:lvl6pPr indent="0" lvl="5" marL="0" marR="0" rtl="0" algn="l">
              <a:spcBef>
                <a:spcPts val="0"/>
              </a:spcBef>
              <a:buNone/>
              <a:defRPr b="1" i="0" sz="1400" u="none" cap="none" strike="noStrike">
                <a:solidFill>
                  <a:srgbClr val="FFFFFF"/>
                </a:solidFill>
                <a:latin typeface="Arial"/>
                <a:ea typeface="Arial"/>
                <a:cs typeface="Arial"/>
                <a:sym typeface="Arial"/>
              </a:defRPr>
            </a:lvl6pPr>
            <a:lvl7pPr indent="0" lvl="6" marL="0" marR="0" rtl="0" algn="l">
              <a:spcBef>
                <a:spcPts val="0"/>
              </a:spcBef>
              <a:buNone/>
              <a:defRPr b="1" i="0" sz="1400" u="none" cap="none" strike="noStrike">
                <a:solidFill>
                  <a:srgbClr val="FFFFFF"/>
                </a:solidFill>
                <a:latin typeface="Arial"/>
                <a:ea typeface="Arial"/>
                <a:cs typeface="Arial"/>
                <a:sym typeface="Arial"/>
              </a:defRPr>
            </a:lvl7pPr>
            <a:lvl8pPr indent="0" lvl="7" marL="0" marR="0" rtl="0" algn="l">
              <a:spcBef>
                <a:spcPts val="0"/>
              </a:spcBef>
              <a:buNone/>
              <a:defRPr b="1" i="0" sz="1400" u="none" cap="none" strike="noStrike">
                <a:solidFill>
                  <a:srgbClr val="FFFFFF"/>
                </a:solidFill>
                <a:latin typeface="Arial"/>
                <a:ea typeface="Arial"/>
                <a:cs typeface="Arial"/>
                <a:sym typeface="Arial"/>
              </a:defRPr>
            </a:lvl8pPr>
            <a:lvl9pPr indent="0" lvl="8" marL="0" marR="0" rtl="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26"/>
          <p:cNvSpPr txBox="1"/>
          <p:nvPr/>
        </p:nvSpPr>
        <p:spPr>
          <a:xfrm>
            <a:off x="342900" y="448475"/>
            <a:ext cx="7799100" cy="1635600"/>
          </a:xfrm>
          <a:prstGeom prst="rect">
            <a:avLst/>
          </a:prstGeom>
          <a:noFill/>
          <a:ln>
            <a:noFill/>
          </a:ln>
        </p:spPr>
        <p:txBody>
          <a:bodyPr anchorCtr="0" anchor="ctr" bIns="45000" lIns="90000" spcFirstLastPara="1" rIns="90000" wrap="square" tIns="45000">
            <a:noAutofit/>
          </a:bodyPr>
          <a:lstStyle/>
          <a:p>
            <a:pPr indent="0" lvl="0" marL="0" marR="0" rtl="0" algn="l">
              <a:lnSpc>
                <a:spcPct val="90000"/>
              </a:lnSpc>
              <a:spcBef>
                <a:spcPts val="0"/>
              </a:spcBef>
              <a:spcAft>
                <a:spcPts val="0"/>
              </a:spcAft>
              <a:buNone/>
            </a:pPr>
            <a:r>
              <a:rPr i="0" lang="en" sz="2800" u="none" cap="none" strike="noStrike">
                <a:solidFill>
                  <a:schemeClr val="dk2"/>
                </a:solidFill>
                <a:latin typeface="Times New Roman"/>
                <a:ea typeface="Times New Roman"/>
                <a:cs typeface="Times New Roman"/>
                <a:sym typeface="Times New Roman"/>
              </a:rPr>
              <a:t>FINAL YEAR RESEARCH PROJECT </a:t>
            </a:r>
            <a:endParaRPr i="0" sz="2800" u="none" cap="none" strike="noStrike">
              <a:solidFill>
                <a:schemeClr val="dk2"/>
              </a:solidFill>
              <a:latin typeface="Times New Roman"/>
              <a:ea typeface="Times New Roman"/>
              <a:cs typeface="Times New Roman"/>
              <a:sym typeface="Times New Roman"/>
            </a:endParaRPr>
          </a:p>
          <a:p>
            <a:pPr indent="0" lvl="0" marL="0" marR="0" rtl="0" algn="l">
              <a:lnSpc>
                <a:spcPct val="90000"/>
              </a:lnSpc>
              <a:spcBef>
                <a:spcPts val="0"/>
              </a:spcBef>
              <a:spcAft>
                <a:spcPts val="0"/>
              </a:spcAft>
              <a:buNone/>
            </a:pPr>
            <a:r>
              <a:rPr i="0" lang="en" sz="2800" u="none" cap="none" strike="noStrike">
                <a:solidFill>
                  <a:schemeClr val="dk2"/>
                </a:solidFill>
                <a:latin typeface="Times New Roman"/>
                <a:ea typeface="Times New Roman"/>
                <a:cs typeface="Times New Roman"/>
                <a:sym typeface="Times New Roman"/>
              </a:rPr>
              <a:t>Review</a:t>
            </a:r>
            <a:r>
              <a:rPr i="0" lang="en" sz="2800" u="none" cap="none" strike="noStrike">
                <a:solidFill>
                  <a:schemeClr val="dk2"/>
                </a:solidFill>
                <a:latin typeface="Times New Roman"/>
                <a:ea typeface="Times New Roman"/>
                <a:cs typeface="Times New Roman"/>
                <a:sym typeface="Times New Roman"/>
              </a:rPr>
              <a:t>-1</a:t>
            </a:r>
            <a:r>
              <a:rPr i="0" lang="en" sz="2800" u="none" cap="none" strike="noStrike">
                <a:solidFill>
                  <a:schemeClr val="dk2"/>
                </a:solidFill>
                <a:latin typeface="Times New Roman"/>
                <a:ea typeface="Times New Roman"/>
                <a:cs typeface="Times New Roman"/>
                <a:sym typeface="Times New Roman"/>
              </a:rPr>
              <a:t> Presentation</a:t>
            </a:r>
            <a:br>
              <a:rPr i="0" lang="en" sz="1100" u="none" cap="none" strike="noStrike">
                <a:solidFill>
                  <a:schemeClr val="dk1"/>
                </a:solidFill>
                <a:latin typeface="Times New Roman"/>
                <a:ea typeface="Times New Roman"/>
                <a:cs typeface="Times New Roman"/>
                <a:sym typeface="Times New Roman"/>
              </a:rPr>
            </a:br>
            <a:endParaRPr i="0" sz="11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None/>
            </a:pPr>
            <a:r>
              <a:rPr i="0" lang="en" sz="2200" u="none" cap="none" strike="noStrike">
                <a:solidFill>
                  <a:srgbClr val="572314"/>
                </a:solidFill>
                <a:latin typeface="Times New Roman"/>
                <a:ea typeface="Times New Roman"/>
                <a:cs typeface="Times New Roman"/>
                <a:sym typeface="Times New Roman"/>
              </a:rPr>
              <a:t>Automated Detection of Hardcoded Secrets in Modern Source Code Repositories using LLM-Augmented Static Analysis</a:t>
            </a:r>
            <a:endParaRPr i="0" sz="2200" u="none" cap="none" strike="noStrike">
              <a:solidFill>
                <a:srgbClr val="000000"/>
              </a:solidFill>
              <a:latin typeface="Times New Roman"/>
              <a:ea typeface="Times New Roman"/>
              <a:cs typeface="Times New Roman"/>
              <a:sym typeface="Times New Roman"/>
            </a:endParaRPr>
          </a:p>
        </p:txBody>
      </p:sp>
      <p:sp>
        <p:nvSpPr>
          <p:cNvPr id="139" name="Google Shape;139;p26"/>
          <p:cNvSpPr txBox="1"/>
          <p:nvPr/>
        </p:nvSpPr>
        <p:spPr>
          <a:xfrm>
            <a:off x="342904" y="2412400"/>
            <a:ext cx="3993900" cy="420900"/>
          </a:xfrm>
          <a:prstGeom prst="rect">
            <a:avLst/>
          </a:prstGeom>
          <a:noFill/>
          <a:ln>
            <a:noFill/>
          </a:ln>
        </p:spPr>
        <p:txBody>
          <a:bodyPr anchorCtr="0" anchor="ctr" bIns="45000" lIns="90000" spcFirstLastPara="1" rIns="90000" wrap="square" tIns="0">
            <a:normAutofit/>
          </a:bodyPr>
          <a:lstStyle/>
          <a:p>
            <a:pPr indent="0" lvl="0" marL="27305" marR="0" rtl="0" algn="l">
              <a:lnSpc>
                <a:spcPct val="110000"/>
              </a:lnSpc>
              <a:spcBef>
                <a:spcPts val="0"/>
              </a:spcBef>
              <a:spcAft>
                <a:spcPts val="0"/>
              </a:spcAft>
              <a:buNone/>
            </a:pPr>
            <a:r>
              <a:rPr b="1" i="0" lang="en" sz="1700" u="none" cap="none" strike="noStrike">
                <a:solidFill>
                  <a:srgbClr val="0070C0"/>
                </a:solidFill>
                <a:latin typeface="Times New Roman"/>
                <a:ea typeface="Times New Roman"/>
                <a:cs typeface="Times New Roman"/>
                <a:sym typeface="Times New Roman"/>
              </a:rPr>
              <a:t>Supervised By</a:t>
            </a:r>
            <a:r>
              <a:rPr b="1" i="0" lang="en" sz="1700" u="none" cap="none" strike="noStrike">
                <a:solidFill>
                  <a:srgbClr val="361309"/>
                </a:solidFill>
                <a:latin typeface="Times New Roman"/>
                <a:ea typeface="Times New Roman"/>
                <a:cs typeface="Times New Roman"/>
                <a:sym typeface="Times New Roman"/>
              </a:rPr>
              <a:t>: Dr. Bhanu Pratap Rajak </a:t>
            </a:r>
            <a:endParaRPr i="0" sz="1700" u="none" cap="none" strike="noStrike">
              <a:solidFill>
                <a:schemeClr val="dk1"/>
              </a:solidFill>
              <a:latin typeface="Times New Roman"/>
              <a:ea typeface="Times New Roman"/>
              <a:cs typeface="Times New Roman"/>
              <a:sym typeface="Times New Roman"/>
            </a:endParaRPr>
          </a:p>
        </p:txBody>
      </p:sp>
      <p:sp>
        <p:nvSpPr>
          <p:cNvPr id="140" name="Google Shape;140;p26"/>
          <p:cNvSpPr/>
          <p:nvPr/>
        </p:nvSpPr>
        <p:spPr>
          <a:xfrm>
            <a:off x="342900" y="2860050"/>
            <a:ext cx="3993900" cy="1713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i="0" lang="en" sz="1400" u="none" cap="none" strike="noStrike">
                <a:solidFill>
                  <a:srgbClr val="0070C0"/>
                </a:solidFill>
                <a:latin typeface="Times New Roman"/>
                <a:ea typeface="Times New Roman"/>
                <a:cs typeface="Times New Roman"/>
                <a:sym typeface="Times New Roman"/>
              </a:rPr>
              <a:t>Group No.: </a:t>
            </a:r>
            <a:r>
              <a:rPr b="1" i="0" lang="en" sz="1400" u="none" cap="none" strike="noStrike">
                <a:solidFill>
                  <a:schemeClr val="dk1"/>
                </a:solidFill>
                <a:latin typeface="Times New Roman"/>
                <a:ea typeface="Times New Roman"/>
                <a:cs typeface="Times New Roman"/>
                <a:sym typeface="Times New Roman"/>
              </a:rPr>
              <a:t>03</a:t>
            </a:r>
            <a:endParaRPr i="0" sz="1400" u="none" cap="none" strike="noStrike">
              <a:solidFill>
                <a:srgbClr val="0070C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400" u="none" cap="none" strike="noStrike">
                <a:solidFill>
                  <a:srgbClr val="000000"/>
                </a:solidFill>
                <a:latin typeface="Times New Roman"/>
                <a:ea typeface="Times New Roman"/>
                <a:cs typeface="Times New Roman"/>
                <a:sym typeface="Times New Roman"/>
              </a:rPr>
              <a:t>Name of the Student(s) with Regd. No.:</a:t>
            </a:r>
            <a:endParaRPr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Satyajeet Satapathy -  2241019340</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Dinanath Dash  -  2241004161</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Avignyan Sarangi - 2241019304</a:t>
            </a:r>
            <a:endParaRPr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i="0" lang="en" sz="1600" u="none" cap="none" strike="noStrike">
                <a:solidFill>
                  <a:schemeClr val="dk1"/>
                </a:solidFill>
                <a:latin typeface="Times New Roman"/>
                <a:ea typeface="Times New Roman"/>
                <a:cs typeface="Times New Roman"/>
                <a:sym typeface="Times New Roman"/>
              </a:rPr>
              <a:t>Ashutosh Raj - 2241018015</a:t>
            </a:r>
            <a:endParaRPr i="0" sz="1400" u="none" cap="none" strike="noStrike">
              <a:solidFill>
                <a:schemeClr val="dk1"/>
              </a:solidFill>
              <a:latin typeface="Times New Roman"/>
              <a:ea typeface="Times New Roman"/>
              <a:cs typeface="Times New Roman"/>
              <a:sym typeface="Times New Roman"/>
            </a:endParaRPr>
          </a:p>
        </p:txBody>
      </p:sp>
      <p:sp>
        <p:nvSpPr>
          <p:cNvPr id="141" name="Google Shape;141;p26"/>
          <p:cNvSpPr/>
          <p:nvPr/>
        </p:nvSpPr>
        <p:spPr>
          <a:xfrm>
            <a:off x="4884715" y="3529052"/>
            <a:ext cx="3729000" cy="1044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i="0" lang="en" sz="1500" u="none" cap="none" strike="noStrike">
                <a:solidFill>
                  <a:srgbClr val="0070C0"/>
                </a:solidFill>
                <a:latin typeface="Times New Roman"/>
                <a:ea typeface="Times New Roman"/>
                <a:cs typeface="Times New Roman"/>
                <a:sym typeface="Times New Roman"/>
              </a:rPr>
              <a:t>Department of Computer Sc. and Engineering</a:t>
            </a:r>
            <a:endParaRPr b="1" i="0" sz="1500" u="none" cap="none" strike="noStrike">
              <a:solidFill>
                <a:srgbClr val="0070C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300" u="none" cap="none" strike="noStrike">
                <a:solidFill>
                  <a:srgbClr val="000000"/>
                </a:solidFill>
                <a:latin typeface="Times New Roman"/>
                <a:ea typeface="Times New Roman"/>
                <a:cs typeface="Times New Roman"/>
                <a:sym typeface="Times New Roman"/>
              </a:rPr>
              <a:t>Faculty of Engineering &amp; Technology (ITER)</a:t>
            </a:r>
            <a:endParaRPr i="0" sz="13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200" u="none" cap="none" strike="noStrike">
                <a:solidFill>
                  <a:srgbClr val="000000"/>
                </a:solidFill>
                <a:latin typeface="Times New Roman"/>
                <a:ea typeface="Times New Roman"/>
                <a:cs typeface="Times New Roman"/>
                <a:sym typeface="Times New Roman"/>
              </a:rPr>
              <a:t>Siksha ‘O’ Anusandhan (Deemed to be) University</a:t>
            </a:r>
            <a:r>
              <a:rPr i="0" lang="en" sz="1200" u="none" cap="none" strike="noStrike">
                <a:solidFill>
                  <a:srgbClr val="000000"/>
                </a:solidFill>
                <a:latin typeface="Times New Roman"/>
                <a:ea typeface="Times New Roman"/>
                <a:cs typeface="Times New Roman"/>
                <a:sym typeface="Times New Roman"/>
              </a:rPr>
              <a:t> </a:t>
            </a:r>
            <a:endParaRPr i="0" sz="1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 sz="1200" u="none" cap="none" strike="noStrike">
                <a:solidFill>
                  <a:srgbClr val="000000"/>
                </a:solidFill>
                <a:latin typeface="Times New Roman"/>
                <a:ea typeface="Times New Roman"/>
                <a:cs typeface="Times New Roman"/>
                <a:sym typeface="Times New Roman"/>
              </a:rPr>
              <a:t>Bhubaneswar, Odisha</a:t>
            </a:r>
            <a:endParaRPr i="0" sz="1200" u="none" cap="none" strike="noStrike">
              <a:solidFill>
                <a:schemeClr val="dk1"/>
              </a:solidFill>
              <a:latin typeface="Times New Roman"/>
              <a:ea typeface="Times New Roman"/>
              <a:cs typeface="Times New Roman"/>
              <a:sym typeface="Times New Roman"/>
            </a:endParaRPr>
          </a:p>
        </p:txBody>
      </p:sp>
      <p:sp>
        <p:nvSpPr>
          <p:cNvPr id="142" name="Google Shape;142;p2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chemeClr val="dk1"/>
              </a:solidFill>
              <a:latin typeface="Times New Roman"/>
              <a:ea typeface="Times New Roman"/>
              <a:cs typeface="Times New Roman"/>
              <a:sym typeface="Times New Roman"/>
            </a:endParaRPr>
          </a:p>
        </p:txBody>
      </p:sp>
      <p:sp>
        <p:nvSpPr>
          <p:cNvPr id="143" name="Google Shape;143;p26"/>
          <p:cNvSpPr/>
          <p:nvPr/>
        </p:nvSpPr>
        <p:spPr>
          <a:xfrm>
            <a:off x="155520" y="-108270"/>
            <a:ext cx="304560" cy="2284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44" name="Google Shape;144;p26" title="Frame 6.png"/>
          <p:cNvPicPr preferRelativeResize="0"/>
          <p:nvPr/>
        </p:nvPicPr>
        <p:blipFill rotWithShape="1">
          <a:blip r:embed="rId3">
            <a:alphaModFix/>
          </a:blip>
          <a:srcRect b="0" l="0" r="0" t="0"/>
          <a:stretch/>
        </p:blipFill>
        <p:spPr>
          <a:xfrm>
            <a:off x="8141862" y="299025"/>
            <a:ext cx="1002150" cy="1002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27"/>
          <p:cNvSpPr txBox="1"/>
          <p:nvPr/>
        </p:nvSpPr>
        <p:spPr>
          <a:xfrm>
            <a:off x="342900" y="274625"/>
            <a:ext cx="34425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P</a:t>
            </a:r>
            <a:r>
              <a:rPr b="1" lang="en" sz="2800" strike="noStrike">
                <a:solidFill>
                  <a:srgbClr val="572314"/>
                </a:solidFill>
                <a:latin typeface="Times New Roman"/>
                <a:ea typeface="Times New Roman"/>
                <a:cs typeface="Times New Roman"/>
                <a:sym typeface="Times New Roman"/>
              </a:rPr>
              <a:t>resentation Outlin</a:t>
            </a:r>
            <a:r>
              <a:rPr b="1" lang="en" sz="2800">
                <a:solidFill>
                  <a:srgbClr val="572314"/>
                </a:solidFill>
                <a:latin typeface="Times New Roman"/>
                <a:ea typeface="Times New Roman"/>
                <a:cs typeface="Times New Roman"/>
                <a:sym typeface="Times New Roman"/>
              </a:rPr>
              <a:t>e</a:t>
            </a:r>
            <a:endParaRPr b="0" sz="2800" strike="noStrike">
              <a:solidFill>
                <a:srgbClr val="000000"/>
              </a:solidFill>
              <a:latin typeface="Times New Roman"/>
              <a:ea typeface="Times New Roman"/>
              <a:cs typeface="Times New Roman"/>
              <a:sym typeface="Times New Roman"/>
            </a:endParaRPr>
          </a:p>
        </p:txBody>
      </p:sp>
      <p:sp>
        <p:nvSpPr>
          <p:cNvPr id="151" name="Google Shape;151;p27"/>
          <p:cNvSpPr txBox="1"/>
          <p:nvPr/>
        </p:nvSpPr>
        <p:spPr>
          <a:xfrm>
            <a:off x="342900" y="1004625"/>
            <a:ext cx="7798800" cy="3885600"/>
          </a:xfrm>
          <a:prstGeom prst="rect">
            <a:avLst/>
          </a:prstGeom>
          <a:noFill/>
          <a:ln>
            <a:noFill/>
          </a:ln>
        </p:spPr>
        <p:txBody>
          <a:bodyPr anchorCtr="0" anchor="ctr" bIns="45000" lIns="90000" spcFirstLastPara="1" rIns="90000" wrap="square" tIns="45000">
            <a:noAutofit/>
          </a:bodyPr>
          <a:lstStyle/>
          <a:p>
            <a:pPr indent="-303530" lvl="0" marL="365760" marR="0" rtl="0" algn="l">
              <a:spcBef>
                <a:spcPts val="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Problem Statement &amp; Motivations</a:t>
            </a:r>
            <a:endParaRPr sz="1600">
              <a:solidFill>
                <a:schemeClr val="dk1"/>
              </a:solidFill>
              <a:latin typeface="Times New Roman"/>
              <a:ea typeface="Times New Roman"/>
              <a:cs typeface="Times New Roman"/>
              <a:sym typeface="Times New Roman"/>
            </a:endParaRPr>
          </a:p>
          <a:p>
            <a:pPr indent="-300990" lvl="1" marL="822960" marR="0" rtl="0" algn="l">
              <a:spcBef>
                <a:spcPts val="600"/>
              </a:spcBef>
              <a:spcAft>
                <a:spcPts val="0"/>
              </a:spcAft>
              <a:buClr>
                <a:srgbClr val="3891A7"/>
              </a:buClr>
              <a:buSzPts val="1400"/>
              <a:buFont typeface="Times New Roman"/>
              <a:buChar char="▪"/>
            </a:pPr>
            <a:r>
              <a:rPr i="0" lang="en" u="none" cap="none" strike="noStrike">
                <a:solidFill>
                  <a:schemeClr val="dk1"/>
                </a:solidFill>
                <a:latin typeface="Times New Roman"/>
                <a:ea typeface="Times New Roman"/>
                <a:cs typeface="Times New Roman"/>
                <a:sym typeface="Times New Roman"/>
              </a:rPr>
              <a:t>Problem Statement</a:t>
            </a:r>
            <a:endParaRPr i="0" u="none" cap="none" strike="noStrike">
              <a:solidFill>
                <a:schemeClr val="dk1"/>
              </a:solidFill>
              <a:latin typeface="Times New Roman"/>
              <a:ea typeface="Times New Roman"/>
              <a:cs typeface="Times New Roman"/>
              <a:sym typeface="Times New Roman"/>
            </a:endParaRPr>
          </a:p>
          <a:p>
            <a:pPr indent="-300990" lvl="1" marL="822960" marR="0" rtl="0" algn="l">
              <a:spcBef>
                <a:spcPts val="600"/>
              </a:spcBef>
              <a:spcAft>
                <a:spcPts val="0"/>
              </a:spcAft>
              <a:buClr>
                <a:srgbClr val="3891A7"/>
              </a:buClr>
              <a:buSzPts val="1400"/>
              <a:buFont typeface="Times New Roman"/>
              <a:buChar char="▪"/>
            </a:pPr>
            <a:r>
              <a:rPr i="0" lang="en" u="none" cap="none" strike="noStrike">
                <a:solidFill>
                  <a:schemeClr val="dk1"/>
                </a:solidFill>
                <a:latin typeface="Times New Roman"/>
                <a:ea typeface="Times New Roman"/>
                <a:cs typeface="Times New Roman"/>
                <a:sym typeface="Times New Roman"/>
              </a:rPr>
              <a:t>Motivations</a:t>
            </a:r>
            <a:endParaRPr i="0" u="none" cap="none" strike="noStrike">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Literature Review</a:t>
            </a:r>
            <a:endParaRPr sz="1600">
              <a:solidFill>
                <a:schemeClr val="dk1"/>
              </a:solidFill>
              <a:latin typeface="Times New Roman"/>
              <a:ea typeface="Times New Roman"/>
              <a:cs typeface="Times New Roman"/>
              <a:sym typeface="Times New Roman"/>
            </a:endParaRPr>
          </a:p>
          <a:p>
            <a:pPr indent="-313690" lvl="1" marL="822960" marR="0" rtl="0" algn="l">
              <a:spcBef>
                <a:spcPts val="600"/>
              </a:spcBef>
              <a:spcAft>
                <a:spcPts val="0"/>
              </a:spcAft>
              <a:buClr>
                <a:srgbClr val="3891A7"/>
              </a:buClr>
              <a:buSzPts val="1600"/>
              <a:buFont typeface="Times New Roman"/>
              <a:buChar char="▪"/>
            </a:pPr>
            <a:r>
              <a:rPr i="0" lang="en" u="none" cap="none" strike="noStrike">
                <a:solidFill>
                  <a:srgbClr val="000000"/>
                </a:solidFill>
                <a:latin typeface="Times New Roman"/>
                <a:ea typeface="Times New Roman"/>
                <a:cs typeface="Times New Roman"/>
                <a:sym typeface="Times New Roman"/>
              </a:rPr>
              <a:t>Existing Solutions &amp; Limitations</a:t>
            </a:r>
            <a:r>
              <a:rPr i="0" lang="en" sz="1600" u="none" cap="none" strike="noStrike">
                <a:solidFill>
                  <a:srgbClr val="000000"/>
                </a:solidFill>
                <a:latin typeface="Times New Roman"/>
                <a:ea typeface="Times New Roman"/>
                <a:cs typeface="Times New Roman"/>
                <a:sym typeface="Times New Roman"/>
              </a:rPr>
              <a:t> </a:t>
            </a:r>
            <a:endParaRPr i="0" sz="1600" u="none" cap="none" strike="noStrike">
              <a:solidFill>
                <a:srgbClr val="000000"/>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Proposed Methodology &amp; Approach </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Key Components/Modules &amp; Algorithms Used</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Dataset &amp; Tools/Technologies</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Work Done So Far (Implementation Progress)</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Preliminary Results (if any)</a:t>
            </a:r>
            <a:endParaRPr sz="1600">
              <a:solidFill>
                <a:schemeClr val="dk1"/>
              </a:solidFill>
              <a:latin typeface="Times New Roman"/>
              <a:ea typeface="Times New Roman"/>
              <a:cs typeface="Times New Roman"/>
              <a:sym typeface="Times New Roman"/>
            </a:endParaRPr>
          </a:p>
          <a:p>
            <a:pPr indent="-303530" lvl="0" marL="365760" marR="0" rtl="0" algn="l">
              <a:spcBef>
                <a:spcPts val="600"/>
              </a:spcBef>
              <a:spcAft>
                <a:spcPts val="0"/>
              </a:spcAft>
              <a:buClr>
                <a:srgbClr val="3891A7"/>
              </a:buClr>
              <a:buSzPts val="1600"/>
              <a:buFont typeface="Times New Roman"/>
              <a:buChar char="▪"/>
            </a:pPr>
            <a:r>
              <a:rPr lang="en" sz="1600">
                <a:solidFill>
                  <a:schemeClr val="dk1"/>
                </a:solidFill>
                <a:latin typeface="Times New Roman"/>
                <a:ea typeface="Times New Roman"/>
                <a:cs typeface="Times New Roman"/>
                <a:sym typeface="Times New Roman"/>
              </a:rPr>
              <a:t>Future Work Plan</a:t>
            </a:r>
            <a:endParaRPr sz="1600">
              <a:solidFill>
                <a:schemeClr val="dk1"/>
              </a:solidFill>
              <a:latin typeface="Times New Roman"/>
              <a:ea typeface="Times New Roman"/>
              <a:cs typeface="Times New Roman"/>
              <a:sym typeface="Times New Roman"/>
            </a:endParaRPr>
          </a:p>
          <a:p>
            <a:pPr indent="-303530" lvl="1" marL="365760" marR="0" rtl="0" algn="l">
              <a:spcBef>
                <a:spcPts val="600"/>
              </a:spcBef>
              <a:spcAft>
                <a:spcPts val="0"/>
              </a:spcAft>
              <a:buClr>
                <a:srgbClr val="3891A7"/>
              </a:buClr>
              <a:buSzPts val="1600"/>
              <a:buFont typeface="Times New Roman"/>
              <a:buChar char="▪"/>
            </a:pPr>
            <a:r>
              <a:rPr i="0" lang="en" sz="1600" u="none" cap="none" strike="noStrike">
                <a:solidFill>
                  <a:schemeClr val="dk1"/>
                </a:solidFill>
                <a:latin typeface="Times New Roman"/>
                <a:ea typeface="Times New Roman"/>
                <a:cs typeface="Times New Roman"/>
                <a:sym typeface="Times New Roman"/>
              </a:rPr>
              <a:t>References</a:t>
            </a:r>
            <a:endParaRPr i="0" sz="1600" u="none" cap="none" strike="noStrike">
              <a:solidFill>
                <a:schemeClr val="dk1"/>
              </a:solidFill>
              <a:latin typeface="Times New Roman"/>
              <a:ea typeface="Times New Roman"/>
              <a:cs typeface="Times New Roman"/>
              <a:sym typeface="Times New Roman"/>
            </a:endParaRPr>
          </a:p>
        </p:txBody>
      </p:sp>
      <p:sp>
        <p:nvSpPr>
          <p:cNvPr id="152" name="Google Shape;152;p27"/>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153" name="Google Shape;153;p27"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nvSpPr>
        <p:spPr>
          <a:xfrm>
            <a:off x="342900" y="274625"/>
            <a:ext cx="33576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Problem Statement</a:t>
            </a:r>
            <a:endParaRPr b="1" sz="2800">
              <a:solidFill>
                <a:srgbClr val="572314"/>
              </a:solidFill>
              <a:latin typeface="Times New Roman"/>
              <a:ea typeface="Times New Roman"/>
              <a:cs typeface="Times New Roman"/>
              <a:sym typeface="Times New Roman"/>
            </a:endParaRPr>
          </a:p>
        </p:txBody>
      </p:sp>
      <p:sp>
        <p:nvSpPr>
          <p:cNvPr id="159" name="Google Shape;159;p28"/>
          <p:cNvSpPr txBox="1"/>
          <p:nvPr/>
        </p:nvSpPr>
        <p:spPr>
          <a:xfrm>
            <a:off x="342900" y="1143000"/>
            <a:ext cx="7798800" cy="2800800"/>
          </a:xfrm>
          <a:prstGeom prst="rect">
            <a:avLst/>
          </a:prstGeom>
          <a:noFill/>
          <a:ln>
            <a:noFill/>
          </a:ln>
        </p:spPr>
        <p:txBody>
          <a:bodyPr anchorCtr="0" anchor="ctr" bIns="45000" lIns="90000" spcFirstLastPara="1" rIns="90000" wrap="square" tIns="45000">
            <a:noAutofit/>
          </a:bodyPr>
          <a:lstStyle/>
          <a:p>
            <a:pPr indent="-342900" lvl="0" marL="342900"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Domain: DevSecOps and Software Supply Chain Security.</a:t>
            </a:r>
            <a:br>
              <a:rPr lang="en" sz="1600" strike="noStrike">
                <a:solidFill>
                  <a:srgbClr val="000000"/>
                </a:solidFill>
                <a:latin typeface="Times New Roman"/>
                <a:ea typeface="Times New Roman"/>
                <a:cs typeface="Times New Roman"/>
                <a:sym typeface="Times New Roman"/>
              </a:rPr>
            </a:br>
            <a:endParaRPr sz="1600" strike="noStrike">
              <a:solidFill>
                <a:srgbClr val="000000"/>
              </a:solidFill>
              <a:latin typeface="Times New Roman"/>
              <a:ea typeface="Times New Roman"/>
              <a:cs typeface="Times New Roman"/>
              <a:sym typeface="Times New Roman"/>
            </a:endParaRPr>
          </a:p>
          <a:p>
            <a:pPr indent="-342900" lvl="0" marL="342900"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Problem Statement: </a:t>
            </a:r>
            <a:endParaRPr sz="1600" strike="noStrike">
              <a:solidFill>
                <a:srgbClr val="000000"/>
              </a:solidFill>
              <a:latin typeface="Times New Roman"/>
              <a:ea typeface="Times New Roman"/>
              <a:cs typeface="Times New Roman"/>
              <a:sym typeface="Times New Roman"/>
            </a:endParaRPr>
          </a:p>
          <a:p>
            <a:pPr indent="-339725" lvl="0" marL="628650" marR="0" rtl="0" algn="just">
              <a:spcBef>
                <a:spcPts val="0"/>
              </a:spcBef>
              <a:spcAft>
                <a:spcPts val="0"/>
              </a:spcAft>
              <a:buClr>
                <a:srgbClr val="000000"/>
              </a:buClr>
              <a:buSzPts val="1600"/>
              <a:buFont typeface="Arial"/>
              <a:buChar char="•"/>
            </a:pPr>
            <a:r>
              <a:rPr lang="en" sz="1600">
                <a:latin typeface="Times New Roman"/>
                <a:ea typeface="Times New Roman"/>
                <a:cs typeface="Times New Roman"/>
                <a:sym typeface="Times New Roman"/>
              </a:rPr>
              <a:t>Traditional static secret scanners lack semantic understanding, generating prohibitively high False Positive Rates by flagging safe test variables.</a:t>
            </a:r>
            <a:endParaRPr sz="1600">
              <a:latin typeface="Times New Roman"/>
              <a:ea typeface="Times New Roman"/>
              <a:cs typeface="Times New Roman"/>
              <a:sym typeface="Times New Roman"/>
            </a:endParaRPr>
          </a:p>
          <a:p>
            <a:pPr indent="-339725" lvl="0" marL="628650" marR="0" rtl="0" algn="just">
              <a:spcBef>
                <a:spcPts val="0"/>
              </a:spcBef>
              <a:spcAft>
                <a:spcPts val="0"/>
              </a:spcAft>
              <a:buClr>
                <a:srgbClr val="000000"/>
              </a:buClr>
              <a:buSzPts val="1600"/>
              <a:buFont typeface="Arial"/>
              <a:buChar char="•"/>
            </a:pPr>
            <a:r>
              <a:rPr lang="en" sz="1600">
                <a:latin typeface="Times New Roman"/>
                <a:ea typeface="Times New Roman"/>
                <a:cs typeface="Times New Roman"/>
                <a:sym typeface="Times New Roman"/>
              </a:rPr>
              <a:t>To resolve this, we engineered a two-stage hybrid scanning pipeline that uses Regex as a Stage-1 pre-filter and invokes a locally deployed, 4-bit quantized Meta Llama 3 model.</a:t>
            </a:r>
            <a:endParaRPr sz="1600">
              <a:latin typeface="Times New Roman"/>
              <a:ea typeface="Times New Roman"/>
              <a:cs typeface="Times New Roman"/>
              <a:sym typeface="Times New Roman"/>
            </a:endParaRPr>
          </a:p>
          <a:p>
            <a:pPr indent="-339725" lvl="0" marL="628650" marR="0" rtl="0" algn="just">
              <a:spcBef>
                <a:spcPts val="0"/>
              </a:spcBef>
              <a:spcAft>
                <a:spcPts val="0"/>
              </a:spcAft>
              <a:buClr>
                <a:srgbClr val="000000"/>
              </a:buClr>
              <a:buSzPts val="1600"/>
              <a:buFont typeface="Arial"/>
              <a:buChar char="•"/>
            </a:pPr>
            <a:r>
              <a:rPr lang="en" sz="1600">
                <a:latin typeface="Times New Roman"/>
                <a:ea typeface="Times New Roman"/>
                <a:cs typeface="Times New Roman"/>
                <a:sym typeface="Times New Roman"/>
              </a:rPr>
              <a:t>By analyzing a strict 11-line context window, our solution drastically reduces false alarms while maintaining total offline execution and data privacy.</a:t>
            </a:r>
            <a:endParaRPr b="0" sz="2800" strike="noStrike">
              <a:solidFill>
                <a:srgbClr val="000000"/>
              </a:solidFill>
              <a:latin typeface="Times New Roman"/>
              <a:ea typeface="Times New Roman"/>
              <a:cs typeface="Times New Roman"/>
              <a:sym typeface="Times New Roman"/>
            </a:endParaRPr>
          </a:p>
        </p:txBody>
      </p:sp>
      <p:sp>
        <p:nvSpPr>
          <p:cNvPr id="160" name="Google Shape;160;p28"/>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161" name="Google Shape;161;p28"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nvSpPr>
        <p:spPr>
          <a:xfrm>
            <a:off x="342900" y="274625"/>
            <a:ext cx="2085900" cy="5256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lang="en" sz="2800">
                <a:solidFill>
                  <a:srgbClr val="572314"/>
                </a:solidFill>
                <a:latin typeface="Times New Roman"/>
                <a:ea typeface="Times New Roman"/>
                <a:cs typeface="Times New Roman"/>
                <a:sym typeface="Times New Roman"/>
              </a:rPr>
              <a:t>Motivations</a:t>
            </a:r>
            <a:endParaRPr b="1" sz="2800">
              <a:solidFill>
                <a:srgbClr val="572314"/>
              </a:solidFill>
              <a:latin typeface="Times New Roman"/>
              <a:ea typeface="Times New Roman"/>
              <a:cs typeface="Times New Roman"/>
              <a:sym typeface="Times New Roman"/>
            </a:endParaRPr>
          </a:p>
        </p:txBody>
      </p:sp>
      <p:sp>
        <p:nvSpPr>
          <p:cNvPr id="167" name="Google Shape;167;p29"/>
          <p:cNvSpPr txBox="1"/>
          <p:nvPr/>
        </p:nvSpPr>
        <p:spPr>
          <a:xfrm>
            <a:off x="342900" y="1143000"/>
            <a:ext cx="7799100" cy="3547800"/>
          </a:xfrm>
          <a:prstGeom prst="rect">
            <a:avLst/>
          </a:prstGeom>
          <a:noFill/>
          <a:ln>
            <a:noFill/>
          </a:ln>
        </p:spPr>
        <p:txBody>
          <a:bodyPr anchorCtr="0" anchor="ctr" bIns="45000" lIns="90000" spcFirstLastPara="1" rIns="90000" wrap="square" tIns="45000">
            <a:noAutofit/>
          </a:bodyPr>
          <a:lstStyle/>
          <a:p>
            <a:pPr indent="-283210" lvl="0" marL="335915" marR="0" rtl="0" algn="just">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Motivation: </a:t>
            </a:r>
            <a:endParaRPr sz="1600">
              <a:solidFill>
                <a:srgbClr val="000000"/>
              </a:solidFill>
              <a:latin typeface="Times New Roman"/>
              <a:ea typeface="Times New Roman"/>
              <a:cs typeface="Times New Roman"/>
              <a:sym typeface="Times New Roman"/>
            </a:endParaRPr>
          </a:p>
          <a:p>
            <a:pPr indent="0" lvl="0" marL="342900" marR="0" rtl="0" algn="just">
              <a:spcBef>
                <a:spcPts val="0"/>
              </a:spcBef>
              <a:spcAft>
                <a:spcPts val="0"/>
              </a:spcAft>
              <a:buClr>
                <a:srgbClr val="000000"/>
              </a:buClr>
              <a:buSzPts val="1600"/>
              <a:buFont typeface="Arial"/>
              <a:buNone/>
            </a:pPr>
            <a:r>
              <a:rPr lang="en" sz="1600">
                <a:solidFill>
                  <a:srgbClr val="000000"/>
                </a:solidFill>
                <a:latin typeface="Times New Roman"/>
                <a:ea typeface="Times New Roman"/>
                <a:cs typeface="Times New Roman"/>
                <a:sym typeface="Times New Roman"/>
              </a:rPr>
              <a:t>High FPR causes severe </a:t>
            </a:r>
            <a:r>
              <a:rPr lang="en" sz="1600">
                <a:latin typeface="Times New Roman"/>
                <a:ea typeface="Times New Roman"/>
                <a:cs typeface="Times New Roman"/>
                <a:sym typeface="Times New Roman"/>
              </a:rPr>
              <a:t>"</a:t>
            </a:r>
            <a:r>
              <a:rPr lang="en" sz="1600">
                <a:solidFill>
                  <a:srgbClr val="000000"/>
                </a:solidFill>
                <a:latin typeface="Times New Roman"/>
                <a:ea typeface="Times New Roman"/>
                <a:cs typeface="Times New Roman"/>
                <a:sym typeface="Times New Roman"/>
              </a:rPr>
              <a:t>Alert Fatigue</a:t>
            </a:r>
            <a:r>
              <a:rPr lang="en" sz="1600">
                <a:latin typeface="Times New Roman"/>
                <a:ea typeface="Times New Roman"/>
                <a:cs typeface="Times New Roman"/>
                <a:sym typeface="Times New Roman"/>
              </a:rPr>
              <a:t>"</a:t>
            </a:r>
            <a:r>
              <a:rPr lang="en" sz="1600">
                <a:solidFill>
                  <a:srgbClr val="000000"/>
                </a:solidFill>
                <a:latin typeface="Times New Roman"/>
                <a:ea typeface="Times New Roman"/>
                <a:cs typeface="Times New Roman"/>
                <a:sym typeface="Times New Roman"/>
              </a:rPr>
              <a:t> among security teams, delaying CI/CD pipelines and increasing the likelihood that genuine, critical vulnerabilities are overlooked in large-scale codebases.</a:t>
            </a:r>
            <a:br>
              <a:rPr lang="en" sz="1600">
                <a:solidFill>
                  <a:srgbClr val="000000"/>
                </a:solidFill>
                <a:latin typeface="Times New Roman"/>
                <a:ea typeface="Times New Roman"/>
                <a:cs typeface="Times New Roman"/>
                <a:sym typeface="Times New Roman"/>
              </a:rPr>
            </a:br>
            <a:endParaRPr sz="1600" strike="noStrike">
              <a:solidFill>
                <a:srgbClr val="000000"/>
              </a:solidFill>
              <a:latin typeface="Times New Roman"/>
              <a:ea typeface="Times New Roman"/>
              <a:cs typeface="Times New Roman"/>
              <a:sym typeface="Times New Roman"/>
            </a:endParaRPr>
          </a:p>
          <a:p>
            <a:pPr indent="-283210" lvl="0" marL="335915"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Primary Objective: </a:t>
            </a:r>
            <a:endParaRPr sz="1600" strike="noStrike">
              <a:solidFill>
                <a:srgbClr val="000000"/>
              </a:solidFill>
              <a:latin typeface="Times New Roman"/>
              <a:ea typeface="Times New Roman"/>
              <a:cs typeface="Times New Roman"/>
              <a:sym typeface="Times New Roman"/>
            </a:endParaRPr>
          </a:p>
          <a:p>
            <a:pPr indent="0" lvl="0" marL="335915" marR="0" rtl="0" algn="just">
              <a:spcBef>
                <a:spcPts val="0"/>
              </a:spcBef>
              <a:spcAft>
                <a:spcPts val="0"/>
              </a:spcAft>
              <a:buClr>
                <a:srgbClr val="000000"/>
              </a:buClr>
              <a:buSzPts val="1600"/>
              <a:buFont typeface="Arial"/>
              <a:buNone/>
            </a:pPr>
            <a:r>
              <a:rPr lang="en" sz="1600" strike="noStrike">
                <a:solidFill>
                  <a:srgbClr val="000000"/>
                </a:solidFill>
                <a:latin typeface="Times New Roman"/>
                <a:ea typeface="Times New Roman"/>
                <a:cs typeface="Times New Roman"/>
                <a:sym typeface="Times New Roman"/>
              </a:rPr>
              <a:t>To design and implement a two-stage hybrid scanning pipeline that drastically reduces False Positive Rates in secret detection without compromising recall capabilities.</a:t>
            </a:r>
            <a:br>
              <a:rPr lang="en" sz="1600" strike="noStrike">
                <a:solidFill>
                  <a:srgbClr val="000000"/>
                </a:solidFill>
                <a:latin typeface="Times New Roman"/>
                <a:ea typeface="Times New Roman"/>
                <a:cs typeface="Times New Roman"/>
                <a:sym typeface="Times New Roman"/>
              </a:rPr>
            </a:br>
            <a:endParaRPr sz="1600" strike="noStrike">
              <a:solidFill>
                <a:srgbClr val="000000"/>
              </a:solidFill>
              <a:latin typeface="Times New Roman"/>
              <a:ea typeface="Times New Roman"/>
              <a:cs typeface="Times New Roman"/>
              <a:sym typeface="Times New Roman"/>
            </a:endParaRPr>
          </a:p>
          <a:p>
            <a:pPr indent="-283210" lvl="0" marL="335915" marR="0" rtl="0" algn="just">
              <a:spcBef>
                <a:spcPts val="0"/>
              </a:spcBef>
              <a:spcAft>
                <a:spcPts val="0"/>
              </a:spcAft>
              <a:buClr>
                <a:srgbClr val="000000"/>
              </a:buClr>
              <a:buSzPts val="1600"/>
              <a:buFont typeface="Arial"/>
              <a:buChar char="•"/>
            </a:pPr>
            <a:r>
              <a:rPr lang="en" sz="1600" strike="noStrike">
                <a:solidFill>
                  <a:srgbClr val="000000"/>
                </a:solidFill>
                <a:latin typeface="Times New Roman"/>
                <a:ea typeface="Times New Roman"/>
                <a:cs typeface="Times New Roman"/>
                <a:sym typeface="Times New Roman"/>
              </a:rPr>
              <a:t>Measurable Objectives: </a:t>
            </a:r>
            <a:endParaRPr sz="1600" strike="noStrike">
              <a:solidFill>
                <a:srgbClr val="000000"/>
              </a:solidFill>
              <a:latin typeface="Times New Roman"/>
              <a:ea typeface="Times New Roman"/>
              <a:cs typeface="Times New Roman"/>
              <a:sym typeface="Times New Roman"/>
            </a:endParaRPr>
          </a:p>
          <a:p>
            <a:pPr indent="-282575" lvl="0" marL="600710"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To evaluate baseline Regex performance against the Hybrid LLM pipeline using a quantitative Confusion Matrix.</a:t>
            </a:r>
            <a:endParaRPr sz="1600">
              <a:solidFill>
                <a:schemeClr val="dk1"/>
              </a:solidFill>
              <a:latin typeface="Times New Roman"/>
              <a:ea typeface="Times New Roman"/>
              <a:cs typeface="Times New Roman"/>
              <a:sym typeface="Times New Roman"/>
            </a:endParaRPr>
          </a:p>
          <a:p>
            <a:pPr indent="-282575" lvl="0" marL="600710"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To achieve low-latency, zero-trust inference by executing a fine-tuned LLM entirely offline on local hardware.</a:t>
            </a:r>
            <a:endParaRPr sz="1600" strike="noStrike">
              <a:solidFill>
                <a:srgbClr val="000000"/>
              </a:solidFill>
              <a:latin typeface="Times New Roman"/>
              <a:ea typeface="Times New Roman"/>
              <a:cs typeface="Times New Roman"/>
              <a:sym typeface="Times New Roman"/>
            </a:endParaRPr>
          </a:p>
        </p:txBody>
      </p:sp>
      <p:sp>
        <p:nvSpPr>
          <p:cNvPr id="168" name="Google Shape;168;p2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169" name="Google Shape;169;p29"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nvSpPr>
        <p:spPr>
          <a:xfrm>
            <a:off x="342900" y="274627"/>
            <a:ext cx="31287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Literature Review</a:t>
            </a:r>
            <a:endParaRPr b="1" sz="2800">
              <a:solidFill>
                <a:srgbClr val="572314"/>
              </a:solidFill>
              <a:latin typeface="Times New Roman"/>
              <a:ea typeface="Times New Roman"/>
              <a:cs typeface="Times New Roman"/>
              <a:sym typeface="Times New Roman"/>
            </a:endParaRPr>
          </a:p>
        </p:txBody>
      </p:sp>
      <p:sp>
        <p:nvSpPr>
          <p:cNvPr id="175" name="Google Shape;175;p30"/>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sp>
        <p:nvSpPr>
          <p:cNvPr id="176" name="Google Shape;176;p30"/>
          <p:cNvSpPr txBox="1"/>
          <p:nvPr/>
        </p:nvSpPr>
        <p:spPr>
          <a:xfrm>
            <a:off x="342900" y="800100"/>
            <a:ext cx="4800600" cy="295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Table1: Summary of Existing Approaches and Research Limitations</a:t>
            </a:r>
            <a:endParaRPr sz="1200">
              <a:solidFill>
                <a:schemeClr val="dk1"/>
              </a:solidFill>
              <a:latin typeface="Arial"/>
              <a:ea typeface="Arial"/>
              <a:cs typeface="Arial"/>
              <a:sym typeface="Arial"/>
            </a:endParaRPr>
          </a:p>
        </p:txBody>
      </p:sp>
      <p:graphicFrame>
        <p:nvGraphicFramePr>
          <p:cNvPr id="177" name="Google Shape;177;p30"/>
          <p:cNvGraphicFramePr/>
          <p:nvPr/>
        </p:nvGraphicFramePr>
        <p:xfrm>
          <a:off x="342900" y="1201590"/>
          <a:ext cx="3000000" cy="3000000"/>
        </p:xfrm>
        <a:graphic>
          <a:graphicData uri="http://schemas.openxmlformats.org/drawingml/2006/table">
            <a:tbl>
              <a:tblPr bandRow="1" firstRow="1">
                <a:noFill/>
                <a:tableStyleId>{6D9ABEBF-9BBF-4B88-B93A-B9F46CAE2BA6}</a:tableStyleId>
              </a:tblPr>
              <a:tblGrid>
                <a:gridCol w="872025"/>
                <a:gridCol w="1920850"/>
                <a:gridCol w="1321625"/>
                <a:gridCol w="1933500"/>
                <a:gridCol w="1750975"/>
              </a:tblGrid>
              <a:tr h="535950">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Author</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Methods/</a:t>
                      </a:r>
                      <a:endParaRPr b="1" sz="1400" u="none" cap="none" strike="noStrike">
                        <a:latin typeface="Times New Roman"/>
                        <a:ea typeface="Times New Roman"/>
                        <a:cs typeface="Times New Roman"/>
                        <a:sym typeface="Times New Roman"/>
                      </a:endParaRPr>
                    </a:p>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Techniques Used</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Dataset Used</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Research Outcomes</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Findings &amp; Limitations</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751200">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Schwarz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"Countermind" multi-layered security architecture using Semantic Boundary Logic (SBL) and Parameter-Space Restriction (PSR).</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N/A (Conceptual/Architectural design).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Shifts LLM defenses from reactive post-hoc filtering to proactive pre-inference structural validation.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Post-hoc filters are brittle against prompt injections; models inherently struggle to distinguish trusted instructions from untrusted data.</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750575">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Li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Injecting vulnerability steering vectors into LLM activation layers without altering original parameters.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SARD, FFmpeg+Qemu, Reveal, REEF.</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Outperformed state-of-the-art methods with a 12.86% F1-score increase on real-world datasets.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Existing representation methods focus on overall semantics instead of isolating specific vulnerability concepts.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751200">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Kim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Reinforcement learning (RL) based context generator to infer contextual signals from user prompts.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SafetyInstruct, Advbench, Wildjailbreak, XSTest.</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Reduces harmful responses while preventing unnecessary refusals of benign requests.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Conventional LLM frameworks fail on ambiguous tasks; extracting context is necessary to prevent bypassing safeguards.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750575">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Jin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Categorization of LLM adaptation into base application, static augmentation, RAG, fine-tuning, and hybrid fusion.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N/A (Survey paper analyzing standardized benchmarks).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Identified optimal architectural strengths (encoder vs. decoder) for different security priorities.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High token consumption, context window limits, and poor generalization remain major barriers.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bl>
          </a:graphicData>
        </a:graphic>
      </p:graphicFrame>
      <p:pic>
        <p:nvPicPr>
          <p:cNvPr id="178" name="Google Shape;178;p30"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nvSpPr>
        <p:spPr>
          <a:xfrm>
            <a:off x="342900" y="274625"/>
            <a:ext cx="44247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 sz="2800">
                <a:solidFill>
                  <a:srgbClr val="572314"/>
                </a:solidFill>
                <a:latin typeface="Times New Roman"/>
                <a:ea typeface="Times New Roman"/>
                <a:cs typeface="Times New Roman"/>
                <a:sym typeface="Times New Roman"/>
              </a:rPr>
              <a:t>Literature Review 	contd.</a:t>
            </a:r>
            <a:endParaRPr b="1" sz="2800">
              <a:solidFill>
                <a:srgbClr val="572314"/>
              </a:solidFill>
              <a:latin typeface="Times New Roman"/>
              <a:ea typeface="Times New Roman"/>
              <a:cs typeface="Times New Roman"/>
              <a:sym typeface="Times New Roman"/>
            </a:endParaRPr>
          </a:p>
        </p:txBody>
      </p:sp>
      <p:sp>
        <p:nvSpPr>
          <p:cNvPr id="184" name="Google Shape;184;p31"/>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sp>
        <p:nvSpPr>
          <p:cNvPr id="185" name="Google Shape;185;p31"/>
          <p:cNvSpPr txBox="1"/>
          <p:nvPr/>
        </p:nvSpPr>
        <p:spPr>
          <a:xfrm>
            <a:off x="342900" y="800095"/>
            <a:ext cx="5320800" cy="295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 sz="1200">
                <a:solidFill>
                  <a:schemeClr val="dk1"/>
                </a:solidFill>
                <a:latin typeface="Arial"/>
                <a:ea typeface="Arial"/>
                <a:cs typeface="Arial"/>
                <a:sym typeface="Arial"/>
              </a:rPr>
              <a:t>Table2: Summary of Existing Approaches and Research Limitations, contd.</a:t>
            </a:r>
            <a:endParaRPr sz="1200">
              <a:solidFill>
                <a:schemeClr val="dk1"/>
              </a:solidFill>
              <a:latin typeface="Arial"/>
              <a:ea typeface="Arial"/>
              <a:cs typeface="Arial"/>
              <a:sym typeface="Arial"/>
            </a:endParaRPr>
          </a:p>
        </p:txBody>
      </p:sp>
      <p:graphicFrame>
        <p:nvGraphicFramePr>
          <p:cNvPr id="186" name="Google Shape;186;p31"/>
          <p:cNvGraphicFramePr/>
          <p:nvPr/>
        </p:nvGraphicFramePr>
        <p:xfrm>
          <a:off x="342900" y="1095305"/>
          <a:ext cx="3000000" cy="3000000"/>
        </p:xfrm>
        <a:graphic>
          <a:graphicData uri="http://schemas.openxmlformats.org/drawingml/2006/table">
            <a:tbl>
              <a:tblPr bandRow="1" firstRow="1">
                <a:noFill/>
                <a:tableStyleId>{6D9ABEBF-9BBF-4B88-B93A-B9F46CAE2BA6}</a:tableStyleId>
              </a:tblPr>
              <a:tblGrid>
                <a:gridCol w="872025"/>
                <a:gridCol w="1920850"/>
                <a:gridCol w="1321625"/>
                <a:gridCol w="1933500"/>
                <a:gridCol w="1750975"/>
              </a:tblGrid>
              <a:tr h="535950">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Author</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Methods/</a:t>
                      </a:r>
                      <a:endParaRPr b="1" sz="1400" u="none" cap="none" strike="noStrike">
                        <a:latin typeface="Times New Roman"/>
                        <a:ea typeface="Times New Roman"/>
                        <a:cs typeface="Times New Roman"/>
                        <a:sym typeface="Times New Roman"/>
                      </a:endParaRPr>
                    </a:p>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Techniques Used</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Dataset Used</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Research Outcomes</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400"/>
                        <a:buFont typeface="Times New Roman"/>
                        <a:buNone/>
                      </a:pPr>
                      <a:r>
                        <a:rPr b="1" lang="en" sz="1400" u="none" cap="none" strike="noStrike">
                          <a:latin typeface="Times New Roman"/>
                          <a:ea typeface="Times New Roman"/>
                          <a:cs typeface="Times New Roman"/>
                          <a:sym typeface="Times New Roman"/>
                        </a:rPr>
                        <a:t>Findings &amp; Limitations</a:t>
                      </a:r>
                      <a:endParaRPr b="1" sz="14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751200">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Dozono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Empirical evaluation of 5 frontier LLMs comparing open-source vs. closed-source code performance.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CWE-Bench-Java (Open) and TS-Vuls (Closed, commercial Teamscale codebase).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Precision dropped significantly from 56% on open-source code to 34% on closed-source code.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LLM metrics are heavily inflated on open-source data due to training contamination.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750575">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Apostolidis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CppCheck static analysis filtered by a fine-tuned CodeBERT vulnerability prediction model.</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Big-Vul and ReVeal (C/C++ GitHub samples).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Reduced false positives, improving static analysis practicality with minimal impact on detection accuracy.</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Vulnerability prediction models lack line-level granularity; static tools suffer from overwhelming false alarms.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r h="751200">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Dozono et al. (2025)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Empirical evaluation of 5 frontier LLMs comparing open-source vs. closed-source code performance.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CWE-Bench-Java (Open) and TS-Vuls (Closed, commercial Teamscale codebase).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Precision dropped significantly from 56% on open-source code to 34% on closed-source code.</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LLM metrics are heavily inflated on open-source data due to training contamination.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tcPr>
                </a:tc>
              </a:tr>
              <a:tr h="750575">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Muske &amp; Khedker (2015)</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Data flow analysis computing Complete-range Non-deterministic Value (cnv) variables.</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Embedded C system applications (SCMS, BCM).</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Cut redundant model checking calls by 49.49% and reduced false positive elimination time by 39.28%.</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mes New Roman"/>
                        <a:buNone/>
                      </a:pPr>
                      <a:r>
                        <a:rPr b="0" lang="en" sz="1000" u="none" cap="none" strike="noStrike">
                          <a:latin typeface="Times New Roman"/>
                          <a:ea typeface="Times New Roman"/>
                          <a:cs typeface="Times New Roman"/>
                          <a:sym typeface="Times New Roman"/>
                        </a:rPr>
                        <a:t>Speed gains were achieved at the cost of missing 2.78% of false positives due to execution path over-approximation.</a:t>
                      </a:r>
                      <a:endParaRPr b="0" sz="1000" u="none" cap="none" strike="noStrike">
                        <a:latin typeface="Times New Roman"/>
                        <a:ea typeface="Times New Roman"/>
                        <a:cs typeface="Times New Roman"/>
                        <a:sym typeface="Times New Roman"/>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r>
            </a:tbl>
          </a:graphicData>
        </a:graphic>
      </p:graphicFrame>
      <p:pic>
        <p:nvPicPr>
          <p:cNvPr id="187" name="Google Shape;187;p31"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nvSpPr>
        <p:spPr>
          <a:xfrm>
            <a:off x="342900" y="274625"/>
            <a:ext cx="5036100" cy="5253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Research Gap &amp; Improvements</a:t>
            </a:r>
            <a:endParaRPr b="1" i="0" sz="2800" u="none" cap="none" strike="noStrike">
              <a:solidFill>
                <a:srgbClr val="572314"/>
              </a:solidFill>
              <a:latin typeface="Times New Roman"/>
              <a:ea typeface="Times New Roman"/>
              <a:cs typeface="Times New Roman"/>
              <a:sym typeface="Times New Roman"/>
            </a:endParaRPr>
          </a:p>
        </p:txBody>
      </p:sp>
      <p:sp>
        <p:nvSpPr>
          <p:cNvPr id="193" name="Google Shape;193;p32"/>
          <p:cNvSpPr txBox="1"/>
          <p:nvPr/>
        </p:nvSpPr>
        <p:spPr>
          <a:xfrm>
            <a:off x="342900" y="1143000"/>
            <a:ext cx="7799100" cy="2894700"/>
          </a:xfrm>
          <a:prstGeom prst="rect">
            <a:avLst/>
          </a:prstGeom>
          <a:noFill/>
          <a:ln>
            <a:noFill/>
          </a:ln>
        </p:spPr>
        <p:txBody>
          <a:bodyPr anchorCtr="0" anchor="ctr" bIns="45000" lIns="90000" spcFirstLastPara="1" rIns="90000" wrap="square" tIns="45000">
            <a:noAutofit/>
          </a:bodyPr>
          <a:lstStyle/>
          <a:p>
            <a:pPr indent="-342900" lvl="0" marL="3429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Identified Limitation 1: Token Inefficiency &amp; Latency Bottlenecks</a:t>
            </a:r>
            <a:endParaRPr i="0" sz="1600" cap="none" strike="noStrike">
              <a:solidFill>
                <a:srgbClr val="000000"/>
              </a:solidFill>
              <a:latin typeface="Times New Roman"/>
              <a:ea typeface="Times New Roman"/>
              <a:cs typeface="Times New Roman"/>
              <a:sym typeface="Times New Roman"/>
            </a:endParaRPr>
          </a:p>
          <a:p>
            <a:pPr indent="-340995" lvl="0" marL="662305"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Recent surveys (e.g., Jin, 2025) highlight that analyzing entire repositories using LLMs results in severe token consumption and context window exhaustion.</a:t>
            </a:r>
            <a:endParaRPr i="0" sz="1600" cap="none" strike="noStrike">
              <a:solidFill>
                <a:srgbClr val="000000"/>
              </a:solidFill>
              <a:latin typeface="Times New Roman"/>
              <a:ea typeface="Times New Roman"/>
              <a:cs typeface="Times New Roman"/>
              <a:sym typeface="Times New Roman"/>
            </a:endParaRPr>
          </a:p>
          <a:p>
            <a:pPr indent="-340995" lvl="0" marL="662305"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Our Improvement: We utilize a "cascading filter" approach. By using deterministic Regex as a Stage-1 pre-filter, we only invoke the LLM on a strict 11-line context window, bypassing the latency constraints of pure-LLM scanners.</a:t>
            </a:r>
            <a:endParaRPr i="0" sz="1600" cap="none" strike="noStrike">
              <a:solidFill>
                <a:srgbClr val="000000"/>
              </a:solidFill>
              <a:latin typeface="Times New Roman"/>
              <a:ea typeface="Times New Roman"/>
              <a:cs typeface="Times New Roman"/>
              <a:sym typeface="Times New Roman"/>
            </a:endParaRPr>
          </a:p>
          <a:p>
            <a:pPr indent="-241300" lvl="0" marL="342900" marR="0" rtl="0" algn="just">
              <a:lnSpc>
                <a:spcPct val="100000"/>
              </a:lnSpc>
              <a:spcBef>
                <a:spcPts val="0"/>
              </a:spcBef>
              <a:spcAft>
                <a:spcPts val="0"/>
              </a:spcAft>
              <a:buClr>
                <a:schemeClr val="dk1"/>
              </a:buClr>
              <a:buSzPts val="1600"/>
              <a:buFont typeface="Arial"/>
              <a:buNone/>
            </a:pPr>
            <a:r>
              <a:t/>
            </a:r>
            <a:endParaRPr i="0" sz="1600"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Identified Limitation 2: Granularity and "Context Blindness"</a:t>
            </a:r>
            <a:endParaRPr i="0" sz="1600" cap="none" strike="noStrike">
              <a:solidFill>
                <a:srgbClr val="000000"/>
              </a:solidFill>
              <a:latin typeface="Times New Roman"/>
              <a:ea typeface="Times New Roman"/>
              <a:cs typeface="Times New Roman"/>
              <a:sym typeface="Times New Roman"/>
            </a:endParaRPr>
          </a:p>
          <a:p>
            <a:pPr indent="-341630" lvl="0" marL="64897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Existing vulnerability models often evaluate overall file semantics rather than isolating specific vulnerability concepts (Li et al., 2025), and lack line-level granularity (Apostolidis et al., 2025).</a:t>
            </a:r>
            <a:endParaRPr sz="1600">
              <a:latin typeface="Times New Roman"/>
              <a:ea typeface="Times New Roman"/>
              <a:cs typeface="Times New Roman"/>
              <a:sym typeface="Times New Roman"/>
            </a:endParaRPr>
          </a:p>
        </p:txBody>
      </p:sp>
      <p:sp>
        <p:nvSpPr>
          <p:cNvPr id="194" name="Google Shape;194;p32"/>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195" name="Google Shape;195;p32"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nvSpPr>
        <p:spPr>
          <a:xfrm>
            <a:off x="342900" y="274625"/>
            <a:ext cx="6663600" cy="5253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Research Gap &amp; Improvements		contd.</a:t>
            </a:r>
            <a:endParaRPr b="1" i="0" sz="2800" u="none" cap="none" strike="noStrike">
              <a:solidFill>
                <a:srgbClr val="572314"/>
              </a:solidFill>
              <a:latin typeface="Times New Roman"/>
              <a:ea typeface="Times New Roman"/>
              <a:cs typeface="Times New Roman"/>
              <a:sym typeface="Times New Roman"/>
            </a:endParaRPr>
          </a:p>
        </p:txBody>
      </p:sp>
      <p:sp>
        <p:nvSpPr>
          <p:cNvPr id="201" name="Google Shape;201;p33"/>
          <p:cNvSpPr txBox="1"/>
          <p:nvPr/>
        </p:nvSpPr>
        <p:spPr>
          <a:xfrm>
            <a:off x="342900" y="1143000"/>
            <a:ext cx="7799100" cy="2894700"/>
          </a:xfrm>
          <a:prstGeom prst="rect">
            <a:avLst/>
          </a:prstGeom>
          <a:noFill/>
          <a:ln>
            <a:noFill/>
          </a:ln>
        </p:spPr>
        <p:txBody>
          <a:bodyPr anchorCtr="0" anchor="ctr" bIns="45000" lIns="90000" spcFirstLastPara="1" rIns="90000" wrap="square" tIns="45000">
            <a:noAutofit/>
          </a:bodyPr>
          <a:lstStyle/>
          <a:p>
            <a:pPr indent="-341630" lvl="0" marL="64897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Our Improvement: We extract the Abstract Syntax Tree (AST) context (5 lines above and below the Regex match). Our LoRA fine-tuning specifically trains the model to evaluate variable scope and dummy test parameters within this micro-context.</a:t>
            </a:r>
            <a:endParaRPr i="0" sz="1600" cap="none" strike="noStrike">
              <a:solidFill>
                <a:srgbClr val="000000"/>
              </a:solidFill>
              <a:latin typeface="Times New Roman"/>
              <a:ea typeface="Times New Roman"/>
              <a:cs typeface="Times New Roman"/>
              <a:sym typeface="Times New Roman"/>
            </a:endParaRPr>
          </a:p>
          <a:p>
            <a:pPr indent="-241300" lvl="0" marL="342900" marR="0" rtl="0" algn="just">
              <a:lnSpc>
                <a:spcPct val="100000"/>
              </a:lnSpc>
              <a:spcBef>
                <a:spcPts val="0"/>
              </a:spcBef>
              <a:spcAft>
                <a:spcPts val="0"/>
              </a:spcAft>
              <a:buClr>
                <a:schemeClr val="dk1"/>
              </a:buClr>
              <a:buSzPts val="1600"/>
              <a:buFont typeface="Arial"/>
              <a:buNone/>
            </a:pPr>
            <a:r>
              <a:t/>
            </a:r>
            <a:endParaRPr i="0" sz="1600"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Identified Limitation 3: The Data Privacy Paradigm</a:t>
            </a:r>
            <a:endParaRPr i="0" sz="1600" cap="none" strike="noStrike">
              <a:solidFill>
                <a:srgbClr val="000000"/>
              </a:solidFill>
              <a:latin typeface="Times New Roman"/>
              <a:ea typeface="Times New Roman"/>
              <a:cs typeface="Times New Roman"/>
              <a:sym typeface="Times New Roman"/>
            </a:endParaRPr>
          </a:p>
          <a:p>
            <a:pPr indent="-342265" lvl="0" marL="6350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State-of-the-art LLM security tools rely on cloud-based APIs. Sending proprietary, unredacted corporate source code to external servers (OpenAI/Anthropic) violates Zero-Trust security models and data compliance laws.</a:t>
            </a:r>
            <a:endParaRPr i="0" sz="1600" cap="none" strike="noStrike">
              <a:solidFill>
                <a:srgbClr val="000000"/>
              </a:solidFill>
              <a:latin typeface="Times New Roman"/>
              <a:ea typeface="Times New Roman"/>
              <a:cs typeface="Times New Roman"/>
              <a:sym typeface="Times New Roman"/>
            </a:endParaRPr>
          </a:p>
          <a:p>
            <a:pPr indent="-342265" lvl="0" marL="63500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Our Improvement: Total offline execution. We bridge this gap by deploying a 4-bit quantized Meta Llama 3 8B model locally using the Apple MLX framework, leveraging Unified Memory for secure, on-device inference.</a:t>
            </a:r>
            <a:endParaRPr b="0" i="0" sz="1600" u="none" cap="none" strike="noStrike">
              <a:solidFill>
                <a:srgbClr val="000000"/>
              </a:solidFill>
              <a:latin typeface="Times New Roman"/>
              <a:ea typeface="Times New Roman"/>
              <a:cs typeface="Times New Roman"/>
              <a:sym typeface="Times New Roman"/>
            </a:endParaRPr>
          </a:p>
        </p:txBody>
      </p:sp>
      <p:sp>
        <p:nvSpPr>
          <p:cNvPr id="202" name="Google Shape;202;p33"/>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03" name="Google Shape;203;p33"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nvSpPr>
        <p:spPr>
          <a:xfrm>
            <a:off x="342900" y="274625"/>
            <a:ext cx="5407500" cy="5256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i="0" lang="en" sz="2800" u="none" cap="none" strike="noStrike">
                <a:solidFill>
                  <a:srgbClr val="572314"/>
                </a:solidFill>
                <a:latin typeface="Times New Roman"/>
                <a:ea typeface="Times New Roman"/>
                <a:cs typeface="Times New Roman"/>
                <a:sym typeface="Times New Roman"/>
              </a:rPr>
              <a:t>Proposed Solution &amp; Architecture</a:t>
            </a:r>
            <a:endParaRPr b="1" i="0" sz="2800" u="none" cap="none" strike="noStrike">
              <a:solidFill>
                <a:srgbClr val="572314"/>
              </a:solidFill>
              <a:latin typeface="Times New Roman"/>
              <a:ea typeface="Times New Roman"/>
              <a:cs typeface="Times New Roman"/>
              <a:sym typeface="Times New Roman"/>
            </a:endParaRPr>
          </a:p>
        </p:txBody>
      </p:sp>
      <p:sp>
        <p:nvSpPr>
          <p:cNvPr id="209" name="Google Shape;209;p34"/>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sp>
        <p:nvSpPr>
          <p:cNvPr id="210" name="Google Shape;210;p34"/>
          <p:cNvSpPr txBox="1"/>
          <p:nvPr/>
        </p:nvSpPr>
        <p:spPr>
          <a:xfrm>
            <a:off x="2427000" y="4707775"/>
            <a:ext cx="4290000" cy="310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300">
                <a:solidFill>
                  <a:schemeClr val="dk1"/>
                </a:solidFill>
                <a:latin typeface="Times New Roman"/>
                <a:ea typeface="Times New Roman"/>
                <a:cs typeface="Times New Roman"/>
                <a:sym typeface="Times New Roman"/>
              </a:rPr>
              <a:t>Fig. 1: Schematic Model Diagram of the Proposed Model</a:t>
            </a:r>
            <a:endParaRPr sz="1300">
              <a:solidFill>
                <a:schemeClr val="dk1"/>
              </a:solidFill>
              <a:latin typeface="Times New Roman"/>
              <a:ea typeface="Times New Roman"/>
              <a:cs typeface="Times New Roman"/>
              <a:sym typeface="Times New Roman"/>
            </a:endParaRPr>
          </a:p>
        </p:txBody>
      </p:sp>
      <p:pic>
        <p:nvPicPr>
          <p:cNvPr descr="WhatsApp Image 2026-03-24 at 15.28.24" id="211" name="Google Shape;211;p34"/>
          <p:cNvPicPr preferRelativeResize="0"/>
          <p:nvPr/>
        </p:nvPicPr>
        <p:blipFill rotWithShape="1">
          <a:blip r:embed="rId3">
            <a:alphaModFix/>
          </a:blip>
          <a:srcRect b="0" l="0" r="0" t="0"/>
          <a:stretch/>
        </p:blipFill>
        <p:spPr>
          <a:xfrm>
            <a:off x="520700" y="853450"/>
            <a:ext cx="7621148" cy="3801101"/>
          </a:xfrm>
          <a:prstGeom prst="rect">
            <a:avLst/>
          </a:prstGeom>
          <a:noFill/>
          <a:ln>
            <a:noFill/>
          </a:ln>
        </p:spPr>
      </p:pic>
      <p:pic>
        <p:nvPicPr>
          <p:cNvPr id="212" name="Google Shape;212;p34" title="Frame 6.png"/>
          <p:cNvPicPr preferRelativeResize="0"/>
          <p:nvPr/>
        </p:nvPicPr>
        <p:blipFill rotWithShape="1">
          <a:blip r:embed="rId4">
            <a:alphaModFix/>
          </a:blip>
          <a:srcRect b="0" l="0" r="0" t="0"/>
          <a:stretch/>
        </p:blipFill>
        <p:spPr>
          <a:xfrm>
            <a:off x="8141862" y="0"/>
            <a:ext cx="1002150" cy="1002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5"/>
          <p:cNvSpPr txBox="1"/>
          <p:nvPr/>
        </p:nvSpPr>
        <p:spPr>
          <a:xfrm>
            <a:off x="342900" y="274625"/>
            <a:ext cx="48654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Dataset &amp; Tools/Technologies</a:t>
            </a:r>
            <a:endParaRPr b="1" i="0" sz="2800" u="none" cap="none" strike="noStrike">
              <a:solidFill>
                <a:srgbClr val="572314"/>
              </a:solidFill>
              <a:latin typeface="Times New Roman"/>
              <a:ea typeface="Times New Roman"/>
              <a:cs typeface="Times New Roman"/>
              <a:sym typeface="Times New Roman"/>
            </a:endParaRPr>
          </a:p>
        </p:txBody>
      </p:sp>
      <p:sp>
        <p:nvSpPr>
          <p:cNvPr id="218" name="Google Shape;218;p35"/>
          <p:cNvSpPr txBox="1"/>
          <p:nvPr/>
        </p:nvSpPr>
        <p:spPr>
          <a:xfrm>
            <a:off x="342900" y="1149300"/>
            <a:ext cx="7798800" cy="2844900"/>
          </a:xfrm>
          <a:prstGeom prst="rect">
            <a:avLst/>
          </a:prstGeom>
          <a:noFill/>
          <a:ln>
            <a:noFill/>
          </a:ln>
        </p:spPr>
        <p:txBody>
          <a:bodyPr anchorCtr="0" anchor="ctr" bIns="45000" lIns="90000" spcFirstLastPara="1" rIns="90000" wrap="square" tIns="45000">
            <a:noAutofit/>
          </a:bodyPr>
          <a:lstStyle/>
          <a:p>
            <a:pPr indent="-285750" lvl="0" marL="285750" marR="0" rtl="0" algn="just">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Dataset Description:</a:t>
            </a:r>
            <a:endParaRPr i="0" sz="1600" cap="none" strike="noStrike">
              <a:solidFill>
                <a:srgbClr val="000000"/>
              </a:solidFill>
              <a:latin typeface="Times New Roman"/>
              <a:ea typeface="Times New Roman"/>
              <a:cs typeface="Times New Roman"/>
              <a:sym typeface="Times New Roman"/>
            </a:endParaRPr>
          </a:p>
          <a:p>
            <a:pPr indent="-285115" lvl="0" marL="62166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Source: The open-source CredData benchmark dataset.</a:t>
            </a:r>
            <a:endParaRPr sz="1600">
              <a:solidFill>
                <a:schemeClr val="dk1"/>
              </a:solidFill>
              <a:latin typeface="Times New Roman"/>
              <a:ea typeface="Times New Roman"/>
              <a:cs typeface="Times New Roman"/>
              <a:sym typeface="Times New Roman"/>
            </a:endParaRPr>
          </a:p>
          <a:p>
            <a:pPr indent="-285115" lvl="0" marL="62166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Composition: Comprises approximately 27,000 lines of real-world source code snippets utilized to evaluate the detection of hardcoded credentials.</a:t>
            </a:r>
            <a:br>
              <a:rPr lang="en" sz="1600">
                <a:solidFill>
                  <a:schemeClr val="dk1"/>
                </a:solidFill>
                <a:latin typeface="Times New Roman"/>
                <a:ea typeface="Times New Roman"/>
                <a:cs typeface="Times New Roman"/>
                <a:sym typeface="Times New Roman"/>
              </a:rPr>
            </a:br>
            <a:endParaRPr sz="1600">
              <a:solidFill>
                <a:schemeClr val="dk1"/>
              </a:solidFill>
              <a:latin typeface="Times New Roman"/>
              <a:ea typeface="Times New Roman"/>
              <a:cs typeface="Times New Roman"/>
              <a:sym typeface="Times New Roman"/>
            </a:endParaRPr>
          </a:p>
          <a:p>
            <a:pPr indent="-302895" lvl="0" marL="30289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Tools &amp; Technologies:</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Language &amp; Orchestration: Python 3.10+</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AI Model: Meta Llama 3 8B Instruct (4-bit quantized).</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Compute Framework: Apple MLX Framework.</a:t>
            </a:r>
            <a:endParaRPr sz="1600">
              <a:solidFill>
                <a:schemeClr val="dk1"/>
              </a:solidFill>
              <a:latin typeface="Times New Roman"/>
              <a:ea typeface="Times New Roman"/>
              <a:cs typeface="Times New Roman"/>
              <a:sym typeface="Times New Roman"/>
            </a:endParaRPr>
          </a:p>
          <a:p>
            <a:pPr indent="-275590" lvl="0" marL="61531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Hardware: Local execution on Apple Silicon (M-series Mac) utilizing Unified Memory for offline inference.</a:t>
            </a:r>
            <a:endParaRPr i="0" sz="1600" cap="none" strike="noStrike">
              <a:solidFill>
                <a:srgbClr val="000000"/>
              </a:solidFill>
              <a:latin typeface="Times New Roman"/>
              <a:ea typeface="Times New Roman"/>
              <a:cs typeface="Times New Roman"/>
              <a:sym typeface="Times New Roman"/>
            </a:endParaRPr>
          </a:p>
        </p:txBody>
      </p:sp>
      <p:sp>
        <p:nvSpPr>
          <p:cNvPr id="219" name="Google Shape;219;p35"/>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20" name="Google Shape;220;p35"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6"/>
          <p:cNvSpPr txBox="1"/>
          <p:nvPr/>
        </p:nvSpPr>
        <p:spPr>
          <a:xfrm>
            <a:off x="342900" y="274626"/>
            <a:ext cx="44934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Progress in Implementation</a:t>
            </a:r>
            <a:endParaRPr b="1" i="0" sz="2800" u="none" cap="none" strike="noStrike">
              <a:solidFill>
                <a:srgbClr val="572314"/>
              </a:solidFill>
              <a:latin typeface="Times New Roman"/>
              <a:ea typeface="Times New Roman"/>
              <a:cs typeface="Times New Roman"/>
              <a:sym typeface="Times New Roman"/>
            </a:endParaRPr>
          </a:p>
        </p:txBody>
      </p:sp>
      <p:sp>
        <p:nvSpPr>
          <p:cNvPr id="226" name="Google Shape;226;p36"/>
          <p:cNvSpPr txBox="1"/>
          <p:nvPr/>
        </p:nvSpPr>
        <p:spPr>
          <a:xfrm>
            <a:off x="342900" y="1143000"/>
            <a:ext cx="7799100" cy="3087600"/>
          </a:xfrm>
          <a:prstGeom prst="rect">
            <a:avLst/>
          </a:prstGeom>
          <a:noFill/>
          <a:ln>
            <a:noFill/>
          </a:ln>
        </p:spPr>
        <p:txBody>
          <a:bodyPr anchorCtr="0" anchor="ctr" bIns="45000" lIns="90000" spcFirstLastPara="1" rIns="90000" wrap="square" tIns="45000">
            <a:noAutofit/>
          </a:bodyPr>
          <a:lstStyle/>
          <a:p>
            <a:pPr indent="-282575" lvl="0" marL="319405"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Literature &amp; Dataset Prep: Comprehensive analysis of recent (2023-2026) LLM vulnerability methodologies is complete. The CredData benchmark (approx. 27,000 lines) is fully integrated into the local environment.</a:t>
            </a:r>
            <a:endParaRPr i="0" sz="1600" cap="none" strike="noStrike">
              <a:solidFill>
                <a:srgbClr val="000000"/>
              </a:solidFill>
              <a:latin typeface="Times New Roman"/>
              <a:ea typeface="Times New Roman"/>
              <a:cs typeface="Times New Roman"/>
              <a:sym typeface="Times New Roman"/>
            </a:endParaRPr>
          </a:p>
          <a:p>
            <a:pPr indent="-180975" lvl="0" marL="319405" marR="0" rtl="0" algn="just">
              <a:lnSpc>
                <a:spcPct val="100000"/>
              </a:lnSpc>
              <a:spcBef>
                <a:spcPts val="0"/>
              </a:spcBef>
              <a:spcAft>
                <a:spcPts val="0"/>
              </a:spcAft>
              <a:buClr>
                <a:schemeClr val="dk1"/>
              </a:buClr>
              <a:buSzPts val="1600"/>
              <a:buFont typeface="Arial"/>
              <a:buNone/>
            </a:pPr>
            <a:r>
              <a:t/>
            </a:r>
            <a:endParaRPr i="0" sz="1600" cap="none" strike="noStrike">
              <a:solidFill>
                <a:srgbClr val="000000"/>
              </a:solidFill>
              <a:latin typeface="Times New Roman"/>
              <a:ea typeface="Times New Roman"/>
              <a:cs typeface="Times New Roman"/>
              <a:sym typeface="Times New Roman"/>
            </a:endParaRPr>
          </a:p>
          <a:p>
            <a:pPr indent="-282575" lvl="0" marL="319405"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Pipeline Implementation:</a:t>
            </a:r>
            <a:endParaRPr i="0" sz="1600" cap="none" strike="noStrike">
              <a:solidFill>
                <a:srgbClr val="000000"/>
              </a:solidFill>
              <a:latin typeface="Times New Roman"/>
              <a:ea typeface="Times New Roman"/>
              <a:cs typeface="Times New Roman"/>
              <a:sym typeface="Times New Roman"/>
            </a:endParaRPr>
          </a:p>
          <a:p>
            <a:pPr indent="-281305" lvl="0" marL="51625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Phase 1 (Regex + 11-line AST context extraction) and Phase 2 (Apple MLX inference) are fully operational.</a:t>
            </a:r>
            <a:endParaRPr sz="1600">
              <a:solidFill>
                <a:schemeClr val="dk1"/>
              </a:solidFill>
              <a:latin typeface="Times New Roman"/>
              <a:ea typeface="Times New Roman"/>
              <a:cs typeface="Times New Roman"/>
              <a:sym typeface="Times New Roman"/>
            </a:endParaRPr>
          </a:p>
          <a:p>
            <a:pPr indent="-281305" lvl="0" marL="516255" marR="0" rtl="0" algn="just">
              <a:spcBef>
                <a:spcPts val="0"/>
              </a:spcBef>
              <a:spcAft>
                <a:spcPts val="0"/>
              </a:spcAft>
              <a:buClr>
                <a:schemeClr val="dk1"/>
              </a:buClr>
              <a:buSzPts val="1600"/>
              <a:buFont typeface="Arial"/>
              <a:buChar char="•"/>
            </a:pPr>
            <a:r>
              <a:rPr lang="en" sz="1600">
                <a:solidFill>
                  <a:schemeClr val="dk1"/>
                </a:solidFill>
                <a:latin typeface="Times New Roman"/>
                <a:ea typeface="Times New Roman"/>
                <a:cs typeface="Times New Roman"/>
                <a:sym typeface="Times New Roman"/>
              </a:rPr>
              <a:t>Model fine-tuning (LoRA at 3000 iterations) successfully stabilized strict JSON output parsing.</a:t>
            </a:r>
            <a:endParaRPr sz="1600">
              <a:solidFill>
                <a:schemeClr val="dk1"/>
              </a:solidFill>
              <a:latin typeface="Times New Roman"/>
              <a:ea typeface="Times New Roman"/>
              <a:cs typeface="Times New Roman"/>
              <a:sym typeface="Times New Roman"/>
            </a:endParaRPr>
          </a:p>
          <a:p>
            <a:pPr indent="-180975" lvl="0" marL="319405" marR="0" rtl="0" algn="just">
              <a:spcBef>
                <a:spcPts val="0"/>
              </a:spcBef>
              <a:spcAft>
                <a:spcPts val="0"/>
              </a:spcAft>
              <a:buClr>
                <a:schemeClr val="dk1"/>
              </a:buClr>
              <a:buSzPts val="1600"/>
              <a:buFont typeface="Arial"/>
              <a:buNone/>
            </a:pPr>
            <a:r>
              <a:t/>
            </a:r>
            <a:endParaRPr i="0" sz="1600" cap="none" strike="noStrike">
              <a:solidFill>
                <a:srgbClr val="000000"/>
              </a:solidFill>
              <a:latin typeface="Times New Roman"/>
              <a:ea typeface="Times New Roman"/>
              <a:cs typeface="Times New Roman"/>
              <a:sym typeface="Times New Roman"/>
            </a:endParaRPr>
          </a:p>
          <a:p>
            <a:pPr indent="-282575" lvl="0" marL="319405" marR="0" rtl="0" algn="just">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Testing Scale-Up: Transitioned from randomized micro-subsets to full-scale empirical benchmarking against the entire CredData dataset.</a:t>
            </a:r>
            <a:endParaRPr i="0" sz="1600" cap="none" strike="noStrike">
              <a:solidFill>
                <a:srgbClr val="000000"/>
              </a:solidFill>
              <a:latin typeface="Times New Roman"/>
              <a:ea typeface="Times New Roman"/>
              <a:cs typeface="Times New Roman"/>
              <a:sym typeface="Times New Roman"/>
            </a:endParaRPr>
          </a:p>
        </p:txBody>
      </p:sp>
      <p:sp>
        <p:nvSpPr>
          <p:cNvPr id="227" name="Google Shape;227;p36"/>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28" name="Google Shape;228;p36"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nvSpPr>
        <p:spPr>
          <a:xfrm>
            <a:off x="342900" y="274626"/>
            <a:ext cx="47829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CredData Benchmark Results</a:t>
            </a:r>
            <a:endParaRPr b="1" i="0" sz="2800" u="none" cap="none" strike="noStrike">
              <a:solidFill>
                <a:srgbClr val="572314"/>
              </a:solidFill>
              <a:latin typeface="Times New Roman"/>
              <a:ea typeface="Times New Roman"/>
              <a:cs typeface="Times New Roman"/>
              <a:sym typeface="Times New Roman"/>
            </a:endParaRPr>
          </a:p>
        </p:txBody>
      </p:sp>
      <p:sp>
        <p:nvSpPr>
          <p:cNvPr id="234" name="Google Shape;234;p37"/>
          <p:cNvSpPr txBox="1"/>
          <p:nvPr/>
        </p:nvSpPr>
        <p:spPr>
          <a:xfrm>
            <a:off x="342900" y="952675"/>
            <a:ext cx="7799100" cy="4045800"/>
          </a:xfrm>
          <a:prstGeom prst="rect">
            <a:avLst/>
          </a:prstGeom>
          <a:noFill/>
          <a:ln>
            <a:noFill/>
          </a:ln>
        </p:spPr>
        <p:txBody>
          <a:bodyPr anchorCtr="0" anchor="t" bIns="45000" lIns="90000" spcFirstLastPara="1" rIns="90000" wrap="square" tIns="45000">
            <a:noAutofit/>
          </a:bodyPr>
          <a:lstStyle/>
          <a:p>
            <a:pPr indent="-285750" lvl="0" marL="285750" marR="0" rtl="0" algn="just">
              <a:lnSpc>
                <a:spcPct val="100000"/>
              </a:lnSpc>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Experimental Setup: </a:t>
            </a:r>
            <a:r>
              <a:rPr b="0" i="0" lang="en" sz="1600" cap="none" strike="noStrike">
                <a:solidFill>
                  <a:srgbClr val="000000"/>
                </a:solidFill>
                <a:latin typeface="Times New Roman"/>
                <a:ea typeface="Times New Roman"/>
                <a:cs typeface="Times New Roman"/>
                <a:sym typeface="Times New Roman"/>
              </a:rPr>
              <a:t>Conducted a head-to-head comparative analysis on the CredData dataset against industry-standard offline scanners (TruffleHog and Gitleaks).</a:t>
            </a:r>
            <a:endParaRPr b="0" i="0" sz="1600" cap="none" strike="noStrike">
              <a:solidFill>
                <a:srgbClr val="000000"/>
              </a:solidFill>
              <a:latin typeface="Times New Roman"/>
              <a:ea typeface="Times New Roman"/>
              <a:cs typeface="Times New Roman"/>
              <a:sym typeface="Times New Roman"/>
            </a:endParaRPr>
          </a:p>
          <a:p>
            <a:pPr indent="-184150" lvl="0" marL="285750" marR="0" rtl="0" algn="just">
              <a:lnSpc>
                <a:spcPct val="100000"/>
              </a:lnSpc>
              <a:spcBef>
                <a:spcPts val="0"/>
              </a:spcBef>
              <a:spcAft>
                <a:spcPts val="0"/>
              </a:spcAft>
              <a:buClr>
                <a:schemeClr val="dk1"/>
              </a:buClr>
              <a:buSzPts val="1600"/>
              <a:buFont typeface="Arial"/>
              <a:buNone/>
            </a:pPr>
            <a:r>
              <a:t/>
            </a:r>
            <a:endParaRPr b="0" i="0" sz="8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The Baseline Failure (Context Blindness):</a:t>
            </a:r>
            <a:endParaRPr b="0"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TruffleHog failed entirely (Precision: 0.4301, Recall: 0.0123).</a:t>
            </a:r>
            <a:endParaRPr b="0"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Gitleaks (Regex) maintained high Precision (0.8600) but suffered catastrophic False Negatives, missing 74% of actual secrets (Recall: 0.2600).</a:t>
            </a:r>
            <a:br>
              <a:rPr b="0" i="0" lang="en" sz="1600" cap="none" strike="noStrike">
                <a:solidFill>
                  <a:srgbClr val="000000"/>
                </a:solidFill>
                <a:latin typeface="Times New Roman"/>
                <a:ea typeface="Times New Roman"/>
                <a:cs typeface="Times New Roman"/>
                <a:sym typeface="Times New Roman"/>
              </a:rPr>
            </a:br>
            <a:endParaRPr b="0" i="0" sz="8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lang="en" sz="1600">
                <a:solidFill>
                  <a:srgbClr val="000000"/>
                </a:solidFill>
                <a:latin typeface="Times New Roman"/>
                <a:ea typeface="Times New Roman"/>
                <a:cs typeface="Times New Roman"/>
                <a:sym typeface="Times New Roman"/>
              </a:rPr>
              <a:t>Hybrid Model Performance:</a:t>
            </a:r>
            <a:endParaRPr b="0"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Times New Roman"/>
              <a:buChar char="•"/>
            </a:pPr>
            <a:r>
              <a:rPr lang="en" sz="1600">
                <a:solidFill>
                  <a:schemeClr val="dk1"/>
                </a:solidFill>
                <a:latin typeface="Times New Roman"/>
                <a:ea typeface="Times New Roman"/>
                <a:cs typeface="Times New Roman"/>
                <a:sym typeface="Times New Roman"/>
              </a:rPr>
              <a:t>Overall Accuracy: Achieved 87.0%, demonstrating stable and reliable classification across a standardized 1,000-hit evaluation subset.</a:t>
            </a:r>
            <a:endParaRPr sz="2100">
              <a:solidFill>
                <a:schemeClr val="dk1"/>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Times New Roman"/>
              <a:buChar char="•"/>
            </a:pPr>
            <a:r>
              <a:rPr i="0" lang="en" sz="1600" cap="none" strike="noStrike">
                <a:solidFill>
                  <a:srgbClr val="000000"/>
                </a:solidFill>
                <a:latin typeface="Times New Roman"/>
                <a:ea typeface="Times New Roman"/>
                <a:cs typeface="Times New Roman"/>
                <a:sym typeface="Times New Roman"/>
              </a:rPr>
              <a:t>Achieved a dominant F1-Score of 0.8723 within the test sample.</a:t>
            </a:r>
            <a:endParaRPr i="0" sz="1600" cap="none" strike="noStrike">
              <a:solidFill>
                <a:srgbClr val="000000"/>
              </a:solidFill>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Arial"/>
              <a:buChar char="•"/>
            </a:pPr>
            <a:r>
              <a:rPr i="0" lang="en" sz="1600" cap="none" strike="noStrike">
                <a:solidFill>
                  <a:srgbClr val="000000"/>
                </a:solidFill>
                <a:latin typeface="Times New Roman"/>
                <a:ea typeface="Times New Roman"/>
                <a:cs typeface="Times New Roman"/>
                <a:sym typeface="Times New Roman"/>
              </a:rPr>
              <a:t>Precision re</a:t>
            </a:r>
            <a:r>
              <a:rPr b="0" i="0" lang="en" sz="1600" cap="none" strike="noStrike">
                <a:solidFill>
                  <a:srgbClr val="000000"/>
                </a:solidFill>
                <a:latin typeface="Times New Roman"/>
                <a:ea typeface="Times New Roman"/>
                <a:cs typeface="Times New Roman"/>
                <a:sym typeface="Times New Roman"/>
              </a:rPr>
              <a:t>mained highly competitive at 0.8117, while Recall surged to 0.9427</a:t>
            </a:r>
            <a:r>
              <a:rPr lang="en" sz="1600">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a:p>
            <a:pPr indent="-285115" lvl="0" marL="600710" marR="0" rtl="0" algn="just">
              <a:lnSpc>
                <a:spcPct val="100000"/>
              </a:lnSpc>
              <a:spcBef>
                <a:spcPts val="0"/>
              </a:spcBef>
              <a:spcAft>
                <a:spcPts val="0"/>
              </a:spcAft>
              <a:buClr>
                <a:srgbClr val="000000"/>
              </a:buClr>
              <a:buSzPts val="1600"/>
              <a:buFont typeface="Arial"/>
              <a:buChar char="•"/>
            </a:pPr>
            <a:r>
              <a:rPr lang="en" sz="1600">
                <a:solidFill>
                  <a:schemeClr val="dk1"/>
                </a:solidFill>
                <a:latin typeface="Times New Roman"/>
                <a:ea typeface="Times New Roman"/>
                <a:cs typeface="Times New Roman"/>
                <a:sym typeface="Times New Roman"/>
              </a:rPr>
              <a:t>The Latency Reality: Executing this 1k subset took approximately 3.5 hours via local Apple MLX inference. This validates our semantic detection hypothesis but strictly defines our next engineering phase: scaling inference speed to handle full-corpus repository scans.</a:t>
            </a:r>
            <a:endParaRPr sz="1600">
              <a:latin typeface="Times New Roman"/>
              <a:ea typeface="Times New Roman"/>
              <a:cs typeface="Times New Roman"/>
              <a:sym typeface="Times New Roman"/>
            </a:endParaRPr>
          </a:p>
        </p:txBody>
      </p:sp>
      <p:sp>
        <p:nvSpPr>
          <p:cNvPr id="235" name="Google Shape;235;p37"/>
          <p:cNvSpPr txBox="1"/>
          <p:nvPr/>
        </p:nvSpPr>
        <p:spPr>
          <a:xfrm>
            <a:off x="8613720" y="4729050"/>
            <a:ext cx="456900" cy="35700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36" name="Google Shape;236;p37"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8"/>
          <p:cNvSpPr txBox="1"/>
          <p:nvPr/>
        </p:nvSpPr>
        <p:spPr>
          <a:xfrm>
            <a:off x="342900" y="274625"/>
            <a:ext cx="61749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CredData Benchmark Results</a:t>
            </a:r>
            <a:r>
              <a:rPr b="1" lang="en" sz="2800">
                <a:solidFill>
                  <a:srgbClr val="572314"/>
                </a:solidFill>
                <a:latin typeface="Times New Roman"/>
                <a:ea typeface="Times New Roman"/>
                <a:cs typeface="Times New Roman"/>
                <a:sym typeface="Times New Roman"/>
              </a:rPr>
              <a:t>		contd.</a:t>
            </a:r>
            <a:endParaRPr b="1" i="0" sz="2800" u="none" cap="none" strike="noStrike">
              <a:solidFill>
                <a:srgbClr val="572314"/>
              </a:solidFill>
              <a:latin typeface="Times New Roman"/>
              <a:ea typeface="Times New Roman"/>
              <a:cs typeface="Times New Roman"/>
              <a:sym typeface="Times New Roman"/>
            </a:endParaRPr>
          </a:p>
        </p:txBody>
      </p:sp>
      <p:sp>
        <p:nvSpPr>
          <p:cNvPr id="242" name="Google Shape;242;p38"/>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descr="Code_Generated_Image" id="243" name="Google Shape;243;p38"/>
          <p:cNvPicPr preferRelativeResize="0"/>
          <p:nvPr/>
        </p:nvPicPr>
        <p:blipFill rotWithShape="1">
          <a:blip r:embed="rId3">
            <a:alphaModFix/>
          </a:blip>
          <a:srcRect b="0" l="0" r="0" t="0"/>
          <a:stretch/>
        </p:blipFill>
        <p:spPr>
          <a:xfrm>
            <a:off x="1447800" y="859610"/>
            <a:ext cx="6248400" cy="3749040"/>
          </a:xfrm>
          <a:prstGeom prst="rect">
            <a:avLst/>
          </a:prstGeom>
          <a:noFill/>
          <a:ln>
            <a:noFill/>
          </a:ln>
        </p:spPr>
      </p:pic>
      <p:sp>
        <p:nvSpPr>
          <p:cNvPr id="244" name="Google Shape;244;p38"/>
          <p:cNvSpPr txBox="1"/>
          <p:nvPr/>
        </p:nvSpPr>
        <p:spPr>
          <a:xfrm>
            <a:off x="2234100" y="4562800"/>
            <a:ext cx="4675800" cy="58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Times New Roman"/>
                <a:ea typeface="Times New Roman"/>
                <a:cs typeface="Times New Roman"/>
                <a:sym typeface="Times New Roman"/>
              </a:rPr>
              <a:t>Fig. 2: </a:t>
            </a:r>
            <a:r>
              <a:rPr lang="en" sz="1300">
                <a:solidFill>
                  <a:schemeClr val="dk1"/>
                </a:solidFill>
                <a:latin typeface="Times New Roman"/>
                <a:ea typeface="Times New Roman"/>
                <a:cs typeface="Times New Roman"/>
                <a:sym typeface="Times New Roman"/>
              </a:rPr>
              <a:t>Precision, Recall, and F1-Score evaluation of the Hybrid Llama 3/MLX architecture against industry baselines.</a:t>
            </a:r>
            <a:endParaRPr sz="1300">
              <a:solidFill>
                <a:schemeClr val="dk1"/>
              </a:solidFill>
              <a:latin typeface="Times New Roman"/>
              <a:ea typeface="Times New Roman"/>
              <a:cs typeface="Times New Roman"/>
              <a:sym typeface="Times New Roman"/>
            </a:endParaRPr>
          </a:p>
        </p:txBody>
      </p:sp>
      <p:pic>
        <p:nvPicPr>
          <p:cNvPr id="245" name="Google Shape;245;p38" title="Frame 6.png"/>
          <p:cNvPicPr preferRelativeResize="0"/>
          <p:nvPr/>
        </p:nvPicPr>
        <p:blipFill rotWithShape="1">
          <a:blip r:embed="rId4">
            <a:alphaModFix/>
          </a:blip>
          <a:srcRect b="0" l="0" r="0" t="0"/>
          <a:stretch/>
        </p:blipFill>
        <p:spPr>
          <a:xfrm>
            <a:off x="8141862" y="0"/>
            <a:ext cx="1002150" cy="1002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9"/>
          <p:cNvSpPr txBox="1"/>
          <p:nvPr/>
        </p:nvSpPr>
        <p:spPr>
          <a:xfrm>
            <a:off x="342900" y="274625"/>
            <a:ext cx="68268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Current Challenges &amp; Latency Bottlenecks</a:t>
            </a:r>
            <a:endParaRPr b="1" i="0" sz="2800" u="none" cap="none" strike="noStrike">
              <a:solidFill>
                <a:srgbClr val="572314"/>
              </a:solidFill>
              <a:latin typeface="Times New Roman"/>
              <a:ea typeface="Times New Roman"/>
              <a:cs typeface="Times New Roman"/>
              <a:sym typeface="Times New Roman"/>
            </a:endParaRPr>
          </a:p>
        </p:txBody>
      </p:sp>
      <p:sp>
        <p:nvSpPr>
          <p:cNvPr id="251" name="Google Shape;251;p39"/>
          <p:cNvSpPr txBox="1"/>
          <p:nvPr/>
        </p:nvSpPr>
        <p:spPr>
          <a:xfrm>
            <a:off x="342900" y="1143000"/>
            <a:ext cx="7799100" cy="2920800"/>
          </a:xfrm>
          <a:prstGeom prst="rect">
            <a:avLst/>
          </a:prstGeom>
          <a:noFill/>
          <a:ln>
            <a:noFill/>
          </a:ln>
        </p:spPr>
        <p:txBody>
          <a:bodyPr anchorCtr="0" anchor="ctr" bIns="45000" lIns="90000" spcFirstLastPara="1" rIns="90000" wrap="square" tIns="45000">
            <a:noAutofit/>
          </a:bodyPr>
          <a:lstStyle/>
          <a:p>
            <a:pPr indent="-285750" lvl="0" marL="28575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The Latency Reality: While the Apple MLX framework ensures Zero-Trust privacy via local execution, running a quantized 8B parameter model is fundamentally slower than pure C-based Regex.</a:t>
            </a:r>
            <a:br>
              <a:rPr b="0" i="0" lang="en" sz="1600" cap="none" strike="noStrike">
                <a:solidFill>
                  <a:srgbClr val="000000"/>
                </a:solidFill>
                <a:latin typeface="Times New Roman"/>
                <a:ea typeface="Times New Roman"/>
                <a:cs typeface="Times New Roman"/>
                <a:sym typeface="Times New Roman"/>
              </a:rPr>
            </a:br>
            <a:endParaRPr b="0" i="0" sz="16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Pipeline Blocking: Executing sequential LLM inference on hundreds of initial Regex matches currently creates a severe bottleneck, making it impractical for monolithic repository scans in a fast-paced CI/CD environment.</a:t>
            </a:r>
            <a:endParaRPr b="0" i="0" sz="1600" cap="none" strike="noStrike">
              <a:solidFill>
                <a:srgbClr val="000000"/>
              </a:solidFill>
              <a:latin typeface="Times New Roman"/>
              <a:ea typeface="Times New Roman"/>
              <a:cs typeface="Times New Roman"/>
              <a:sym typeface="Times New Roman"/>
            </a:endParaRPr>
          </a:p>
          <a:p>
            <a:pPr indent="-184150" lvl="0" marL="285750" marR="0" rtl="0" algn="just">
              <a:lnSpc>
                <a:spcPct val="100000"/>
              </a:lnSpc>
              <a:spcBef>
                <a:spcPts val="0"/>
              </a:spcBef>
              <a:spcAft>
                <a:spcPts val="0"/>
              </a:spcAft>
              <a:buClr>
                <a:schemeClr val="dk1"/>
              </a:buClr>
              <a:buSzPts val="1600"/>
              <a:buFont typeface="Arial"/>
              <a:buNone/>
            </a:pPr>
            <a:r>
              <a:t/>
            </a:r>
            <a:endParaRPr b="0" i="0" sz="1600" cap="none" strike="noStrike">
              <a:solidFill>
                <a:srgbClr val="000000"/>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Prompt Engineering Impact: Implementing a strict Few-Shot Prompting template halved the initial context processing time and stabilized outputs, but the baseline per-snippet inference speed remains a critical hurdle for production deployment.</a:t>
            </a:r>
            <a:endParaRPr b="0" i="0" sz="1600" cap="none" strike="noStrike">
              <a:solidFill>
                <a:srgbClr val="000000"/>
              </a:solidFill>
              <a:latin typeface="Times New Roman"/>
              <a:ea typeface="Times New Roman"/>
              <a:cs typeface="Times New Roman"/>
              <a:sym typeface="Times New Roman"/>
            </a:endParaRPr>
          </a:p>
        </p:txBody>
      </p:sp>
      <p:sp>
        <p:nvSpPr>
          <p:cNvPr id="252" name="Google Shape;252;p39"/>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53" name="Google Shape;253;p39"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0"/>
          <p:cNvSpPr txBox="1"/>
          <p:nvPr/>
        </p:nvSpPr>
        <p:spPr>
          <a:xfrm>
            <a:off x="342900" y="274627"/>
            <a:ext cx="3067200" cy="525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rgbClr val="572314"/>
              </a:buClr>
              <a:buSzPts val="2800"/>
              <a:buFont typeface="Times New Roman"/>
              <a:buNone/>
            </a:pPr>
            <a:r>
              <a:rPr b="1" i="0" lang="en" sz="2800" u="none" cap="none" strike="noStrike">
                <a:solidFill>
                  <a:srgbClr val="572314"/>
                </a:solidFill>
                <a:latin typeface="Times New Roman"/>
                <a:ea typeface="Times New Roman"/>
                <a:cs typeface="Times New Roman"/>
                <a:sym typeface="Times New Roman"/>
              </a:rPr>
              <a:t>Future Work Plan</a:t>
            </a:r>
            <a:endParaRPr b="1" i="0" sz="2800" u="none" cap="none" strike="noStrike">
              <a:solidFill>
                <a:srgbClr val="572314"/>
              </a:solidFill>
              <a:latin typeface="Times New Roman"/>
              <a:ea typeface="Times New Roman"/>
              <a:cs typeface="Times New Roman"/>
              <a:sym typeface="Times New Roman"/>
            </a:endParaRPr>
          </a:p>
        </p:txBody>
      </p:sp>
      <p:sp>
        <p:nvSpPr>
          <p:cNvPr id="259" name="Google Shape;259;p40"/>
          <p:cNvSpPr txBox="1"/>
          <p:nvPr/>
        </p:nvSpPr>
        <p:spPr>
          <a:xfrm>
            <a:off x="342900" y="1143000"/>
            <a:ext cx="7799100" cy="2635800"/>
          </a:xfrm>
          <a:prstGeom prst="rect">
            <a:avLst/>
          </a:prstGeom>
          <a:noFill/>
          <a:ln>
            <a:noFill/>
          </a:ln>
        </p:spPr>
        <p:txBody>
          <a:bodyPr anchorCtr="0" anchor="ctr" bIns="45000" lIns="90000" spcFirstLastPara="1" rIns="90000" wrap="square" tIns="45000">
            <a:noAutofit/>
          </a:bodyPr>
          <a:lstStyle/>
          <a:p>
            <a:pPr indent="-342900" lvl="0" marL="34290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Cross-Dataset Validation: The model’s current performance is heavily biased toward the CredData benchmark. We will validate generalization by testing against the FPSecretBench dataset, pending access approval from the authors.</a:t>
            </a:r>
            <a:endParaRPr b="0" i="0" sz="1600" cap="none" strike="noStrike">
              <a:solidFill>
                <a:srgbClr val="000000"/>
              </a:solidFill>
              <a:latin typeface="Times New Roman"/>
              <a:ea typeface="Times New Roman"/>
              <a:cs typeface="Times New Roman"/>
              <a:sym typeface="Times New Roman"/>
            </a:endParaRPr>
          </a:p>
          <a:p>
            <a:pPr indent="-241300" lvl="0" marL="342900" marR="0" rtl="0" algn="just">
              <a:lnSpc>
                <a:spcPct val="100000"/>
              </a:lnSpc>
              <a:spcBef>
                <a:spcPts val="0"/>
              </a:spcBef>
              <a:spcAft>
                <a:spcPts val="0"/>
              </a:spcAft>
              <a:buClr>
                <a:schemeClr val="dk1"/>
              </a:buClr>
              <a:buSzPts val="1600"/>
              <a:buFont typeface="Arial"/>
              <a:buNone/>
            </a:pPr>
            <a:r>
              <a:t/>
            </a:r>
            <a:endParaRPr b="0" i="0" sz="1600"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Aggressive Latency Mitigation: Shift research focus from detection accuracy to operational speed. Investigate batch processing through the MLX engine or aggressive model pruning to drop per-snippet inference times to a viable DevSecOps threshold.</a:t>
            </a:r>
            <a:endParaRPr b="0" i="0" sz="1600" cap="none" strike="noStrike">
              <a:solidFill>
                <a:srgbClr val="000000"/>
              </a:solidFill>
              <a:latin typeface="Times New Roman"/>
              <a:ea typeface="Times New Roman"/>
              <a:cs typeface="Times New Roman"/>
              <a:sym typeface="Times New Roman"/>
            </a:endParaRPr>
          </a:p>
          <a:p>
            <a:pPr indent="-241300" lvl="0" marL="342900" marR="0" rtl="0" algn="just">
              <a:lnSpc>
                <a:spcPct val="100000"/>
              </a:lnSpc>
              <a:spcBef>
                <a:spcPts val="0"/>
              </a:spcBef>
              <a:spcAft>
                <a:spcPts val="0"/>
              </a:spcAft>
              <a:buClr>
                <a:schemeClr val="dk1"/>
              </a:buClr>
              <a:buSzPts val="1600"/>
              <a:buFont typeface="Arial"/>
              <a:buNone/>
            </a:pPr>
            <a:r>
              <a:t/>
            </a:r>
            <a:endParaRPr b="0" i="0" sz="1600" cap="none" strike="noStrik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000000"/>
              </a:buClr>
              <a:buSzPts val="1600"/>
              <a:buFont typeface="Arial"/>
              <a:buChar char="•"/>
            </a:pPr>
            <a:r>
              <a:rPr b="0" i="0" lang="en" sz="1600" cap="none" strike="noStrike">
                <a:solidFill>
                  <a:srgbClr val="000000"/>
                </a:solidFill>
                <a:latin typeface="Times New Roman"/>
                <a:ea typeface="Times New Roman"/>
                <a:cs typeface="Times New Roman"/>
                <a:sym typeface="Times New Roman"/>
              </a:rPr>
              <a:t>Pipeline Integration: Package the validated Python/MLX architecture into a deployable CLI tool or a standardized GitHub Action for seamless CI/CD pipeline integration.</a:t>
            </a:r>
            <a:endParaRPr b="0" i="0" sz="1600" cap="none" strike="noStrike">
              <a:solidFill>
                <a:srgbClr val="000000"/>
              </a:solidFill>
              <a:latin typeface="Times New Roman"/>
              <a:ea typeface="Times New Roman"/>
              <a:cs typeface="Times New Roman"/>
              <a:sym typeface="Times New Roman"/>
            </a:endParaRPr>
          </a:p>
        </p:txBody>
      </p:sp>
      <p:sp>
        <p:nvSpPr>
          <p:cNvPr id="260" name="Google Shape;260;p40"/>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Clr>
                <a:srgbClr val="B5A989"/>
              </a:buClr>
              <a:buSzPts val="1200"/>
              <a:buFont typeface="Gill Sans"/>
              <a:buNone/>
            </a:pPr>
            <a:fld id="{00000000-1234-1234-1234-123412341234}" type="slidenum">
              <a:rPr b="0" i="0" lang="en" sz="1200" u="none" cap="none" strike="noStrike">
                <a:solidFill>
                  <a:srgbClr val="B5A989"/>
                </a:solidFill>
                <a:latin typeface="Gill Sans"/>
                <a:ea typeface="Gill Sans"/>
                <a:cs typeface="Gill Sans"/>
                <a:sym typeface="Gill Sans"/>
              </a:rPr>
              <a:t>‹#›</a:t>
            </a:fld>
            <a:endParaRPr b="0" i="0" sz="1200" u="none" cap="none" strike="noStrike">
              <a:solidFill>
                <a:srgbClr val="000000"/>
              </a:solidFill>
              <a:latin typeface="Times New Roman"/>
              <a:ea typeface="Times New Roman"/>
              <a:cs typeface="Times New Roman"/>
              <a:sym typeface="Times New Roman"/>
            </a:endParaRPr>
          </a:p>
        </p:txBody>
      </p:sp>
      <p:pic>
        <p:nvPicPr>
          <p:cNvPr id="261" name="Google Shape;261;p40"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type="title"/>
          </p:nvPr>
        </p:nvSpPr>
        <p:spPr>
          <a:xfrm>
            <a:off x="342900" y="274628"/>
            <a:ext cx="1888500" cy="52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572314"/>
              </a:buClr>
              <a:buSzPts val="2500"/>
              <a:buFont typeface="Times New Roman"/>
              <a:buNone/>
            </a:pPr>
            <a:r>
              <a:rPr b="1" lang="en" sz="2800">
                <a:solidFill>
                  <a:srgbClr val="572314"/>
                </a:solidFill>
                <a:latin typeface="Times New Roman"/>
                <a:ea typeface="Times New Roman"/>
                <a:cs typeface="Times New Roman"/>
                <a:sym typeface="Times New Roman"/>
              </a:rPr>
              <a:t>References</a:t>
            </a:r>
            <a:endParaRPr b="1" sz="2800">
              <a:solidFill>
                <a:srgbClr val="572314"/>
              </a:solidFill>
              <a:latin typeface="Times New Roman"/>
              <a:ea typeface="Times New Roman"/>
              <a:cs typeface="Times New Roman"/>
              <a:sym typeface="Times New Roman"/>
            </a:endParaRPr>
          </a:p>
        </p:txBody>
      </p:sp>
      <p:sp>
        <p:nvSpPr>
          <p:cNvPr id="267" name="Google Shape;267;p41"/>
          <p:cNvSpPr txBox="1"/>
          <p:nvPr/>
        </p:nvSpPr>
        <p:spPr>
          <a:xfrm>
            <a:off x="342900" y="899300"/>
            <a:ext cx="7799100" cy="4027800"/>
          </a:xfrm>
          <a:prstGeom prst="rect">
            <a:avLst/>
          </a:prstGeom>
          <a:noFill/>
          <a:ln>
            <a:noFill/>
          </a:ln>
        </p:spPr>
        <p:txBody>
          <a:bodyPr anchorCtr="0" anchor="ctr" bIns="45700" lIns="91425" spcFirstLastPara="1" rIns="91425" wrap="square" tIns="45700">
            <a:noAutofit/>
          </a:bodyPr>
          <a:lstStyle/>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Schwarz, D. (2025) 'Countermind: A Multi-Layered Security Architecture for Large Language Models', arXiv preprint arXiv:2510.11837v1.</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Li, J. et al. (2025) 'Steering Large Language Models for Vulnerability Detection', 2025 IEEE International Conference on Acoustics, Speech and Signal Processing (ICASSP).</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Kim, M., Caccia, L., Shi, Z., Pereira, M., Côté, M.-A., Yuan, X., and Sordoni, A. (2025) 'Learning to Extract Context for Context-Aware LLM Inference', Microsoft Research.</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Jin, S. (2025) 'Large Language Models for Vulnerability Detection in Static Code Analysis: A Survey', 2025 8th International Conference on Artificial Intelligence and Big Data (ICAIBD).</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Dozono, K., Engesser, J., Hummelt, B., Roehm, T., and Pretschner, A. (2025) 'Should We Evaluate LLM Based Security Analysis Approaches on Open Source Systems?', 2025 40th IEEE/ACM International Conference on Automated Software Engineering (ASE).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Apostolidis, G. D., Kalouptsoglou, I., Siavvas, M., Kehagias, D., and Tzovaras, D. (2025) 'AI-Enhanced Static Analysis: Reducing False Alarms Using Large Language Models', 2025 IEEE International Conference on Smart Computing (SMARTCOMP).</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Guo, Z. et al. (2023) 'Mitigating False Positive Static Analysis Warnings: Progress, Challenges, and Opportunities', IEEE Transactions on Software Engineering, Vol. 49, No. 12, pp. 5154-5186.</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Muske, T. and Khedker, U. P. (2015) 'Efficient Elimination of False Positives using Static Analysis', 2015 IEEE.</a:t>
            </a:r>
            <a:endParaRPr sz="1200">
              <a:solidFill>
                <a:schemeClr val="dk1"/>
              </a:solidFill>
              <a:latin typeface="Times New Roman"/>
              <a:ea typeface="Times New Roman"/>
              <a:cs typeface="Times New Roman"/>
              <a:sym typeface="Times New Roman"/>
            </a:endParaRPr>
          </a:p>
        </p:txBody>
      </p:sp>
      <p:pic>
        <p:nvPicPr>
          <p:cNvPr id="268" name="Google Shape;268;p41" title="Frame 6.png"/>
          <p:cNvPicPr preferRelativeResize="0"/>
          <p:nvPr/>
        </p:nvPicPr>
        <p:blipFill rotWithShape="1">
          <a:blip r:embed="rId3">
            <a:alphaModFix/>
          </a:blip>
          <a:srcRect b="0" l="0" r="0" t="0"/>
          <a:stretch/>
        </p:blipFill>
        <p:spPr>
          <a:xfrm>
            <a:off x="8141862" y="0"/>
            <a:ext cx="1002150" cy="1002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2"/>
          <p:cNvSpPr txBox="1"/>
          <p:nvPr/>
        </p:nvSpPr>
        <p:spPr>
          <a:xfrm>
            <a:off x="8613720" y="4729050"/>
            <a:ext cx="456840" cy="356940"/>
          </a:xfrm>
          <a:prstGeom prst="rect">
            <a:avLst/>
          </a:prstGeom>
          <a:noFill/>
          <a:ln>
            <a:noFill/>
          </a:ln>
        </p:spPr>
        <p:txBody>
          <a:bodyPr anchorCtr="0" anchor="b" bIns="45000" lIns="90000" spcFirstLastPara="1" rIns="90000" wrap="square" tIns="45000">
            <a:noAutofit/>
          </a:bodyPr>
          <a:lstStyle/>
          <a:p>
            <a:pPr indent="0" lvl="0" marL="0" marR="0" rtl="0" algn="ctr">
              <a:lnSpc>
                <a:spcPct val="100000"/>
              </a:lnSpc>
              <a:spcBef>
                <a:spcPts val="0"/>
              </a:spcBef>
              <a:spcAft>
                <a:spcPts val="0"/>
              </a:spcAft>
              <a:buNone/>
            </a:pPr>
            <a:fld id="{00000000-1234-1234-1234-123412341234}" type="slidenum">
              <a:rPr b="0" lang="en" sz="1200" strike="noStrike">
                <a:solidFill>
                  <a:srgbClr val="B5A989"/>
                </a:solidFill>
                <a:latin typeface="Gill Sans"/>
                <a:ea typeface="Gill Sans"/>
                <a:cs typeface="Gill Sans"/>
                <a:sym typeface="Gill Sans"/>
              </a:rPr>
              <a:t>‹#›</a:t>
            </a:fld>
            <a:endParaRPr b="0" sz="1200" strike="noStrike">
              <a:solidFill>
                <a:schemeClr val="dk1"/>
              </a:solidFill>
              <a:latin typeface="Times New Roman"/>
              <a:ea typeface="Times New Roman"/>
              <a:cs typeface="Times New Roman"/>
              <a:sym typeface="Times New Roman"/>
            </a:endParaRPr>
          </a:p>
        </p:txBody>
      </p:sp>
      <p:pic>
        <p:nvPicPr>
          <p:cNvPr id="274" name="Google Shape;274;p42" title="Gemini_Generated_Image_k7cps3k7cps3k7cp.png"/>
          <p:cNvPicPr preferRelativeResize="0"/>
          <p:nvPr/>
        </p:nvPicPr>
        <p:blipFill>
          <a:blip r:embed="rId3">
            <a:alphaModFix/>
          </a:blip>
          <a:stretch>
            <a:fillRect/>
          </a:stretch>
        </p:blipFill>
        <p:spPr>
          <a:xfrm>
            <a:off x="1360225" y="780813"/>
            <a:ext cx="6423552" cy="35818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lar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