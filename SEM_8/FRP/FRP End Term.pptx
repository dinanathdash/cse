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Quicksand"/>
      <p:regular r:id="rId25"/>
      <p:bold r:id="rId26"/>
    </p:embeddedFont>
    <p:embeddedFont>
      <p:font typeface="Gill Sans"/>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16">
          <p15:clr>
            <a:srgbClr val="747775"/>
          </p15:clr>
        </p15:guide>
        <p15:guide id="2" orient="horz" pos="504">
          <p15:clr>
            <a:srgbClr val="747775"/>
          </p15:clr>
        </p15:guide>
        <p15:guide id="3" orient="horz" pos="173">
          <p15:clr>
            <a:srgbClr val="747775"/>
          </p15:clr>
        </p15:guide>
        <p15:guide id="4" orient="horz" pos="72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88CF06-5FA7-4D49-9562-FA9D673A86ED}">
  <a:tblStyle styleId="{4988CF06-5FA7-4D49-9562-FA9D673A86ED}"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
        <p:guide pos="504" orient="horz"/>
        <p:guide pos="173" orient="horz"/>
        <p:guide pos="72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Quicksand-bold.fntdata"/><Relationship Id="rId25" Type="http://schemas.openxmlformats.org/officeDocument/2006/relationships/font" Target="fonts/Quicksand-regular.fntdata"/><Relationship Id="rId28" Type="http://schemas.openxmlformats.org/officeDocument/2006/relationships/font" Target="fonts/GillSans-bold.fntdata"/><Relationship Id="rId27" Type="http://schemas.openxmlformats.org/officeDocument/2006/relationships/font" Target="fonts/GillSans-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dffdbfb35_2_84: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Good morning. I'm Dinanath, representing Group 3 alongside Satyajeet, Avignyan, and Ashutosh. </a:t>
            </a:r>
            <a:r>
              <a:rPr lang="en" sz="1200">
                <a:solidFill>
                  <a:schemeClr val="dk1"/>
                </a:solidFill>
              </a:rPr>
              <a:t>Today, we are presenting our End Term Research Project on the automated detection of hardcoded secrets in modern source code repositories. Specifically, we are going to demonstrate how we utilized LLM-augmented static analysis to solve this.</a:t>
            </a:r>
            <a:endParaRPr/>
          </a:p>
        </p:txBody>
      </p:sp>
      <p:sp>
        <p:nvSpPr>
          <p:cNvPr id="136" name="Google Shape;136;g3ddffdbfb35_2_84: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dffdbfb35_2_95: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ddffdbfb35_2_95:notes"/>
          <p:cNvSpPr txBox="1"/>
          <p:nvPr>
            <p:ph idx="1" type="body"/>
          </p:nvPr>
        </p:nvSpPr>
        <p:spPr>
          <a:xfrm>
            <a:off x="685512" y="4400392"/>
            <a:ext cx="5486976" cy="3600691"/>
          </a:xfrm>
          <a:prstGeom prst="rect">
            <a:avLst/>
          </a:prstGeom>
          <a:noFill/>
          <a:ln>
            <a:noFill/>
          </a:ln>
        </p:spPr>
        <p:txBody>
          <a:bodyPr anchorCtr="0" anchor="t" bIns="40675" lIns="81350" spcFirstLastPara="1" rIns="81350" wrap="square" tIns="40675">
            <a:noAutofit/>
          </a:bodyPr>
          <a:lstStyle/>
          <a:p>
            <a:pPr indent="0" lvl="0" marL="0" rtl="0" algn="l">
              <a:spcBef>
                <a:spcPts val="0"/>
              </a:spcBef>
              <a:spcAft>
                <a:spcPts val="0"/>
              </a:spcAft>
              <a:buNone/>
            </a:pPr>
            <a:r>
              <a:rPr lang="en" sz="1200"/>
              <a:t>Our presentation will move rapidly from the problem of alert fatigue to our proposed hybrid architecture, followed by our current implementation results and the bottlenecks we are addressing.</a:t>
            </a:r>
            <a:endParaRPr sz="1200"/>
          </a:p>
        </p:txBody>
      </p:sp>
      <p:sp>
        <p:nvSpPr>
          <p:cNvPr id="148" name="Google Shape;148;g3ddffdbfb35_2_95:notes"/>
          <p:cNvSpPr txBox="1"/>
          <p:nvPr>
            <p:ph idx="12" type="sldNum"/>
          </p:nvPr>
        </p:nvSpPr>
        <p:spPr>
          <a:xfrm>
            <a:off x="3884088" y="8685377"/>
            <a:ext cx="2972472" cy="458912"/>
          </a:xfrm>
          <a:prstGeom prst="rect">
            <a:avLst/>
          </a:prstGeom>
          <a:noFill/>
          <a:ln>
            <a:noFill/>
          </a:ln>
        </p:spPr>
        <p:txBody>
          <a:bodyPr anchorCtr="0" anchor="b" bIns="40675" lIns="81350" spcFirstLastPara="1" rIns="81350" wrap="square" tIns="40675">
            <a:noAutofit/>
          </a:bodyPr>
          <a:lstStyle/>
          <a:p>
            <a:pPr indent="0" lvl="0" marL="0" rtl="0" algn="r">
              <a:spcBef>
                <a:spcPts val="0"/>
              </a:spcBef>
              <a:spcAft>
                <a:spcPts val="0"/>
              </a:spcAft>
              <a:buNone/>
            </a:pPr>
            <a:fld id="{00000000-1234-1234-1234-123412341234}" type="slidenum">
              <a:rPr lang="en" sz="1200"/>
              <a:t>‹#›</a:t>
            </a:fld>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dffdbfb35_2_103: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lnSpc>
                <a:spcPct val="115000"/>
              </a:lnSpc>
              <a:spcBef>
                <a:spcPts val="1200"/>
              </a:spcBef>
              <a:spcAft>
                <a:spcPts val="0"/>
              </a:spcAft>
              <a:buClr>
                <a:schemeClr val="dk1"/>
              </a:buClr>
              <a:buSzPts val="1100"/>
              <a:buFont typeface="Arial"/>
              <a:buNone/>
            </a:pPr>
            <a:r>
              <a:rPr lang="en"/>
              <a:t>Our research operates within the domain of DevSecOps and Software Supply Chain Security. The fundamental problem we are addressing is that traditional static secret scanners lack semantic understanding. Because they rely heavily on pattern matching, they generate prohibitively high False Positive Rates by constantly flagging safe test variables.</a:t>
            </a:r>
            <a:endParaRPr/>
          </a:p>
          <a:p>
            <a:pPr indent="0" lvl="0" marL="0" rtl="0" algn="l">
              <a:lnSpc>
                <a:spcPct val="115000"/>
              </a:lnSpc>
              <a:spcBef>
                <a:spcPts val="1200"/>
              </a:spcBef>
              <a:spcAft>
                <a:spcPts val="1200"/>
              </a:spcAft>
              <a:buNone/>
            </a:pPr>
            <a:r>
              <a:rPr lang="en"/>
              <a:t>To resolve this, we engineered a two-stage hybrid scanning pipeline. We use standard Regex as a Stage-1 pre-filter, which then invokes a locally deployed, 4-bit quantized Meta Llama 3 model. By feeding the LLM a strict 11-line context window, our solution drastically reduces false alarms. Most importantly, it does this while maintaining total offline execution and data privacy</a:t>
            </a:r>
            <a:r>
              <a:rPr lang="en"/>
              <a:t>.</a:t>
            </a:r>
            <a:endParaRPr/>
          </a:p>
        </p:txBody>
      </p:sp>
      <p:sp>
        <p:nvSpPr>
          <p:cNvPr id="156" name="Google Shape;156;g3ddffdbfb35_2_103: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dffdbfb35_2_110: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lnSpc>
                <a:spcPct val="115000"/>
              </a:lnSpc>
              <a:spcBef>
                <a:spcPts val="1200"/>
              </a:spcBef>
              <a:spcAft>
                <a:spcPts val="0"/>
              </a:spcAft>
              <a:buClr>
                <a:schemeClr val="dk1"/>
              </a:buClr>
              <a:buSzPts val="1100"/>
              <a:buFont typeface="Arial"/>
              <a:buNone/>
            </a:pPr>
            <a:r>
              <a:rPr lang="en"/>
              <a:t>Why is this necessary? Because high False Positive Rates cause severe 'Alert Fatigue' among security teams. When developers are flooded with false alarms, CI/CD pipelines are delayed, and the likelihood of ignoring genuine, critical vulnerabilities in large-scale codebases increases drastically.</a:t>
            </a:r>
            <a:endParaRPr/>
          </a:p>
          <a:p>
            <a:pPr indent="0" lvl="0" marL="0" rtl="0" algn="l">
              <a:lnSpc>
                <a:spcPct val="115000"/>
              </a:lnSpc>
              <a:spcBef>
                <a:spcPts val="1200"/>
              </a:spcBef>
              <a:spcAft>
                <a:spcPts val="0"/>
              </a:spcAft>
              <a:buClr>
                <a:schemeClr val="dk1"/>
              </a:buClr>
              <a:buSzPts val="1100"/>
              <a:buFont typeface="Arial"/>
              <a:buNone/>
            </a:pPr>
            <a:r>
              <a:rPr lang="en"/>
              <a:t>Our primary objective was to design and implement a pipeline that drastically reduces these False Positive Rates without compromising our recall capabilities. We measured this success by evaluating baseline Regex performance against our Hybrid LLM pipeline using a quantitative Confusion Matrix. Furthermore, we guaranteed zero-trust data privacy by executing the fine-tuned LLM entirely offline, while strictly benchmarking the inference latency trade-offs that come with local execution.</a:t>
            </a:r>
            <a:endParaRPr/>
          </a:p>
          <a:p>
            <a:pPr indent="0" lvl="0" marL="0" rtl="0" algn="l">
              <a:lnSpc>
                <a:spcPct val="115000"/>
              </a:lnSpc>
              <a:spcBef>
                <a:spcPts val="1200"/>
              </a:spcBef>
              <a:spcAft>
                <a:spcPts val="1200"/>
              </a:spcAft>
              <a:buNone/>
            </a:pPr>
            <a:r>
              <a:rPr lang="en"/>
              <a:t>I will now hand it over to Ashutosh to discuss the current literature and where existing solutions fall short.</a:t>
            </a:r>
            <a:endParaRPr/>
          </a:p>
        </p:txBody>
      </p:sp>
      <p:sp>
        <p:nvSpPr>
          <p:cNvPr id="164" name="Google Shape;164;g3ddffdbfb35_2_110: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dffdbfb35_2_117: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lnSpc>
                <a:spcPct val="115000"/>
              </a:lnSpc>
              <a:spcBef>
                <a:spcPts val="1200"/>
              </a:spcBef>
              <a:spcAft>
                <a:spcPts val="0"/>
              </a:spcAft>
              <a:buClr>
                <a:schemeClr val="dk1"/>
              </a:buClr>
              <a:buSzPts val="1100"/>
              <a:buFont typeface="Arial"/>
              <a:buNone/>
            </a:pPr>
            <a:r>
              <a:rPr lang="en"/>
              <a:t>Following Dinanath’s problem statement, we must examine why current solutions fail in production environments. Slides 5 and 6 summarize our comprehensive review of recent literature.</a:t>
            </a:r>
            <a:endParaRPr/>
          </a:p>
          <a:p>
            <a:pPr indent="0" lvl="0" marL="0" rtl="0" algn="l">
              <a:lnSpc>
                <a:spcPct val="115000"/>
              </a:lnSpc>
              <a:spcBef>
                <a:spcPts val="1200"/>
              </a:spcBef>
              <a:spcAft>
                <a:spcPts val="1200"/>
              </a:spcAft>
              <a:buNone/>
            </a:pPr>
            <a:r>
              <a:rPr lang="en"/>
              <a:t>The data reveals three recurring points of failure across the industry. First, as noted by Jin in 2025, attempting to adapt LLMs for static analysis results in severe token consumption and context window exhaustion. Second, vulnerability models fundamentally lack line-level granularity, as shown by Apostolidis, and focus too heavily on overall file semantics rather than isolated vulnerability concepts, as highlighted by Li. Finally, standard LLM metrics are dangerously inflated on open-source data due to training contamination, meaning they fail when applied to proprietary corporate codebases.</a:t>
            </a:r>
            <a:endParaRPr/>
          </a:p>
        </p:txBody>
      </p:sp>
      <p:sp>
        <p:nvSpPr>
          <p:cNvPr id="172" name="Google Shape;172;g3ddffdbfb35_2_117: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dffdbfb35_2_125: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lnSpc>
                <a:spcPct val="115000"/>
              </a:lnSpc>
              <a:spcBef>
                <a:spcPts val="1200"/>
              </a:spcBef>
              <a:spcAft>
                <a:spcPts val="0"/>
              </a:spcAft>
              <a:buClr>
                <a:schemeClr val="dk1"/>
              </a:buClr>
              <a:buSzPts val="1100"/>
              <a:buFont typeface="Arial"/>
              <a:buNone/>
            </a:pPr>
            <a:r>
              <a:rPr lang="en"/>
              <a:t>Following Dinanath’s problem statement, we must examine why current solutions fail in production environments. Slides 5 and 6 summarize our comprehensive review of recent literature.</a:t>
            </a:r>
            <a:endParaRPr/>
          </a:p>
          <a:p>
            <a:pPr indent="0" lvl="0" marL="0" rtl="0" algn="l">
              <a:lnSpc>
                <a:spcPct val="115000"/>
              </a:lnSpc>
              <a:spcBef>
                <a:spcPts val="1200"/>
              </a:spcBef>
              <a:spcAft>
                <a:spcPts val="1200"/>
              </a:spcAft>
              <a:buNone/>
            </a:pPr>
            <a:r>
              <a:rPr lang="en"/>
              <a:t>The data reveals three recurring points of failure across the industry. First, as noted by Jin in 2025, attempting to adapt LLMs for static analysis results in severe token consumption and context window exhaustion. Second, vulnerability models fundamentally lack line-level granularity, as shown by Apostolidis, and focus too heavily on overall file semantics rather than isolated vulnerability concepts, as highlighted by Li. Finally, standard LLM metrics are dangerously inflated on open-source data due to training contamination, meaning they fail when applied to proprietary corporate codebases.</a:t>
            </a:r>
            <a:endParaRPr/>
          </a:p>
        </p:txBody>
      </p:sp>
      <p:sp>
        <p:nvSpPr>
          <p:cNvPr id="181" name="Google Shape;181;g3ddffdbfb35_2_125: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dffdbfb35_2_133: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lnSpc>
                <a:spcPct val="115000"/>
              </a:lnSpc>
              <a:spcBef>
                <a:spcPts val="1200"/>
              </a:spcBef>
              <a:spcAft>
                <a:spcPts val="0"/>
              </a:spcAft>
              <a:buClr>
                <a:schemeClr val="dk1"/>
              </a:buClr>
              <a:buSzPts val="1100"/>
              <a:buFont typeface="Arial"/>
              <a:buNone/>
            </a:pPr>
            <a:r>
              <a:rPr lang="en"/>
              <a:t>We translated these failures into specific research gaps. Limitation 1 is Token Inefficiency. Throwing an entire repository at an LLM is computationally unviable. Our engineered solution is a 'cascading filter' approach. We use deterministic Regex purely as a Stage-1 pre-filter. This ensures we only invoke the LLM on a strict 11-line context window, completely bypassing the latency constraints of pure-LLM scanners.</a:t>
            </a:r>
            <a:endParaRPr/>
          </a:p>
          <a:p>
            <a:pPr indent="0" lvl="0" marL="0" rtl="0" algn="l">
              <a:lnSpc>
                <a:spcPct val="115000"/>
              </a:lnSpc>
              <a:spcBef>
                <a:spcPts val="1200"/>
              </a:spcBef>
              <a:spcAft>
                <a:spcPts val="1200"/>
              </a:spcAft>
              <a:buNone/>
            </a:pPr>
            <a:r>
              <a:rPr lang="en"/>
              <a:t>Limitation 2 is Context Blindness. Existing models evaluate the whole file and miss the nuances of specific lines.</a:t>
            </a:r>
            <a:endParaRPr/>
          </a:p>
        </p:txBody>
      </p:sp>
      <p:sp>
        <p:nvSpPr>
          <p:cNvPr id="190" name="Google Shape;190;g3ddffdbfb35_2_133: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dffdbfb35_2_140: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lnSpc>
                <a:spcPct val="115000"/>
              </a:lnSpc>
              <a:spcBef>
                <a:spcPts val="1200"/>
              </a:spcBef>
              <a:spcAft>
                <a:spcPts val="0"/>
              </a:spcAft>
              <a:buClr>
                <a:schemeClr val="dk1"/>
              </a:buClr>
              <a:buSzPts val="1100"/>
              <a:buFont typeface="Arial"/>
              <a:buNone/>
            </a:pPr>
            <a:r>
              <a:rPr lang="en"/>
              <a:t>To solve this Context Blindness, we extracted the Abstract Syntax Tree context—specifically, 5 lines above and below the initial Regex match. We then applied LoRA fine-tuning to explicitly train our model to evaluate variable scope and dummy test parameters within that exact micro-context.</a:t>
            </a:r>
            <a:endParaRPr/>
          </a:p>
          <a:p>
            <a:pPr indent="0" lvl="0" marL="0" rtl="0" algn="l">
              <a:lnSpc>
                <a:spcPct val="115000"/>
              </a:lnSpc>
              <a:spcBef>
                <a:spcPts val="1200"/>
              </a:spcBef>
              <a:spcAft>
                <a:spcPts val="0"/>
              </a:spcAft>
              <a:buClr>
                <a:schemeClr val="dk1"/>
              </a:buClr>
              <a:buSzPts val="1100"/>
              <a:buFont typeface="Arial"/>
              <a:buNone/>
            </a:pPr>
            <a:r>
              <a:rPr lang="en"/>
              <a:t>The final, and arguably most critical, gap is Limitation 3: The Data Privacy Paradigm. State-of-the-art security tools currently rely on cloud-based APIs. Sending proprietary, unredacted corporate source code to external servers like OpenAI or Anthropic is a direct violation of Zero-Trust security models and data compliance laws.</a:t>
            </a:r>
            <a:endParaRPr/>
          </a:p>
          <a:p>
            <a:pPr indent="0" lvl="0" marL="0" rtl="0" algn="l">
              <a:lnSpc>
                <a:spcPct val="115000"/>
              </a:lnSpc>
              <a:spcBef>
                <a:spcPts val="1200"/>
              </a:spcBef>
              <a:spcAft>
                <a:spcPts val="0"/>
              </a:spcAft>
              <a:buClr>
                <a:schemeClr val="dk1"/>
              </a:buClr>
              <a:buSzPts val="1100"/>
              <a:buFont typeface="Arial"/>
              <a:buNone/>
            </a:pPr>
            <a:r>
              <a:rPr lang="en"/>
              <a:t>Our engineered solution mandates total offline execution. We bridged this gap by deploying a 4-bit quantized Meta Llama 3 8B model locally. By leveraging the Apple MLX framework and Unified Memory, we achieve secure, on-device inference without data ever leaving the machine.</a:t>
            </a:r>
            <a:endParaRPr/>
          </a:p>
          <a:p>
            <a:pPr indent="0" lvl="0" marL="0" rtl="0" algn="l">
              <a:lnSpc>
                <a:spcPct val="115000"/>
              </a:lnSpc>
              <a:spcBef>
                <a:spcPts val="1200"/>
              </a:spcBef>
              <a:spcAft>
                <a:spcPts val="1200"/>
              </a:spcAft>
              <a:buNone/>
            </a:pPr>
            <a:r>
              <a:rPr lang="en"/>
              <a:t>I will now hand it over to Avignyan, who will walk you through the architectural implementation of these solutions.</a:t>
            </a:r>
            <a:endParaRPr/>
          </a:p>
        </p:txBody>
      </p:sp>
      <p:sp>
        <p:nvSpPr>
          <p:cNvPr id="198" name="Google Shape;198;g3ddffdbfb35_2_140: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dffdbfb35_2_147: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lnSpc>
                <a:spcPct val="115000"/>
              </a:lnSpc>
              <a:spcBef>
                <a:spcPts val="1200"/>
              </a:spcBef>
              <a:spcAft>
                <a:spcPts val="0"/>
              </a:spcAft>
              <a:buClr>
                <a:schemeClr val="dk1"/>
              </a:buClr>
              <a:buSzPts val="1100"/>
              <a:buFont typeface="Arial"/>
              <a:buNone/>
            </a:pPr>
            <a:r>
              <a:rPr lang="en"/>
              <a:t>Building on the privacy and latency requirements Ashutosh outlined, this is the schematic of our engineered pipeline.</a:t>
            </a:r>
            <a:endParaRPr/>
          </a:p>
          <a:p>
            <a:pPr indent="0" lvl="0" marL="0" rtl="0" algn="l">
              <a:lnSpc>
                <a:spcPct val="115000"/>
              </a:lnSpc>
              <a:spcBef>
                <a:spcPts val="1200"/>
              </a:spcBef>
              <a:spcAft>
                <a:spcPts val="0"/>
              </a:spcAft>
              <a:buClr>
                <a:schemeClr val="dk1"/>
              </a:buClr>
              <a:buSzPts val="1100"/>
              <a:buFont typeface="Arial"/>
              <a:buNone/>
            </a:pPr>
            <a:r>
              <a:rPr lang="en"/>
              <a:t>The flow begins by feeding a raw source code repository into our Python preprocessing script. We apply strict directory filtering to drop binaries and irrelevant files, then run the deterministic Regex Matcher. When Regex flags a potential secret, our 11-Line Context Extractor isolates the match along with its immediate surrounding Abstract Syntax Tree.</a:t>
            </a:r>
            <a:endParaRPr/>
          </a:p>
          <a:p>
            <a:pPr indent="0" lvl="0" marL="0" rtl="0" algn="l">
              <a:lnSpc>
                <a:spcPct val="115000"/>
              </a:lnSpc>
              <a:spcBef>
                <a:spcPts val="1200"/>
              </a:spcBef>
              <a:spcAft>
                <a:spcPts val="1200"/>
              </a:spcAft>
              <a:buNone/>
            </a:pPr>
            <a:r>
              <a:rPr lang="en"/>
              <a:t>This micro-context is then passed to our Local Apple MLX Engine. Here, our LoRA fine-tuned Meta Llama 3 8B model evaluates the semantics. The output layer forces a strict JSON response, which our parser evaluates to classify the secret as either 'SAFE' or 'CRITICAL', before passing the metrics to our evaluation suite.</a:t>
            </a:r>
            <a:endParaRPr/>
          </a:p>
        </p:txBody>
      </p:sp>
      <p:sp>
        <p:nvSpPr>
          <p:cNvPr id="206" name="Google Shape;206;g3ddffdbfb35_2_147: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dffdbfb35_2_156: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lnSpc>
                <a:spcPct val="115000"/>
              </a:lnSpc>
              <a:spcBef>
                <a:spcPts val="1200"/>
              </a:spcBef>
              <a:spcAft>
                <a:spcPts val="0"/>
              </a:spcAft>
              <a:buClr>
                <a:schemeClr val="dk1"/>
              </a:buClr>
              <a:buSzPts val="1100"/>
              <a:buFont typeface="Arial"/>
              <a:buNone/>
            </a:pPr>
            <a:r>
              <a:rPr lang="en"/>
              <a:t>To test this architecture, we utilized the open-source CredData benchmark, which comprises approximately 27,000 lines of source code.</a:t>
            </a:r>
            <a:endParaRPr/>
          </a:p>
          <a:p>
            <a:pPr indent="0" lvl="0" marL="0" rtl="0" algn="l">
              <a:lnSpc>
                <a:spcPct val="115000"/>
              </a:lnSpc>
              <a:spcBef>
                <a:spcPts val="1200"/>
              </a:spcBef>
              <a:spcAft>
                <a:spcPts val="0"/>
              </a:spcAft>
              <a:buClr>
                <a:schemeClr val="dk1"/>
              </a:buClr>
              <a:buSzPts val="1100"/>
              <a:buFont typeface="Arial"/>
              <a:buNone/>
            </a:pPr>
            <a:r>
              <a:rPr lang="en"/>
              <a:t>It is important to note a critical engineering constraint here: due to extreme local compute limitations, we evaluated the legacy baseline tools against the full 27,000-line dataset, but rigorously benchmarked our Hybrid LLM against a standardized 1,000-hit subset.</a:t>
            </a:r>
            <a:endParaRPr/>
          </a:p>
          <a:p>
            <a:pPr indent="0" lvl="0" marL="0" rtl="0" algn="l">
              <a:lnSpc>
                <a:spcPct val="115000"/>
              </a:lnSpc>
              <a:spcBef>
                <a:spcPts val="1200"/>
              </a:spcBef>
              <a:spcAft>
                <a:spcPts val="1200"/>
              </a:spcAft>
              <a:buNone/>
            </a:pPr>
            <a:r>
              <a:rPr lang="en"/>
              <a:t>Our stack is strictly Python 3.10+ orchestrating a 4-bit quantized Meta Llama 3 8B Instruct model. We rely entirely on the Apple MLX Framework running locally on M-series Apple Silicon. By utilizing Apple's Unified Memory, we achieve total offline inference.</a:t>
            </a:r>
            <a:endParaRPr/>
          </a:p>
        </p:txBody>
      </p:sp>
      <p:sp>
        <p:nvSpPr>
          <p:cNvPr id="215" name="Google Shape;215;g3ddffdbfb35_2_156: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dffdbfb35_2_163: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lnSpc>
                <a:spcPct val="115000"/>
              </a:lnSpc>
              <a:spcBef>
                <a:spcPts val="1200"/>
              </a:spcBef>
              <a:spcAft>
                <a:spcPts val="0"/>
              </a:spcAft>
              <a:buClr>
                <a:schemeClr val="dk1"/>
              </a:buClr>
              <a:buSzPts val="1100"/>
              <a:buFont typeface="Arial"/>
              <a:buNone/>
            </a:pPr>
            <a:r>
              <a:rPr lang="en"/>
              <a:t>Executing entirely on local hardware ensures we strictly enforce our zero-trust data privacy constraints. Corporate code never touches a network interface.</a:t>
            </a:r>
            <a:endParaRPr/>
          </a:p>
          <a:p>
            <a:pPr indent="0" lvl="0" marL="0" rtl="0" algn="l">
              <a:lnSpc>
                <a:spcPct val="115000"/>
              </a:lnSpc>
              <a:spcBef>
                <a:spcPts val="1200"/>
              </a:spcBef>
              <a:spcAft>
                <a:spcPts val="0"/>
              </a:spcAft>
              <a:buClr>
                <a:schemeClr val="dk1"/>
              </a:buClr>
              <a:buSzPts val="1100"/>
              <a:buFont typeface="Arial"/>
              <a:buNone/>
            </a:pPr>
            <a:r>
              <a:rPr lang="en"/>
              <a:t>Regarding the pipeline implementation, both Phase 1—the Regex and AST context extraction—and Phase 2—the Apple MLX inference—are fully integrated and operationalized. A major hurdle in LLM integration is standardizing output. We solved this through targeted model fine-tuning. Running LoRA at 3000 iterations successfully stabilized the model to output strict, predictable JSON parsing, allowing seamless integration with our evaluation suite.</a:t>
            </a:r>
            <a:endParaRPr/>
          </a:p>
          <a:p>
            <a:pPr indent="0" lvl="0" marL="0" rtl="0" algn="l">
              <a:lnSpc>
                <a:spcPct val="115000"/>
              </a:lnSpc>
              <a:spcBef>
                <a:spcPts val="1200"/>
              </a:spcBef>
              <a:spcAft>
                <a:spcPts val="1200"/>
              </a:spcAft>
              <a:buNone/>
            </a:pPr>
            <a:r>
              <a:rPr lang="en"/>
              <a:t>I will now hand it over to Satyajeet to break down the exact performance metrics and address our current latency challenges.</a:t>
            </a:r>
            <a:endParaRPr/>
          </a:p>
        </p:txBody>
      </p:sp>
      <p:sp>
        <p:nvSpPr>
          <p:cNvPr id="223" name="Google Shape;223;g3ddffdbfb35_2_163: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e007c11df_0_0:notes"/>
          <p:cNvSpPr txBox="1"/>
          <p:nvPr>
            <p:ph idx="1" type="body"/>
          </p:nvPr>
        </p:nvSpPr>
        <p:spPr>
          <a:xfrm>
            <a:off x="685512" y="4400392"/>
            <a:ext cx="5487000" cy="3600600"/>
          </a:xfrm>
          <a:prstGeom prst="rect">
            <a:avLst/>
          </a:prstGeom>
        </p:spPr>
        <p:txBody>
          <a:bodyPr anchorCtr="0" anchor="t" bIns="81350" lIns="81350" spcFirstLastPara="1" rIns="81350" wrap="square" tIns="81350">
            <a:noAutofit/>
          </a:bodyPr>
          <a:lstStyle/>
          <a:p>
            <a:pPr indent="0" lvl="0" marL="0" rtl="0" algn="l">
              <a:lnSpc>
                <a:spcPct val="115000"/>
              </a:lnSpc>
              <a:spcBef>
                <a:spcPts val="1200"/>
              </a:spcBef>
              <a:spcAft>
                <a:spcPts val="0"/>
              </a:spcAft>
              <a:buClr>
                <a:schemeClr val="dk1"/>
              </a:buClr>
              <a:buSzPts val="1100"/>
              <a:buFont typeface="Arial"/>
              <a:buNone/>
            </a:pPr>
            <a:r>
              <a:rPr lang="en"/>
              <a:t>Avignyan walked you through the architecture, but architecture is theoretical until benchmarked. We conducted a head-to-head comparative analysis on the CredData dataset against two industry standards: TruffleHog and Gitleaks.</a:t>
            </a:r>
            <a:endParaRPr/>
          </a:p>
          <a:p>
            <a:pPr indent="0" lvl="0" marL="0" rtl="0" algn="l">
              <a:lnSpc>
                <a:spcPct val="115000"/>
              </a:lnSpc>
              <a:spcBef>
                <a:spcPts val="1200"/>
              </a:spcBef>
              <a:spcAft>
                <a:spcPts val="0"/>
              </a:spcAft>
              <a:buClr>
                <a:schemeClr val="dk1"/>
              </a:buClr>
              <a:buSzPts val="1100"/>
              <a:buFont typeface="Arial"/>
              <a:buNone/>
            </a:pPr>
            <a:r>
              <a:rPr lang="en"/>
              <a:t>The baseline failure is entirely rooted in context blindness. TruffleHog failed our offline execution parameters entirely, yielding a near-zero recall of 0.0123. Gitleaks, functioning purely on Regex, maintained a high precision of 0.8600, but suffered catastrophic false negatives. Because it lacks semantic awareness, Gitleaks missed 74% of actual hardcoded secrets, resulting in a recall of just 0.2600.</a:t>
            </a:r>
            <a:endParaRPr/>
          </a:p>
          <a:p>
            <a:pPr indent="0" lvl="0" marL="0" rtl="0" algn="l">
              <a:lnSpc>
                <a:spcPct val="115000"/>
              </a:lnSpc>
              <a:spcBef>
                <a:spcPts val="1200"/>
              </a:spcBef>
              <a:spcAft>
                <a:spcPts val="1200"/>
              </a:spcAft>
              <a:buNone/>
            </a:pPr>
            <a:r>
              <a:rPr lang="en"/>
              <a:t>Against this, our Hybrid Model achieved an overall accuracy of 87.0% across our standardized 1,000-hit subset. While maintaining highly competitive precision at 0.8117, our recall surged to 0.9427.</a:t>
            </a:r>
            <a:endParaRPr/>
          </a:p>
        </p:txBody>
      </p:sp>
      <p:sp>
        <p:nvSpPr>
          <p:cNvPr id="231" name="Google Shape;231;g3de007c11df_0_0:notes"/>
          <p:cNvSpPr/>
          <p:nvPr>
            <p:ph idx="2" type="sldImg"/>
          </p:nvPr>
        </p:nvSpPr>
        <p:spPr>
          <a:xfrm>
            <a:off x="519895" y="1143206"/>
            <a:ext cx="58182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dffdbfb35_2_177: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sz="1200">
                <a:solidFill>
                  <a:schemeClr val="dk1"/>
                </a:solidFill>
              </a:rPr>
              <a:t>Looking at the visual breakdown, the trade-off is clear. We sacrificed a negligible fraction of precision compared to Gitleaks to achieve a massive leap in recall. Consequently, our hybrid model dominates the F1-Score metric at 0.8723, comprehensively outperforming both baselines. We successfully eliminated the false alarms without blinding the scanner.</a:t>
            </a:r>
            <a:endParaRPr/>
          </a:p>
        </p:txBody>
      </p:sp>
      <p:sp>
        <p:nvSpPr>
          <p:cNvPr id="239" name="Google Shape;239;g3ddffdbfb35_2_177: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dffdbfb35_2_184: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lnSpc>
                <a:spcPct val="115000"/>
              </a:lnSpc>
              <a:spcBef>
                <a:spcPts val="1200"/>
              </a:spcBef>
              <a:spcAft>
                <a:spcPts val="0"/>
              </a:spcAft>
              <a:buClr>
                <a:schemeClr val="dk1"/>
              </a:buClr>
              <a:buSzPts val="1100"/>
              <a:buFont typeface="Arial"/>
              <a:buNone/>
            </a:pPr>
            <a:r>
              <a:rPr lang="en"/>
              <a:t>However, we must address the engineering reality: latency. While the Apple MLX framework guarantees zero-trust privacy via local execution, running a quantized 8-billion parameter model is fundamentally slower than pure C-based Regex.</a:t>
            </a:r>
            <a:endParaRPr/>
          </a:p>
          <a:p>
            <a:pPr indent="0" lvl="0" marL="0" rtl="0" algn="l">
              <a:lnSpc>
                <a:spcPct val="115000"/>
              </a:lnSpc>
              <a:spcBef>
                <a:spcPts val="1200"/>
              </a:spcBef>
              <a:spcAft>
                <a:spcPts val="1200"/>
              </a:spcAft>
              <a:buNone/>
            </a:pPr>
            <a:r>
              <a:rPr lang="en"/>
              <a:t>Currently, executing sequential LLM inference on hundreds of Regex matches creates a severe pipeline block. It is impractical for monolithic repository scans in a fast-paced CI/CD environment. We actively mitigated this by implementing a strict few-shot prompting template, which successfully halved our initial context processing time and stabilized the JSON output. But baseline per-snippet inference speed remains our primary technical hurdle for production deployment.</a:t>
            </a:r>
            <a:endParaRPr/>
          </a:p>
        </p:txBody>
      </p:sp>
      <p:sp>
        <p:nvSpPr>
          <p:cNvPr id="248" name="Google Shape;248;g3ddffdbfb35_2_184: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dffdbfb35_2_191: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lnSpc>
                <a:spcPct val="115000"/>
              </a:lnSpc>
              <a:spcBef>
                <a:spcPts val="1200"/>
              </a:spcBef>
              <a:spcAft>
                <a:spcPts val="0"/>
              </a:spcAft>
              <a:buClr>
                <a:schemeClr val="dk1"/>
              </a:buClr>
              <a:buSzPts val="1100"/>
              <a:buFont typeface="Arial"/>
              <a:buNone/>
            </a:pPr>
            <a:r>
              <a:rPr lang="en"/>
              <a:t>To conclude, our hybrid LLM-augmented pipeline definitively validated our core research hypothesis: we successfully eliminated Regex context-blindness—achieving an 87.23% F1-Score—while guaranteeing zero-trust data privacy via local MLX execution.</a:t>
            </a:r>
            <a:endParaRPr/>
          </a:p>
          <a:p>
            <a:pPr indent="0" lvl="0" marL="0" rtl="0" algn="l">
              <a:lnSpc>
                <a:spcPct val="115000"/>
              </a:lnSpc>
              <a:spcBef>
                <a:spcPts val="1200"/>
              </a:spcBef>
              <a:spcAft>
                <a:spcPts val="1200"/>
              </a:spcAft>
              <a:buNone/>
            </a:pPr>
            <a:r>
              <a:rPr lang="en"/>
              <a:t>Moving forward, our immediate scope dictates three actions. First, cross-dataset validation. Our model is heavily biased toward the CredData benchmark, so we are pending access to the FPSecretBench dataset to test generalization. Second, aggressive latency mitigation. We are shifting focus from detection accuracy to operational speed, specifically investigating batch processing through the MLX engine. Finally, we plan to package this architecture into a standardized GitHub Action for seamless CI/CD integration.</a:t>
            </a:r>
            <a:endParaRPr/>
          </a:p>
        </p:txBody>
      </p:sp>
      <p:sp>
        <p:nvSpPr>
          <p:cNvPr id="256" name="Google Shape;256;g3ddffdbfb35_2_191: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dffdbfb35_2_198: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These are the references that ground our methodology. Thank you everyone, we are now open to your questions.</a:t>
            </a:r>
            <a:endParaRPr/>
          </a:p>
        </p:txBody>
      </p:sp>
      <p:sp>
        <p:nvSpPr>
          <p:cNvPr id="264" name="Google Shape;264;g3ddffdbfb35_2_198: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ddffdbfb35_2_203: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solidFill>
                  <a:schemeClr val="dk1"/>
                </a:solidFill>
              </a:rPr>
              <a:t>These are the references that ground our methodology. Thank you everyone, we are now open to your questions.</a:t>
            </a:r>
            <a:endParaRPr/>
          </a:p>
        </p:txBody>
      </p:sp>
      <p:sp>
        <p:nvSpPr>
          <p:cNvPr id="271" name="Google Shape;271;g3ddffdbfb35_2_203: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4"/>
          <p:cNvSpPr txBox="1"/>
          <p:nvPr>
            <p:ph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l">
              <a:spcBef>
                <a:spcPts val="0"/>
              </a:spcBef>
              <a:spcAft>
                <a:spcPts val="0"/>
              </a:spcAft>
              <a:buClr>
                <a:schemeClr val="dk2"/>
              </a:buClr>
              <a:buSzPts val="2500"/>
              <a:buFont typeface="Arial"/>
              <a:buNone/>
              <a:defRPr sz="25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0" name="Google Shape;60;p14"/>
          <p:cNvSpPr txBox="1"/>
          <p:nvPr>
            <p:ph idx="1" type="body"/>
          </p:nvPr>
        </p:nvSpPr>
        <p:spPr>
          <a:xfrm>
            <a:off x="720000" y="1430950"/>
            <a:ext cx="7704000" cy="3177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indent="-304800" lvl="1" marL="914400" algn="l">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indent="-304800" lvl="2" marL="13716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indent="-304800" lvl="3" marL="18288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indent="-304800" lvl="4" marL="22860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indent="-304800" lvl="5" marL="27432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indent="-304800" lvl="6" marL="32004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indent="-304800" lvl="7" marL="36576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indent="-304800" lvl="8" marL="41148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15"/>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5"/>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solidFill>
                <a:srgbClr val="FFFFFF"/>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5" name="Shape 65"/>
        <p:cNvGrpSpPr/>
        <p:nvPr/>
      </p:nvGrpSpPr>
      <p:grpSpPr>
        <a:xfrm>
          <a:off x="0" y="0"/>
          <a:ext cx="0" cy="0"/>
          <a:chOff x="0" y="0"/>
          <a:chExt cx="0" cy="0"/>
        </a:xfrm>
      </p:grpSpPr>
      <p:sp>
        <p:nvSpPr>
          <p:cNvPr id="66" name="Google Shape;66;p16"/>
          <p:cNvSpPr txBox="1"/>
          <p:nvPr>
            <p:ph type="ctrTitle"/>
          </p:nvPr>
        </p:nvSpPr>
        <p:spPr>
          <a:xfrm>
            <a:off x="685800" y="1028700"/>
            <a:ext cx="7848600" cy="1445419"/>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5400"/>
              <a:buFont typeface="Arial"/>
              <a:buNone/>
              <a:defRPr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6"/>
          <p:cNvSpPr txBox="1"/>
          <p:nvPr>
            <p:ph idx="1" type="subTitle"/>
          </p:nvPr>
        </p:nvSpPr>
        <p:spPr>
          <a:xfrm>
            <a:off x="685800" y="2628900"/>
            <a:ext cx="6400800" cy="1314450"/>
          </a:xfrm>
          <a:prstGeom prst="rect">
            <a:avLst/>
          </a:prstGeom>
          <a:noFill/>
          <a:ln>
            <a:noFill/>
          </a:ln>
        </p:spPr>
        <p:txBody>
          <a:bodyPr anchorCtr="0" anchor="t" bIns="45700" lIns="91425" spcFirstLastPara="1" rIns="91425" wrap="square" tIns="45700">
            <a:normAutofit/>
          </a:bodyPr>
          <a:lstStyle>
            <a:lvl1pPr lvl="0" algn="l">
              <a:spcBef>
                <a:spcPts val="560"/>
              </a:spcBef>
              <a:spcAft>
                <a:spcPts val="0"/>
              </a:spcAft>
              <a:buSzPts val="2380"/>
              <a:buNone/>
              <a:defRPr>
                <a:solidFill>
                  <a:srgbClr val="3F3F3F"/>
                </a:solidFill>
              </a:defRPr>
            </a:lvl1pPr>
            <a:lvl2pPr lvl="1" algn="ctr">
              <a:spcBef>
                <a:spcPts val="480"/>
              </a:spcBef>
              <a:spcAft>
                <a:spcPts val="0"/>
              </a:spcAft>
              <a:buSzPts val="2040"/>
              <a:buNone/>
              <a:defRPr>
                <a:solidFill>
                  <a:srgbClr val="888888"/>
                </a:solidFill>
              </a:defRPr>
            </a:lvl2pPr>
            <a:lvl3pPr lvl="2" algn="ctr">
              <a:spcBef>
                <a:spcPts val="400"/>
              </a:spcBef>
              <a:spcAft>
                <a:spcPts val="0"/>
              </a:spcAft>
              <a:buSzPts val="18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20"/>
              </a:spcBef>
              <a:spcAft>
                <a:spcPts val="0"/>
              </a:spcAft>
              <a:buSzPts val="1600"/>
              <a:buNone/>
              <a:defRPr>
                <a:solidFill>
                  <a:srgbClr val="888888"/>
                </a:solidFill>
              </a:defRPr>
            </a:lvl5pPr>
            <a:lvl6pPr lvl="5" algn="ctr">
              <a:spcBef>
                <a:spcPts val="260"/>
              </a:spcBef>
              <a:spcAft>
                <a:spcPts val="0"/>
              </a:spcAft>
              <a:buSzPts val="1300"/>
              <a:buNone/>
              <a:defRPr>
                <a:solidFill>
                  <a:srgbClr val="888888"/>
                </a:solidFill>
              </a:defRPr>
            </a:lvl6pPr>
            <a:lvl7pPr lvl="6" algn="ctr">
              <a:spcBef>
                <a:spcPts val="260"/>
              </a:spcBef>
              <a:spcAft>
                <a:spcPts val="0"/>
              </a:spcAft>
              <a:buSzPts val="1300"/>
              <a:buNone/>
              <a:defRPr>
                <a:solidFill>
                  <a:srgbClr val="888888"/>
                </a:solidFill>
              </a:defRPr>
            </a:lvl7pPr>
            <a:lvl8pPr lvl="7" algn="ctr">
              <a:spcBef>
                <a:spcPts val="260"/>
              </a:spcBef>
              <a:spcAft>
                <a:spcPts val="0"/>
              </a:spcAft>
              <a:buSzPts val="1300"/>
              <a:buNone/>
              <a:defRPr>
                <a:solidFill>
                  <a:srgbClr val="888888"/>
                </a:solidFill>
              </a:defRPr>
            </a:lvl8pPr>
            <a:lvl9pPr lvl="8" algn="ctr">
              <a:spcBef>
                <a:spcPts val="260"/>
              </a:spcBef>
              <a:spcAft>
                <a:spcPts val="0"/>
              </a:spcAft>
              <a:buSzPts val="1300"/>
              <a:buNone/>
              <a:defRPr>
                <a:solidFill>
                  <a:srgbClr val="888888"/>
                </a:solidFill>
              </a:defRPr>
            </a:lvl9pPr>
          </a:lstStyle>
          <a:p/>
        </p:txBody>
      </p:sp>
      <p:sp>
        <p:nvSpPr>
          <p:cNvPr id="68" name="Google Shape;68;p16"/>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6"/>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cxnSp>
        <p:nvCxnSpPr>
          <p:cNvPr id="71" name="Google Shape;71;p16"/>
          <p:cNvCxnSpPr/>
          <p:nvPr/>
        </p:nvCxnSpPr>
        <p:spPr>
          <a:xfrm>
            <a:off x="685800" y="2548890"/>
            <a:ext cx="7848600" cy="1191"/>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2" name="Shape 72"/>
        <p:cNvGrpSpPr/>
        <p:nvPr/>
      </p:nvGrpSpPr>
      <p:grpSpPr>
        <a:xfrm>
          <a:off x="0" y="0"/>
          <a:ext cx="0" cy="0"/>
          <a:chOff x="0" y="0"/>
          <a:chExt cx="0" cy="0"/>
        </a:xfrm>
      </p:grpSpPr>
      <p:sp>
        <p:nvSpPr>
          <p:cNvPr id="73" name="Google Shape;73;p17"/>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a:off x="457200" y="1200150"/>
            <a:ext cx="8229600" cy="36576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58140" lvl="1" marL="914400" algn="l">
              <a:spcBef>
                <a:spcPts val="480"/>
              </a:spcBef>
              <a:spcAft>
                <a:spcPts val="0"/>
              </a:spcAft>
              <a:buClr>
                <a:schemeClr val="accent1"/>
              </a:buClr>
              <a:buSzPts val="2040"/>
              <a:buChar char="•"/>
              <a:defRPr/>
            </a:lvl2pPr>
            <a:lvl3pPr indent="-331470" lvl="2" marL="1371600" algn="l">
              <a:spcBef>
                <a:spcPts val="360"/>
              </a:spcBef>
              <a:spcAft>
                <a:spcPts val="0"/>
              </a:spcAft>
              <a:buSzPts val="1620"/>
              <a:buChar char="•"/>
              <a:defRPr/>
            </a:lvl3pPr>
            <a:lvl4pPr indent="-342900" lvl="3" marL="1828800" algn="l">
              <a:spcBef>
                <a:spcPts val="360"/>
              </a:spcBef>
              <a:spcAft>
                <a:spcPts val="0"/>
              </a:spcAft>
              <a:buClr>
                <a:schemeClr val="accent1"/>
              </a:buClr>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5" name="Google Shape;75;p17"/>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2"/>
        </a:solidFill>
      </p:bgPr>
    </p:bg>
    <p:spTree>
      <p:nvGrpSpPr>
        <p:cNvPr id="78" name="Shape 78"/>
        <p:cNvGrpSpPr/>
        <p:nvPr/>
      </p:nvGrpSpPr>
      <p:grpSpPr>
        <a:xfrm>
          <a:off x="0" y="0"/>
          <a:ext cx="0" cy="0"/>
          <a:chOff x="0" y="0"/>
          <a:chExt cx="0" cy="0"/>
        </a:xfrm>
      </p:grpSpPr>
      <p:sp>
        <p:nvSpPr>
          <p:cNvPr id="79" name="Google Shape;79;p18"/>
          <p:cNvSpPr txBox="1"/>
          <p:nvPr>
            <p:ph type="title"/>
          </p:nvPr>
        </p:nvSpPr>
        <p:spPr>
          <a:xfrm>
            <a:off x="722313" y="1771650"/>
            <a:ext cx="7772400" cy="165020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4800"/>
              <a:buFont typeface="Arial"/>
              <a:buNone/>
              <a:defRPr b="0"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a:off x="722313" y="3470149"/>
            <a:ext cx="7772400" cy="1125140"/>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SzPts val="2040"/>
              <a:buNone/>
              <a:defRPr sz="2400">
                <a:solidFill>
                  <a:schemeClr val="lt2"/>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440"/>
              <a:buNone/>
              <a:defRPr sz="1600">
                <a:solidFill>
                  <a:schemeClr val="lt1"/>
                </a:solidFill>
              </a:defRPr>
            </a:lvl3pPr>
            <a:lvl4pPr indent="-228600" lvl="3" marL="1828800" algn="l">
              <a:spcBef>
                <a:spcPts val="280"/>
              </a:spcBef>
              <a:spcAft>
                <a:spcPts val="0"/>
              </a:spcAft>
              <a:buSzPts val="140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228600" lvl="5" marL="2743200" algn="l">
              <a:spcBef>
                <a:spcPts val="280"/>
              </a:spcBef>
              <a:spcAft>
                <a:spcPts val="0"/>
              </a:spcAft>
              <a:buSzPts val="1400"/>
              <a:buNone/>
              <a:defRPr sz="1400">
                <a:solidFill>
                  <a:schemeClr val="lt1"/>
                </a:solidFill>
              </a:defRPr>
            </a:lvl6pPr>
            <a:lvl7pPr indent="-228600" lvl="6" marL="3200400" algn="l">
              <a:spcBef>
                <a:spcPts val="280"/>
              </a:spcBef>
              <a:spcAft>
                <a:spcPts val="0"/>
              </a:spcAft>
              <a:buSzPts val="1400"/>
              <a:buNone/>
              <a:defRPr sz="1400">
                <a:solidFill>
                  <a:schemeClr val="lt1"/>
                </a:solidFill>
              </a:defRPr>
            </a:lvl7pPr>
            <a:lvl8pPr indent="-228600" lvl="7" marL="3657600" algn="l">
              <a:spcBef>
                <a:spcPts val="280"/>
              </a:spcBef>
              <a:spcAft>
                <a:spcPts val="0"/>
              </a:spcAft>
              <a:buSzPts val="1400"/>
              <a:buNone/>
              <a:defRPr sz="1400">
                <a:solidFill>
                  <a:schemeClr val="lt1"/>
                </a:solidFill>
              </a:defRPr>
            </a:lvl8pPr>
            <a:lvl9pPr indent="-228600" lvl="8" marL="4114800" algn="l">
              <a:spcBef>
                <a:spcPts val="280"/>
              </a:spcBef>
              <a:spcAft>
                <a:spcPts val="0"/>
              </a:spcAft>
              <a:buSzPts val="1400"/>
              <a:buNone/>
              <a:defRPr sz="1400">
                <a:solidFill>
                  <a:schemeClr val="lt1"/>
                </a:solidFill>
              </a:defRPr>
            </a:lvl9pPr>
          </a:lstStyle>
          <a:p/>
        </p:txBody>
      </p:sp>
      <p:sp>
        <p:nvSpPr>
          <p:cNvPr id="81" name="Google Shape;81;p18"/>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8"/>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solidFill>
                <a:srgbClr val="88A44E"/>
              </a:solidFill>
            </a:endParaRPr>
          </a:p>
        </p:txBody>
      </p:sp>
      <p:cxnSp>
        <p:nvCxnSpPr>
          <p:cNvPr id="84" name="Google Shape;84;p18"/>
          <p:cNvCxnSpPr/>
          <p:nvPr/>
        </p:nvCxnSpPr>
        <p:spPr>
          <a:xfrm>
            <a:off x="731520" y="3449574"/>
            <a:ext cx="7848600" cy="1191"/>
          </a:xfrm>
          <a:prstGeom prst="straightConnector1">
            <a:avLst/>
          </a:prstGeom>
          <a:noFill/>
          <a:ln cap="flat" cmpd="sng" w="19050">
            <a:solidFill>
              <a:schemeClr val="lt2"/>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5" name="Shape 85"/>
        <p:cNvGrpSpPr/>
        <p:nvPr/>
      </p:nvGrpSpPr>
      <p:grpSpPr>
        <a:xfrm>
          <a:off x="0" y="0"/>
          <a:ext cx="0" cy="0"/>
          <a:chOff x="0" y="0"/>
          <a:chExt cx="0" cy="0"/>
        </a:xfrm>
      </p:grpSpPr>
      <p:sp>
        <p:nvSpPr>
          <p:cNvPr id="86" name="Google Shape;86;p19"/>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1" type="body"/>
          </p:nvPr>
        </p:nvSpPr>
        <p:spPr>
          <a:xfrm>
            <a:off x="457200" y="1255014"/>
            <a:ext cx="4038600" cy="3538728"/>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88" name="Google Shape;88;p19"/>
          <p:cNvSpPr txBox="1"/>
          <p:nvPr>
            <p:ph idx="2" type="body"/>
          </p:nvPr>
        </p:nvSpPr>
        <p:spPr>
          <a:xfrm>
            <a:off x="4648200" y="1255014"/>
            <a:ext cx="4038600" cy="3538728"/>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89" name="Google Shape;89;p19"/>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9"/>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9"/>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2" name="Shape 92"/>
        <p:cNvGrpSpPr/>
        <p:nvPr/>
      </p:nvGrpSpPr>
      <p:grpSpPr>
        <a:xfrm>
          <a:off x="0" y="0"/>
          <a:ext cx="0" cy="0"/>
          <a:chOff x="0" y="0"/>
          <a:chExt cx="0" cy="0"/>
        </a:xfrm>
      </p:grpSpPr>
      <p:sp>
        <p:nvSpPr>
          <p:cNvPr id="93" name="Google Shape;93;p20"/>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20"/>
          <p:cNvSpPr txBox="1"/>
          <p:nvPr>
            <p:ph idx="1" type="body"/>
          </p:nvPr>
        </p:nvSpPr>
        <p:spPr>
          <a:xfrm>
            <a:off x="457200" y="1257300"/>
            <a:ext cx="3931920" cy="47982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95" name="Google Shape;95;p20"/>
          <p:cNvSpPr txBox="1"/>
          <p:nvPr>
            <p:ph idx="2" type="body"/>
          </p:nvPr>
        </p:nvSpPr>
        <p:spPr>
          <a:xfrm>
            <a:off x="457200" y="1828800"/>
            <a:ext cx="3931920" cy="2963466"/>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70"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96" name="Google Shape;96;p20"/>
          <p:cNvSpPr txBox="1"/>
          <p:nvPr>
            <p:ph idx="3" type="body"/>
          </p:nvPr>
        </p:nvSpPr>
        <p:spPr>
          <a:xfrm>
            <a:off x="4754880" y="1257300"/>
            <a:ext cx="3931920" cy="47982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latin typeface="Arial"/>
                <a:ea typeface="Arial"/>
                <a:cs typeface="Arial"/>
                <a:sym typeface="Aria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97" name="Google Shape;97;p20"/>
          <p:cNvSpPr txBox="1"/>
          <p:nvPr>
            <p:ph idx="4" type="body"/>
          </p:nvPr>
        </p:nvSpPr>
        <p:spPr>
          <a:xfrm>
            <a:off x="4754880" y="1828800"/>
            <a:ext cx="3931920" cy="2963466"/>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70"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98" name="Google Shape;98;p20"/>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0"/>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0"/>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cxnSp>
        <p:nvCxnSpPr>
          <p:cNvPr id="101" name="Google Shape;101;p20"/>
          <p:cNvCxnSpPr/>
          <p:nvPr/>
        </p:nvCxnSpPr>
        <p:spPr>
          <a:xfrm rot="5400000">
            <a:off x="2806462" y="3034268"/>
            <a:ext cx="3531870" cy="794"/>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21"/>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21"/>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1"/>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7" name="Shape 107"/>
        <p:cNvGrpSpPr/>
        <p:nvPr/>
      </p:nvGrpSpPr>
      <p:grpSpPr>
        <a:xfrm>
          <a:off x="0" y="0"/>
          <a:ext cx="0" cy="0"/>
          <a:chOff x="0" y="0"/>
          <a:chExt cx="0" cy="0"/>
        </a:xfrm>
      </p:grpSpPr>
      <p:sp>
        <p:nvSpPr>
          <p:cNvPr id="108" name="Google Shape;108;p22"/>
          <p:cNvSpPr txBox="1"/>
          <p:nvPr>
            <p:ph type="title"/>
          </p:nvPr>
        </p:nvSpPr>
        <p:spPr>
          <a:xfrm>
            <a:off x="457200" y="594060"/>
            <a:ext cx="2139696" cy="94640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22"/>
          <p:cNvSpPr txBox="1"/>
          <p:nvPr>
            <p:ph idx="1" type="body"/>
          </p:nvPr>
        </p:nvSpPr>
        <p:spPr>
          <a:xfrm>
            <a:off x="2971800" y="594060"/>
            <a:ext cx="5715000" cy="4183380"/>
          </a:xfrm>
          <a:prstGeom prst="rect">
            <a:avLst/>
          </a:prstGeom>
          <a:noFill/>
          <a:ln>
            <a:noFill/>
          </a:ln>
        </p:spPr>
        <p:txBody>
          <a:bodyPr anchorCtr="0" anchor="t" bIns="45700" lIns="91425" spcFirstLastPara="1" rIns="91425" wrap="square" tIns="45700">
            <a:normAutofit/>
          </a:bodyPr>
          <a:lstStyle>
            <a:lvl1pPr indent="-401320" lvl="0" marL="457200" algn="l">
              <a:spcBef>
                <a:spcPts val="640"/>
              </a:spcBef>
              <a:spcAft>
                <a:spcPts val="0"/>
              </a:spcAft>
              <a:buSzPts val="2720"/>
              <a:buChar char="•"/>
              <a:defRPr sz="3200"/>
            </a:lvl1pPr>
            <a:lvl2pPr indent="-379730" lvl="1" marL="914400" algn="l">
              <a:spcBef>
                <a:spcPts val="560"/>
              </a:spcBef>
              <a:spcAft>
                <a:spcPts val="0"/>
              </a:spcAft>
              <a:buSzPts val="2380"/>
              <a:buChar char="•"/>
              <a:defRPr sz="2800"/>
            </a:lvl2pPr>
            <a:lvl3pPr indent="-365760" lvl="2" marL="1371600" algn="l">
              <a:spcBef>
                <a:spcPts val="480"/>
              </a:spcBef>
              <a:spcAft>
                <a:spcPts val="0"/>
              </a:spcAft>
              <a:buSzPts val="216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110" name="Google Shape;110;p22"/>
          <p:cNvSpPr txBox="1"/>
          <p:nvPr>
            <p:ph idx="2" type="body"/>
          </p:nvPr>
        </p:nvSpPr>
        <p:spPr>
          <a:xfrm>
            <a:off x="457201" y="1597915"/>
            <a:ext cx="2139696" cy="3182711"/>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11" name="Google Shape;111;p22"/>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2"/>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solidFill>
                <a:srgbClr val="88A44E"/>
              </a:solidFill>
            </a:endParaRPr>
          </a:p>
        </p:txBody>
      </p:sp>
      <p:cxnSp>
        <p:nvCxnSpPr>
          <p:cNvPr id="114" name="Google Shape;114;p22"/>
          <p:cNvCxnSpPr/>
          <p:nvPr/>
        </p:nvCxnSpPr>
        <p:spPr>
          <a:xfrm rot="5400000">
            <a:off x="684114" y="2684956"/>
            <a:ext cx="418338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5" name="Shape 115"/>
        <p:cNvGrpSpPr/>
        <p:nvPr/>
      </p:nvGrpSpPr>
      <p:grpSpPr>
        <a:xfrm>
          <a:off x="0" y="0"/>
          <a:ext cx="0" cy="0"/>
          <a:chOff x="0" y="0"/>
          <a:chExt cx="0" cy="0"/>
        </a:xfrm>
      </p:grpSpPr>
      <p:sp>
        <p:nvSpPr>
          <p:cNvPr id="116" name="Google Shape;116;p23"/>
          <p:cNvSpPr txBox="1"/>
          <p:nvPr>
            <p:ph type="title"/>
          </p:nvPr>
        </p:nvSpPr>
        <p:spPr>
          <a:xfrm>
            <a:off x="457200" y="594360"/>
            <a:ext cx="2142680" cy="9486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23"/>
          <p:cNvSpPr/>
          <p:nvPr>
            <p:ph idx="2" type="pic"/>
          </p:nvPr>
        </p:nvSpPr>
        <p:spPr>
          <a:xfrm>
            <a:off x="2858610" y="628651"/>
            <a:ext cx="5904390" cy="4125342"/>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823"/>
              </a:srgbClr>
            </a:outerShdw>
          </a:effectLst>
        </p:spPr>
      </p:sp>
      <p:sp>
        <p:nvSpPr>
          <p:cNvPr id="118" name="Google Shape;118;p23"/>
          <p:cNvSpPr txBox="1"/>
          <p:nvPr>
            <p:ph idx="1" type="body"/>
          </p:nvPr>
        </p:nvSpPr>
        <p:spPr>
          <a:xfrm>
            <a:off x="457200" y="1600200"/>
            <a:ext cx="2139696" cy="318211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19" name="Google Shape;119;p23"/>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3"/>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3"/>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2" name="Shape 122"/>
        <p:cNvGrpSpPr/>
        <p:nvPr/>
      </p:nvGrpSpPr>
      <p:grpSpPr>
        <a:xfrm>
          <a:off x="0" y="0"/>
          <a:ext cx="0" cy="0"/>
          <a:chOff x="0" y="0"/>
          <a:chExt cx="0" cy="0"/>
        </a:xfrm>
      </p:grpSpPr>
      <p:sp>
        <p:nvSpPr>
          <p:cNvPr id="123" name="Google Shape;123;p24"/>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24"/>
          <p:cNvSpPr txBox="1"/>
          <p:nvPr>
            <p:ph idx="1" type="body"/>
          </p:nvPr>
        </p:nvSpPr>
        <p:spPr>
          <a:xfrm rot="5400000">
            <a:off x="2743200" y="-1085850"/>
            <a:ext cx="3657600" cy="82296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70"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5" name="Google Shape;125;p24"/>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4"/>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4"/>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8" name="Shape 128"/>
        <p:cNvGrpSpPr/>
        <p:nvPr/>
      </p:nvGrpSpPr>
      <p:grpSpPr>
        <a:xfrm>
          <a:off x="0" y="0"/>
          <a:ext cx="0" cy="0"/>
          <a:chOff x="0" y="0"/>
          <a:chExt cx="0" cy="0"/>
        </a:xfrm>
      </p:grpSpPr>
      <p:sp>
        <p:nvSpPr>
          <p:cNvPr id="129" name="Google Shape;129;p25"/>
          <p:cNvSpPr txBox="1"/>
          <p:nvPr>
            <p:ph type="title"/>
          </p:nvPr>
        </p:nvSpPr>
        <p:spPr>
          <a:xfrm rot="5400000">
            <a:off x="5457825" y="1628775"/>
            <a:ext cx="4400550"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5"/>
          <p:cNvSpPr txBox="1"/>
          <p:nvPr>
            <p:ph idx="1" type="body"/>
          </p:nvPr>
        </p:nvSpPr>
        <p:spPr>
          <a:xfrm rot="5400000">
            <a:off x="1266825" y="-352425"/>
            <a:ext cx="4400550" cy="6019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70"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31" name="Google Shape;131;p25"/>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5"/>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5"/>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2.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0" y="165590"/>
            <a:ext cx="9144000" cy="1714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2" name="Google Shape;52;p13"/>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4000"/>
              <a:buFont typeface="Arial"/>
              <a:buNone/>
              <a:defRPr b="0" i="0" sz="4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3" name="Google Shape;53;p13"/>
          <p:cNvSpPr txBox="1"/>
          <p:nvPr>
            <p:ph idx="1" type="body"/>
          </p:nvPr>
        </p:nvSpPr>
        <p:spPr>
          <a:xfrm>
            <a:off x="457200" y="1200150"/>
            <a:ext cx="8229600" cy="3657600"/>
          </a:xfrm>
          <a:prstGeom prst="rect">
            <a:avLst/>
          </a:prstGeom>
          <a:noFill/>
          <a:ln>
            <a:noFill/>
          </a:ln>
        </p:spPr>
        <p:txBody>
          <a:bodyPr anchorCtr="0" anchor="t" bIns="45700" lIns="91425" spcFirstLastPara="1" rIns="91425" wrap="square" tIns="45700">
            <a:normAutofit/>
          </a:bodyPr>
          <a:lstStyle>
            <a:lvl1pPr indent="-379730" lvl="0" marL="457200" marR="0" rtl="0" algn="l">
              <a:spcBef>
                <a:spcPts val="560"/>
              </a:spcBef>
              <a:spcAft>
                <a:spcPts val="0"/>
              </a:spcAft>
              <a:buClr>
                <a:schemeClr val="accent6"/>
              </a:buClr>
              <a:buSzPts val="2380"/>
              <a:buFont typeface="Arial"/>
              <a:buChar char="•"/>
              <a:defRPr b="0" i="0" sz="2800" u="none" cap="none" strike="noStrike">
                <a:solidFill>
                  <a:schemeClr val="dk1"/>
                </a:solidFill>
                <a:latin typeface="Arial"/>
                <a:ea typeface="Arial"/>
                <a:cs typeface="Arial"/>
                <a:sym typeface="Arial"/>
              </a:defRPr>
            </a:lvl1pPr>
            <a:lvl2pPr indent="-358140" lvl="1" marL="914400" marR="0" rtl="0" algn="l">
              <a:spcBef>
                <a:spcPts val="480"/>
              </a:spcBef>
              <a:spcAft>
                <a:spcPts val="0"/>
              </a:spcAft>
              <a:buClr>
                <a:schemeClr val="accent6"/>
              </a:buClr>
              <a:buSzPts val="2040"/>
              <a:buFont typeface="Arial"/>
              <a:buChar char="•"/>
              <a:defRPr b="0" i="0" sz="24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accent6"/>
              </a:buClr>
              <a:buSzPts val="18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accent6"/>
              </a:buClr>
              <a:buSzPts val="1800"/>
              <a:buFont typeface="Arial"/>
              <a:buChar char="•"/>
              <a:defRPr b="0" i="0" sz="18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accent6"/>
              </a:buClr>
              <a:buSzPts val="1600"/>
              <a:buFont typeface="Arial"/>
              <a:buChar char="•"/>
              <a:defRPr b="0" i="0" sz="1600" u="none" cap="none" strike="noStrike">
                <a:solidFill>
                  <a:schemeClr val="dk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54" name="Google Shape;54;p13"/>
          <p:cNvSpPr/>
          <p:nvPr/>
        </p:nvSpPr>
        <p:spPr>
          <a:xfrm>
            <a:off x="0" y="0"/>
            <a:ext cx="9144000" cy="27432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5" name="Google Shape;55;p13"/>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6" name="Google Shape;56;p13"/>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7" name="Google Shape;57;p13"/>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i="0" sz="1400" u="none" cap="none" strike="noStrike">
                <a:solidFill>
                  <a:srgbClr val="FFFFFF"/>
                </a:solidFill>
                <a:latin typeface="Arial"/>
                <a:ea typeface="Arial"/>
                <a:cs typeface="Arial"/>
                <a:sym typeface="Arial"/>
              </a:defRPr>
            </a:lvl1pPr>
            <a:lvl2pPr indent="0" lvl="1" marL="0" marR="0" rtl="0" algn="l">
              <a:spcBef>
                <a:spcPts val="0"/>
              </a:spcBef>
              <a:buNone/>
              <a:defRPr b="1" i="0" sz="1400" u="none" cap="none" strike="noStrike">
                <a:solidFill>
                  <a:srgbClr val="FFFFFF"/>
                </a:solidFill>
                <a:latin typeface="Arial"/>
                <a:ea typeface="Arial"/>
                <a:cs typeface="Arial"/>
                <a:sym typeface="Arial"/>
              </a:defRPr>
            </a:lvl2pPr>
            <a:lvl3pPr indent="0" lvl="2" marL="0" marR="0" rtl="0" algn="l">
              <a:spcBef>
                <a:spcPts val="0"/>
              </a:spcBef>
              <a:buNone/>
              <a:defRPr b="1" i="0" sz="1400" u="none" cap="none" strike="noStrike">
                <a:solidFill>
                  <a:srgbClr val="FFFFFF"/>
                </a:solidFill>
                <a:latin typeface="Arial"/>
                <a:ea typeface="Arial"/>
                <a:cs typeface="Arial"/>
                <a:sym typeface="Arial"/>
              </a:defRPr>
            </a:lvl3pPr>
            <a:lvl4pPr indent="0" lvl="3" marL="0" marR="0" rtl="0" algn="l">
              <a:spcBef>
                <a:spcPts val="0"/>
              </a:spcBef>
              <a:buNone/>
              <a:defRPr b="1" i="0" sz="1400" u="none" cap="none" strike="noStrike">
                <a:solidFill>
                  <a:srgbClr val="FFFFFF"/>
                </a:solidFill>
                <a:latin typeface="Arial"/>
                <a:ea typeface="Arial"/>
                <a:cs typeface="Arial"/>
                <a:sym typeface="Arial"/>
              </a:defRPr>
            </a:lvl4pPr>
            <a:lvl5pPr indent="0" lvl="4" marL="0" marR="0" rtl="0" algn="l">
              <a:spcBef>
                <a:spcPts val="0"/>
              </a:spcBef>
              <a:buNone/>
              <a:defRPr b="1" i="0" sz="1400" u="none" cap="none" strike="noStrike">
                <a:solidFill>
                  <a:srgbClr val="FFFFFF"/>
                </a:solidFill>
                <a:latin typeface="Arial"/>
                <a:ea typeface="Arial"/>
                <a:cs typeface="Arial"/>
                <a:sym typeface="Arial"/>
              </a:defRPr>
            </a:lvl5pPr>
            <a:lvl6pPr indent="0" lvl="5" marL="0" marR="0" rtl="0" algn="l">
              <a:spcBef>
                <a:spcPts val="0"/>
              </a:spcBef>
              <a:buNone/>
              <a:defRPr b="1" i="0" sz="1400" u="none" cap="none" strike="noStrike">
                <a:solidFill>
                  <a:srgbClr val="FFFFFF"/>
                </a:solidFill>
                <a:latin typeface="Arial"/>
                <a:ea typeface="Arial"/>
                <a:cs typeface="Arial"/>
                <a:sym typeface="Arial"/>
              </a:defRPr>
            </a:lvl6pPr>
            <a:lvl7pPr indent="0" lvl="6" marL="0" marR="0" rtl="0" algn="l">
              <a:spcBef>
                <a:spcPts val="0"/>
              </a:spcBef>
              <a:buNone/>
              <a:defRPr b="1" i="0" sz="1400" u="none" cap="none" strike="noStrike">
                <a:solidFill>
                  <a:srgbClr val="FFFFFF"/>
                </a:solidFill>
                <a:latin typeface="Arial"/>
                <a:ea typeface="Arial"/>
                <a:cs typeface="Arial"/>
                <a:sym typeface="Arial"/>
              </a:defRPr>
            </a:lvl7pPr>
            <a:lvl8pPr indent="0" lvl="7" marL="0" marR="0" rtl="0" algn="l">
              <a:spcBef>
                <a:spcPts val="0"/>
              </a:spcBef>
              <a:buNone/>
              <a:defRPr b="1" i="0" sz="1400" u="none" cap="none" strike="noStrike">
                <a:solidFill>
                  <a:srgbClr val="FFFFFF"/>
                </a:solidFill>
                <a:latin typeface="Arial"/>
                <a:ea typeface="Arial"/>
                <a:cs typeface="Arial"/>
                <a:sym typeface="Arial"/>
              </a:defRPr>
            </a:lvl8pPr>
            <a:lvl9pPr indent="0" lvl="8" marL="0" marR="0" rtl="0" algn="l">
              <a:spcBef>
                <a:spcPts val="0"/>
              </a:spcBef>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26"/>
          <p:cNvSpPr txBox="1"/>
          <p:nvPr/>
        </p:nvSpPr>
        <p:spPr>
          <a:xfrm>
            <a:off x="342900" y="448475"/>
            <a:ext cx="7799100" cy="1635600"/>
          </a:xfrm>
          <a:prstGeom prst="rect">
            <a:avLst/>
          </a:prstGeom>
          <a:noFill/>
          <a:ln>
            <a:noFill/>
          </a:ln>
        </p:spPr>
        <p:txBody>
          <a:bodyPr anchorCtr="0" anchor="ctr" bIns="45000" lIns="90000" spcFirstLastPara="1" rIns="90000" wrap="square" tIns="45000">
            <a:noAutofit/>
          </a:bodyPr>
          <a:lstStyle/>
          <a:p>
            <a:pPr indent="0" lvl="0" marL="0" marR="0" rtl="0" algn="l">
              <a:lnSpc>
                <a:spcPct val="90000"/>
              </a:lnSpc>
              <a:spcBef>
                <a:spcPts val="0"/>
              </a:spcBef>
              <a:spcAft>
                <a:spcPts val="0"/>
              </a:spcAft>
              <a:buNone/>
            </a:pPr>
            <a:r>
              <a:rPr i="0" lang="en" sz="2800" u="none" cap="none" strike="noStrike">
                <a:solidFill>
                  <a:schemeClr val="dk2"/>
                </a:solidFill>
                <a:latin typeface="Times New Roman"/>
                <a:ea typeface="Times New Roman"/>
                <a:cs typeface="Times New Roman"/>
                <a:sym typeface="Times New Roman"/>
              </a:rPr>
              <a:t>FINAL YEAR RESEARCH PROJECT </a:t>
            </a:r>
            <a:endParaRPr i="0" sz="2800" u="none" cap="none" strike="noStrike">
              <a:solidFill>
                <a:schemeClr val="dk2"/>
              </a:solidFill>
              <a:latin typeface="Times New Roman"/>
              <a:ea typeface="Times New Roman"/>
              <a:cs typeface="Times New Roman"/>
              <a:sym typeface="Times New Roman"/>
            </a:endParaRPr>
          </a:p>
          <a:p>
            <a:pPr indent="0" lvl="0" marL="0" marR="0" rtl="0" algn="l">
              <a:lnSpc>
                <a:spcPct val="90000"/>
              </a:lnSpc>
              <a:spcBef>
                <a:spcPts val="0"/>
              </a:spcBef>
              <a:spcAft>
                <a:spcPts val="0"/>
              </a:spcAft>
              <a:buNone/>
            </a:pPr>
            <a:r>
              <a:rPr lang="en" sz="2800">
                <a:solidFill>
                  <a:schemeClr val="dk2"/>
                </a:solidFill>
                <a:latin typeface="Times New Roman"/>
                <a:ea typeface="Times New Roman"/>
                <a:cs typeface="Times New Roman"/>
                <a:sym typeface="Times New Roman"/>
              </a:rPr>
              <a:t>End Term</a:t>
            </a:r>
            <a:r>
              <a:rPr i="0" lang="en" sz="2800" u="none" cap="none" strike="noStrike">
                <a:solidFill>
                  <a:schemeClr val="dk2"/>
                </a:solidFill>
                <a:latin typeface="Times New Roman"/>
                <a:ea typeface="Times New Roman"/>
                <a:cs typeface="Times New Roman"/>
                <a:sym typeface="Times New Roman"/>
              </a:rPr>
              <a:t> Presentation</a:t>
            </a:r>
            <a:br>
              <a:rPr i="0" lang="en" sz="1100" u="none" cap="none" strike="noStrike">
                <a:solidFill>
                  <a:schemeClr val="dk1"/>
                </a:solidFill>
                <a:latin typeface="Times New Roman"/>
                <a:ea typeface="Times New Roman"/>
                <a:cs typeface="Times New Roman"/>
                <a:sym typeface="Times New Roman"/>
              </a:rPr>
            </a:br>
            <a:endParaRPr i="0" sz="11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None/>
            </a:pPr>
            <a:r>
              <a:rPr i="0" lang="en" sz="2200" u="none" cap="none" strike="noStrike">
                <a:solidFill>
                  <a:srgbClr val="572314"/>
                </a:solidFill>
                <a:latin typeface="Times New Roman"/>
                <a:ea typeface="Times New Roman"/>
                <a:cs typeface="Times New Roman"/>
                <a:sym typeface="Times New Roman"/>
              </a:rPr>
              <a:t>Automated Detection of Hardcoded Secrets in Modern Source Code Repositories using LLM-Augmented Static Analysis</a:t>
            </a:r>
            <a:endParaRPr i="0" sz="2200" u="none" cap="none" strike="noStrike">
              <a:solidFill>
                <a:srgbClr val="000000"/>
              </a:solidFill>
              <a:latin typeface="Times New Roman"/>
              <a:ea typeface="Times New Roman"/>
              <a:cs typeface="Times New Roman"/>
              <a:sym typeface="Times New Roman"/>
            </a:endParaRPr>
          </a:p>
        </p:txBody>
      </p:sp>
      <p:sp>
        <p:nvSpPr>
          <p:cNvPr id="139" name="Google Shape;139;p26"/>
          <p:cNvSpPr txBox="1"/>
          <p:nvPr/>
        </p:nvSpPr>
        <p:spPr>
          <a:xfrm>
            <a:off x="342904" y="2412400"/>
            <a:ext cx="3993900" cy="420900"/>
          </a:xfrm>
          <a:prstGeom prst="rect">
            <a:avLst/>
          </a:prstGeom>
          <a:noFill/>
          <a:ln>
            <a:noFill/>
          </a:ln>
        </p:spPr>
        <p:txBody>
          <a:bodyPr anchorCtr="0" anchor="ctr" bIns="45000" lIns="90000" spcFirstLastPara="1" rIns="90000" wrap="square" tIns="0">
            <a:normAutofit/>
          </a:bodyPr>
          <a:lstStyle/>
          <a:p>
            <a:pPr indent="0" lvl="0" marL="27305" marR="0" rtl="0" algn="l">
              <a:lnSpc>
                <a:spcPct val="110000"/>
              </a:lnSpc>
              <a:spcBef>
                <a:spcPts val="0"/>
              </a:spcBef>
              <a:spcAft>
                <a:spcPts val="0"/>
              </a:spcAft>
              <a:buNone/>
            </a:pPr>
            <a:r>
              <a:rPr b="1" i="0" lang="en" sz="1700" u="none" cap="none" strike="noStrike">
                <a:solidFill>
                  <a:srgbClr val="0070C0"/>
                </a:solidFill>
                <a:latin typeface="Times New Roman"/>
                <a:ea typeface="Times New Roman"/>
                <a:cs typeface="Times New Roman"/>
                <a:sym typeface="Times New Roman"/>
              </a:rPr>
              <a:t>Supervised By</a:t>
            </a:r>
            <a:r>
              <a:rPr b="1" i="0" lang="en" sz="1700" u="none" cap="none" strike="noStrike">
                <a:solidFill>
                  <a:srgbClr val="361309"/>
                </a:solidFill>
                <a:latin typeface="Times New Roman"/>
                <a:ea typeface="Times New Roman"/>
                <a:cs typeface="Times New Roman"/>
                <a:sym typeface="Times New Roman"/>
              </a:rPr>
              <a:t>: Dr. Bhanu Pratap Rajak </a:t>
            </a:r>
            <a:endParaRPr i="0" sz="1700" u="none" cap="none" strike="noStrike">
              <a:solidFill>
                <a:schemeClr val="dk1"/>
              </a:solidFill>
              <a:latin typeface="Times New Roman"/>
              <a:ea typeface="Times New Roman"/>
              <a:cs typeface="Times New Roman"/>
              <a:sym typeface="Times New Roman"/>
            </a:endParaRPr>
          </a:p>
        </p:txBody>
      </p:sp>
      <p:sp>
        <p:nvSpPr>
          <p:cNvPr id="140" name="Google Shape;140;p26"/>
          <p:cNvSpPr/>
          <p:nvPr/>
        </p:nvSpPr>
        <p:spPr>
          <a:xfrm>
            <a:off x="342900" y="2860050"/>
            <a:ext cx="3993900" cy="17139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i="0" lang="en" sz="1400" u="none" cap="none" strike="noStrike">
                <a:solidFill>
                  <a:srgbClr val="0070C0"/>
                </a:solidFill>
                <a:latin typeface="Times New Roman"/>
                <a:ea typeface="Times New Roman"/>
                <a:cs typeface="Times New Roman"/>
                <a:sym typeface="Times New Roman"/>
              </a:rPr>
              <a:t>Group No.: </a:t>
            </a:r>
            <a:r>
              <a:rPr b="1" i="0" lang="en" sz="1400" u="none" cap="none" strike="noStrike">
                <a:solidFill>
                  <a:schemeClr val="dk1"/>
                </a:solidFill>
                <a:latin typeface="Times New Roman"/>
                <a:ea typeface="Times New Roman"/>
                <a:cs typeface="Times New Roman"/>
                <a:sym typeface="Times New Roman"/>
              </a:rPr>
              <a:t>03</a:t>
            </a:r>
            <a:endParaRPr i="0" sz="1400" u="none" cap="none" strike="noStrike">
              <a:solidFill>
                <a:srgbClr val="0070C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 sz="1400" u="none" cap="none" strike="noStrike">
                <a:solidFill>
                  <a:srgbClr val="000000"/>
                </a:solidFill>
                <a:latin typeface="Times New Roman"/>
                <a:ea typeface="Times New Roman"/>
                <a:cs typeface="Times New Roman"/>
                <a:sym typeface="Times New Roman"/>
              </a:rPr>
              <a:t>Name of the Student(s) with Regd. No.:</a:t>
            </a:r>
            <a:endParaRPr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0" lang="en" sz="1600" u="none" cap="none" strike="noStrike">
                <a:solidFill>
                  <a:schemeClr val="dk1"/>
                </a:solidFill>
                <a:latin typeface="Times New Roman"/>
                <a:ea typeface="Times New Roman"/>
                <a:cs typeface="Times New Roman"/>
                <a:sym typeface="Times New Roman"/>
              </a:rPr>
              <a:t>Satyajeet Satapathy -  2241019340</a:t>
            </a:r>
            <a:endParaRPr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0" lang="en" sz="1600" u="none" cap="none" strike="noStrike">
                <a:solidFill>
                  <a:schemeClr val="dk1"/>
                </a:solidFill>
                <a:latin typeface="Times New Roman"/>
                <a:ea typeface="Times New Roman"/>
                <a:cs typeface="Times New Roman"/>
                <a:sym typeface="Times New Roman"/>
              </a:rPr>
              <a:t>Dinanath Dash  -  2241004161</a:t>
            </a:r>
            <a:endParaRPr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0" lang="en" sz="1600" u="none" cap="none" strike="noStrike">
                <a:solidFill>
                  <a:schemeClr val="dk1"/>
                </a:solidFill>
                <a:latin typeface="Times New Roman"/>
                <a:ea typeface="Times New Roman"/>
                <a:cs typeface="Times New Roman"/>
                <a:sym typeface="Times New Roman"/>
              </a:rPr>
              <a:t>Avignyan Sarangi - 2241019304</a:t>
            </a:r>
            <a:endParaRPr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0" lang="en" sz="1600" u="none" cap="none" strike="noStrike">
                <a:solidFill>
                  <a:schemeClr val="dk1"/>
                </a:solidFill>
                <a:latin typeface="Times New Roman"/>
                <a:ea typeface="Times New Roman"/>
                <a:cs typeface="Times New Roman"/>
                <a:sym typeface="Times New Roman"/>
              </a:rPr>
              <a:t>Ashutosh Raj - 2241018015</a:t>
            </a:r>
            <a:endParaRPr i="0" sz="1400" u="none" cap="none" strike="noStrike">
              <a:solidFill>
                <a:schemeClr val="dk1"/>
              </a:solidFill>
              <a:latin typeface="Times New Roman"/>
              <a:ea typeface="Times New Roman"/>
              <a:cs typeface="Times New Roman"/>
              <a:sym typeface="Times New Roman"/>
            </a:endParaRPr>
          </a:p>
        </p:txBody>
      </p:sp>
      <p:sp>
        <p:nvSpPr>
          <p:cNvPr id="141" name="Google Shape;141;p26"/>
          <p:cNvSpPr/>
          <p:nvPr/>
        </p:nvSpPr>
        <p:spPr>
          <a:xfrm>
            <a:off x="4884715" y="3529052"/>
            <a:ext cx="3729000" cy="10449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i="0" lang="en" sz="1500" u="none" cap="none" strike="noStrike">
                <a:solidFill>
                  <a:srgbClr val="0070C0"/>
                </a:solidFill>
                <a:latin typeface="Times New Roman"/>
                <a:ea typeface="Times New Roman"/>
                <a:cs typeface="Times New Roman"/>
                <a:sym typeface="Times New Roman"/>
              </a:rPr>
              <a:t>Department of Computer Sc. and Engineering</a:t>
            </a:r>
            <a:endParaRPr b="1" i="0" sz="1500" u="none" cap="none" strike="noStrike">
              <a:solidFill>
                <a:srgbClr val="0070C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 sz="1300" u="none" cap="none" strike="noStrike">
                <a:solidFill>
                  <a:srgbClr val="000000"/>
                </a:solidFill>
                <a:latin typeface="Times New Roman"/>
                <a:ea typeface="Times New Roman"/>
                <a:cs typeface="Times New Roman"/>
                <a:sym typeface="Times New Roman"/>
              </a:rPr>
              <a:t>Faculty of Engineering &amp; Technology (ITER)</a:t>
            </a:r>
            <a:endParaRPr i="0" sz="13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 sz="1200" u="none" cap="none" strike="noStrike">
                <a:solidFill>
                  <a:srgbClr val="000000"/>
                </a:solidFill>
                <a:latin typeface="Times New Roman"/>
                <a:ea typeface="Times New Roman"/>
                <a:cs typeface="Times New Roman"/>
                <a:sym typeface="Times New Roman"/>
              </a:rPr>
              <a:t>Siksha ‘O’ Anusandhan (Deemed to be) University</a:t>
            </a:r>
            <a:r>
              <a:rPr i="0" lang="en" sz="1200" u="none" cap="none" strike="noStrike">
                <a:solidFill>
                  <a:srgbClr val="000000"/>
                </a:solidFill>
                <a:latin typeface="Times New Roman"/>
                <a:ea typeface="Times New Roman"/>
                <a:cs typeface="Times New Roman"/>
                <a:sym typeface="Times New Roman"/>
              </a:rPr>
              <a:t> </a:t>
            </a:r>
            <a:endParaRPr i="0" sz="1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 sz="1200" u="none" cap="none" strike="noStrike">
                <a:solidFill>
                  <a:srgbClr val="000000"/>
                </a:solidFill>
                <a:latin typeface="Times New Roman"/>
                <a:ea typeface="Times New Roman"/>
                <a:cs typeface="Times New Roman"/>
                <a:sym typeface="Times New Roman"/>
              </a:rPr>
              <a:t>Bhubaneswar, Odisha</a:t>
            </a:r>
            <a:endParaRPr i="0" sz="1200" u="none" cap="none" strike="noStrike">
              <a:solidFill>
                <a:schemeClr val="dk1"/>
              </a:solidFill>
              <a:latin typeface="Times New Roman"/>
              <a:ea typeface="Times New Roman"/>
              <a:cs typeface="Times New Roman"/>
              <a:sym typeface="Times New Roman"/>
            </a:endParaRPr>
          </a:p>
        </p:txBody>
      </p:sp>
      <p:sp>
        <p:nvSpPr>
          <p:cNvPr id="142" name="Google Shape;142;p26"/>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sp>
        <p:nvSpPr>
          <p:cNvPr id="143" name="Google Shape;143;p26"/>
          <p:cNvSpPr/>
          <p:nvPr/>
        </p:nvSpPr>
        <p:spPr>
          <a:xfrm>
            <a:off x="155520" y="-108270"/>
            <a:ext cx="304560" cy="2284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44" name="Google Shape;144;p26" title="Frame 6.png"/>
          <p:cNvPicPr preferRelativeResize="0"/>
          <p:nvPr/>
        </p:nvPicPr>
        <p:blipFill rotWithShape="1">
          <a:blip r:embed="rId3">
            <a:alphaModFix/>
          </a:blip>
          <a:srcRect b="0" l="0" r="0" t="0"/>
          <a:stretch/>
        </p:blipFill>
        <p:spPr>
          <a:xfrm>
            <a:off x="8141862" y="299025"/>
            <a:ext cx="1002150" cy="1002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27"/>
          <p:cNvSpPr txBox="1"/>
          <p:nvPr/>
        </p:nvSpPr>
        <p:spPr>
          <a:xfrm>
            <a:off x="342900" y="274625"/>
            <a:ext cx="34425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 sz="2800">
                <a:solidFill>
                  <a:srgbClr val="572314"/>
                </a:solidFill>
                <a:latin typeface="Times New Roman"/>
                <a:ea typeface="Times New Roman"/>
                <a:cs typeface="Times New Roman"/>
                <a:sym typeface="Times New Roman"/>
              </a:rPr>
              <a:t>P</a:t>
            </a:r>
            <a:r>
              <a:rPr b="1" lang="en" sz="2800" strike="noStrike">
                <a:solidFill>
                  <a:srgbClr val="572314"/>
                </a:solidFill>
                <a:latin typeface="Times New Roman"/>
                <a:ea typeface="Times New Roman"/>
                <a:cs typeface="Times New Roman"/>
                <a:sym typeface="Times New Roman"/>
              </a:rPr>
              <a:t>resentation Outlin</a:t>
            </a:r>
            <a:r>
              <a:rPr b="1" lang="en" sz="2800">
                <a:solidFill>
                  <a:srgbClr val="572314"/>
                </a:solidFill>
                <a:latin typeface="Times New Roman"/>
                <a:ea typeface="Times New Roman"/>
                <a:cs typeface="Times New Roman"/>
                <a:sym typeface="Times New Roman"/>
              </a:rPr>
              <a:t>e</a:t>
            </a:r>
            <a:endParaRPr b="0" sz="2800" strike="noStrike">
              <a:solidFill>
                <a:srgbClr val="000000"/>
              </a:solidFill>
              <a:latin typeface="Times New Roman"/>
              <a:ea typeface="Times New Roman"/>
              <a:cs typeface="Times New Roman"/>
              <a:sym typeface="Times New Roman"/>
            </a:endParaRPr>
          </a:p>
        </p:txBody>
      </p:sp>
      <p:sp>
        <p:nvSpPr>
          <p:cNvPr id="151" name="Google Shape;151;p27"/>
          <p:cNvSpPr txBox="1"/>
          <p:nvPr/>
        </p:nvSpPr>
        <p:spPr>
          <a:xfrm>
            <a:off x="342900" y="1004625"/>
            <a:ext cx="7798800" cy="3885600"/>
          </a:xfrm>
          <a:prstGeom prst="rect">
            <a:avLst/>
          </a:prstGeom>
          <a:noFill/>
          <a:ln>
            <a:noFill/>
          </a:ln>
        </p:spPr>
        <p:txBody>
          <a:bodyPr anchorCtr="0" anchor="ctr" bIns="45000" lIns="90000" spcFirstLastPara="1" rIns="90000" wrap="square" tIns="45000">
            <a:noAutofit/>
          </a:bodyPr>
          <a:lstStyle/>
          <a:p>
            <a:pPr indent="-303530" lvl="0" marL="365760" marR="0" rtl="0" algn="l">
              <a:spcBef>
                <a:spcPts val="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Problem Statement &amp; Motivations</a:t>
            </a:r>
            <a:endParaRPr sz="1600">
              <a:solidFill>
                <a:schemeClr val="dk1"/>
              </a:solidFill>
              <a:latin typeface="Times New Roman"/>
              <a:ea typeface="Times New Roman"/>
              <a:cs typeface="Times New Roman"/>
              <a:sym typeface="Times New Roman"/>
            </a:endParaRPr>
          </a:p>
          <a:p>
            <a:pPr indent="-300990" lvl="1" marL="822960" marR="0" rtl="0" algn="l">
              <a:spcBef>
                <a:spcPts val="600"/>
              </a:spcBef>
              <a:spcAft>
                <a:spcPts val="0"/>
              </a:spcAft>
              <a:buClr>
                <a:srgbClr val="3891A7"/>
              </a:buClr>
              <a:buSzPts val="1400"/>
              <a:buFont typeface="Times New Roman"/>
              <a:buChar char="▪"/>
            </a:pPr>
            <a:r>
              <a:rPr i="0" lang="en" u="none" cap="none" strike="noStrike">
                <a:solidFill>
                  <a:schemeClr val="dk1"/>
                </a:solidFill>
                <a:latin typeface="Times New Roman"/>
                <a:ea typeface="Times New Roman"/>
                <a:cs typeface="Times New Roman"/>
                <a:sym typeface="Times New Roman"/>
              </a:rPr>
              <a:t>Problem Statement</a:t>
            </a:r>
            <a:endParaRPr i="0" u="none" cap="none" strike="noStrike">
              <a:solidFill>
                <a:schemeClr val="dk1"/>
              </a:solidFill>
              <a:latin typeface="Times New Roman"/>
              <a:ea typeface="Times New Roman"/>
              <a:cs typeface="Times New Roman"/>
              <a:sym typeface="Times New Roman"/>
            </a:endParaRPr>
          </a:p>
          <a:p>
            <a:pPr indent="-300990" lvl="1" marL="822960" marR="0" rtl="0" algn="l">
              <a:spcBef>
                <a:spcPts val="600"/>
              </a:spcBef>
              <a:spcAft>
                <a:spcPts val="0"/>
              </a:spcAft>
              <a:buClr>
                <a:srgbClr val="3891A7"/>
              </a:buClr>
              <a:buSzPts val="1400"/>
              <a:buFont typeface="Times New Roman"/>
              <a:buChar char="▪"/>
            </a:pPr>
            <a:r>
              <a:rPr i="0" lang="en" u="none" cap="none" strike="noStrike">
                <a:solidFill>
                  <a:schemeClr val="dk1"/>
                </a:solidFill>
                <a:latin typeface="Times New Roman"/>
                <a:ea typeface="Times New Roman"/>
                <a:cs typeface="Times New Roman"/>
                <a:sym typeface="Times New Roman"/>
              </a:rPr>
              <a:t>Motivations</a:t>
            </a:r>
            <a:endParaRPr i="0" u="none" cap="none" strike="noStrike">
              <a:solidFill>
                <a:schemeClr val="dk1"/>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Literature Review</a:t>
            </a:r>
            <a:endParaRPr sz="1600">
              <a:solidFill>
                <a:schemeClr val="dk1"/>
              </a:solidFill>
              <a:latin typeface="Times New Roman"/>
              <a:ea typeface="Times New Roman"/>
              <a:cs typeface="Times New Roman"/>
              <a:sym typeface="Times New Roman"/>
            </a:endParaRPr>
          </a:p>
          <a:p>
            <a:pPr indent="-313690" lvl="1" marL="822960" marR="0" rtl="0" algn="l">
              <a:spcBef>
                <a:spcPts val="600"/>
              </a:spcBef>
              <a:spcAft>
                <a:spcPts val="0"/>
              </a:spcAft>
              <a:buClr>
                <a:srgbClr val="3891A7"/>
              </a:buClr>
              <a:buSzPts val="1600"/>
              <a:buFont typeface="Times New Roman"/>
              <a:buChar char="▪"/>
            </a:pPr>
            <a:r>
              <a:rPr i="0" lang="en" u="none" cap="none" strike="noStrike">
                <a:solidFill>
                  <a:srgbClr val="000000"/>
                </a:solidFill>
                <a:latin typeface="Times New Roman"/>
                <a:ea typeface="Times New Roman"/>
                <a:cs typeface="Times New Roman"/>
                <a:sym typeface="Times New Roman"/>
              </a:rPr>
              <a:t>Existing Solutions &amp; Limitations</a:t>
            </a:r>
            <a:r>
              <a:rPr i="0" lang="en" sz="1600" u="none" cap="none" strike="noStrike">
                <a:solidFill>
                  <a:srgbClr val="000000"/>
                </a:solidFill>
                <a:latin typeface="Times New Roman"/>
                <a:ea typeface="Times New Roman"/>
                <a:cs typeface="Times New Roman"/>
                <a:sym typeface="Times New Roman"/>
              </a:rPr>
              <a:t> </a:t>
            </a:r>
            <a:endParaRPr i="0" sz="1600" u="none" cap="none" strike="noStrike">
              <a:solidFill>
                <a:srgbClr val="000000"/>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Proposed Methodology &amp; Approach </a:t>
            </a:r>
            <a:endParaRPr sz="1600">
              <a:solidFill>
                <a:schemeClr val="dk1"/>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Key Components/Modules &amp; Algorithms Used</a:t>
            </a:r>
            <a:endParaRPr sz="1600">
              <a:solidFill>
                <a:schemeClr val="dk1"/>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Dataset &amp; Tools/Technologies</a:t>
            </a:r>
            <a:endParaRPr sz="1600">
              <a:solidFill>
                <a:schemeClr val="dk1"/>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Experimentation</a:t>
            </a:r>
            <a:endParaRPr sz="1600">
              <a:solidFill>
                <a:schemeClr val="dk1"/>
              </a:solidFill>
              <a:latin typeface="Times New Roman"/>
              <a:ea typeface="Times New Roman"/>
              <a:cs typeface="Times New Roman"/>
              <a:sym typeface="Times New Roman"/>
            </a:endParaRPr>
          </a:p>
          <a:p>
            <a:pPr indent="-288925" lvl="0" marL="800100" marR="0" rtl="0" algn="l">
              <a:spcBef>
                <a:spcPts val="600"/>
              </a:spcBef>
              <a:spcAft>
                <a:spcPts val="0"/>
              </a:spcAft>
              <a:buClr>
                <a:srgbClr val="3891A7"/>
              </a:buClr>
              <a:buSzPts val="1400"/>
              <a:buFont typeface="Times New Roman"/>
              <a:buChar char="▪"/>
            </a:pPr>
            <a:r>
              <a:rPr lang="en">
                <a:solidFill>
                  <a:schemeClr val="dk1"/>
                </a:solidFill>
                <a:latin typeface="Times New Roman"/>
                <a:ea typeface="Times New Roman"/>
                <a:cs typeface="Times New Roman"/>
                <a:sym typeface="Times New Roman"/>
              </a:rPr>
              <a:t>System Specification</a:t>
            </a:r>
            <a:endParaRPr>
              <a:solidFill>
                <a:schemeClr val="dk1"/>
              </a:solidFill>
              <a:latin typeface="Times New Roman"/>
              <a:ea typeface="Times New Roman"/>
              <a:cs typeface="Times New Roman"/>
              <a:sym typeface="Times New Roman"/>
            </a:endParaRPr>
          </a:p>
          <a:p>
            <a:pPr indent="-288925" lvl="0" marL="800100" marR="0" rtl="0" algn="l">
              <a:spcBef>
                <a:spcPts val="600"/>
              </a:spcBef>
              <a:spcAft>
                <a:spcPts val="0"/>
              </a:spcAft>
              <a:buClr>
                <a:srgbClr val="3891A7"/>
              </a:buClr>
              <a:buSzPts val="1400"/>
              <a:buFont typeface="Times New Roman"/>
              <a:buChar char="▪"/>
            </a:pPr>
            <a:r>
              <a:rPr lang="en">
                <a:solidFill>
                  <a:schemeClr val="dk1"/>
                </a:solidFill>
                <a:latin typeface="Times New Roman"/>
                <a:ea typeface="Times New Roman"/>
                <a:cs typeface="Times New Roman"/>
                <a:sym typeface="Times New Roman"/>
              </a:rPr>
              <a:t>Experimental Results</a:t>
            </a:r>
            <a:endParaRPr>
              <a:solidFill>
                <a:schemeClr val="dk1"/>
              </a:solidFill>
              <a:latin typeface="Times New Roman"/>
              <a:ea typeface="Times New Roman"/>
              <a:cs typeface="Times New Roman"/>
              <a:sym typeface="Times New Roman"/>
            </a:endParaRPr>
          </a:p>
          <a:p>
            <a:pPr indent="-288925" lvl="0" marL="800100" marR="0" rtl="0" algn="l">
              <a:spcBef>
                <a:spcPts val="600"/>
              </a:spcBef>
              <a:spcAft>
                <a:spcPts val="0"/>
              </a:spcAft>
              <a:buClr>
                <a:srgbClr val="3891A7"/>
              </a:buClr>
              <a:buSzPts val="1400"/>
              <a:buFont typeface="Times New Roman"/>
              <a:buChar char="▪"/>
            </a:pPr>
            <a:r>
              <a:rPr lang="en">
                <a:solidFill>
                  <a:schemeClr val="dk1"/>
                </a:solidFill>
                <a:latin typeface="Times New Roman"/>
                <a:ea typeface="Times New Roman"/>
                <a:cs typeface="Times New Roman"/>
                <a:sym typeface="Times New Roman"/>
              </a:rPr>
              <a:t>Performance Analysis</a:t>
            </a:r>
            <a:endParaRPr>
              <a:solidFill>
                <a:schemeClr val="dk1"/>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Conclusion and Future Scope</a:t>
            </a:r>
            <a:endParaRPr sz="1600">
              <a:solidFill>
                <a:schemeClr val="dk1"/>
              </a:solidFill>
              <a:latin typeface="Times New Roman"/>
              <a:ea typeface="Times New Roman"/>
              <a:cs typeface="Times New Roman"/>
              <a:sym typeface="Times New Roman"/>
            </a:endParaRPr>
          </a:p>
          <a:p>
            <a:pPr indent="-303530" lvl="1" marL="365760" marR="0" rtl="0" algn="l">
              <a:spcBef>
                <a:spcPts val="600"/>
              </a:spcBef>
              <a:spcAft>
                <a:spcPts val="0"/>
              </a:spcAft>
              <a:buClr>
                <a:srgbClr val="3891A7"/>
              </a:buClr>
              <a:buSzPts val="1600"/>
              <a:buFont typeface="Times New Roman"/>
              <a:buChar char="▪"/>
            </a:pPr>
            <a:r>
              <a:rPr i="0" lang="en" sz="1600" u="none" cap="none" strike="noStrike">
                <a:solidFill>
                  <a:schemeClr val="dk1"/>
                </a:solidFill>
                <a:latin typeface="Times New Roman"/>
                <a:ea typeface="Times New Roman"/>
                <a:cs typeface="Times New Roman"/>
                <a:sym typeface="Times New Roman"/>
              </a:rPr>
              <a:t>References</a:t>
            </a:r>
            <a:endParaRPr i="0" sz="1600" u="none" cap="none" strike="noStrike">
              <a:solidFill>
                <a:schemeClr val="dk1"/>
              </a:solidFill>
              <a:latin typeface="Times New Roman"/>
              <a:ea typeface="Times New Roman"/>
              <a:cs typeface="Times New Roman"/>
              <a:sym typeface="Times New Roman"/>
            </a:endParaRPr>
          </a:p>
        </p:txBody>
      </p:sp>
      <p:sp>
        <p:nvSpPr>
          <p:cNvPr id="152" name="Google Shape;152;p27"/>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pic>
        <p:nvPicPr>
          <p:cNvPr id="153" name="Google Shape;153;p27"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nvSpPr>
        <p:spPr>
          <a:xfrm>
            <a:off x="342900" y="274625"/>
            <a:ext cx="33576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 sz="2800">
                <a:solidFill>
                  <a:srgbClr val="572314"/>
                </a:solidFill>
                <a:latin typeface="Times New Roman"/>
                <a:ea typeface="Times New Roman"/>
                <a:cs typeface="Times New Roman"/>
                <a:sym typeface="Times New Roman"/>
              </a:rPr>
              <a:t>Problem Statement</a:t>
            </a:r>
            <a:endParaRPr b="1" sz="2800">
              <a:solidFill>
                <a:srgbClr val="572314"/>
              </a:solidFill>
              <a:latin typeface="Times New Roman"/>
              <a:ea typeface="Times New Roman"/>
              <a:cs typeface="Times New Roman"/>
              <a:sym typeface="Times New Roman"/>
            </a:endParaRPr>
          </a:p>
        </p:txBody>
      </p:sp>
      <p:sp>
        <p:nvSpPr>
          <p:cNvPr id="159" name="Google Shape;159;p28"/>
          <p:cNvSpPr txBox="1"/>
          <p:nvPr/>
        </p:nvSpPr>
        <p:spPr>
          <a:xfrm>
            <a:off x="342900" y="1143000"/>
            <a:ext cx="7798800" cy="2800800"/>
          </a:xfrm>
          <a:prstGeom prst="rect">
            <a:avLst/>
          </a:prstGeom>
          <a:noFill/>
          <a:ln>
            <a:noFill/>
          </a:ln>
        </p:spPr>
        <p:txBody>
          <a:bodyPr anchorCtr="0" anchor="ctr" bIns="45000" lIns="90000" spcFirstLastPara="1" rIns="90000" wrap="square" tIns="45000">
            <a:noAutofit/>
          </a:bodyPr>
          <a:lstStyle/>
          <a:p>
            <a:pPr indent="-342900" lvl="0" marL="342900" marR="0" rtl="0" algn="just">
              <a:spcBef>
                <a:spcPts val="0"/>
              </a:spcBef>
              <a:spcAft>
                <a:spcPts val="0"/>
              </a:spcAft>
              <a:buClr>
                <a:srgbClr val="000000"/>
              </a:buClr>
              <a:buSzPts val="1600"/>
              <a:buFont typeface="Arial"/>
              <a:buChar char="•"/>
            </a:pPr>
            <a:r>
              <a:rPr lang="en" sz="1600" strike="noStrike">
                <a:solidFill>
                  <a:srgbClr val="000000"/>
                </a:solidFill>
                <a:latin typeface="Times New Roman"/>
                <a:ea typeface="Times New Roman"/>
                <a:cs typeface="Times New Roman"/>
                <a:sym typeface="Times New Roman"/>
              </a:rPr>
              <a:t>Domain: DevSecOps and Software Supply Chain Security.</a:t>
            </a:r>
            <a:br>
              <a:rPr lang="en" sz="1600" strike="noStrike">
                <a:solidFill>
                  <a:srgbClr val="000000"/>
                </a:solidFill>
                <a:latin typeface="Times New Roman"/>
                <a:ea typeface="Times New Roman"/>
                <a:cs typeface="Times New Roman"/>
                <a:sym typeface="Times New Roman"/>
              </a:rPr>
            </a:br>
            <a:endParaRPr sz="1600" strike="noStrike">
              <a:solidFill>
                <a:srgbClr val="00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00000"/>
              </a:buClr>
              <a:buSzPts val="1600"/>
              <a:buFont typeface="Arial"/>
              <a:buChar char="•"/>
            </a:pPr>
            <a:r>
              <a:rPr lang="en" sz="1600" strike="noStrike">
                <a:solidFill>
                  <a:srgbClr val="000000"/>
                </a:solidFill>
                <a:latin typeface="Times New Roman"/>
                <a:ea typeface="Times New Roman"/>
                <a:cs typeface="Times New Roman"/>
                <a:sym typeface="Times New Roman"/>
              </a:rPr>
              <a:t>Problem Statement: </a:t>
            </a:r>
            <a:endParaRPr sz="1600" strike="noStrike">
              <a:solidFill>
                <a:srgbClr val="000000"/>
              </a:solidFill>
              <a:latin typeface="Times New Roman"/>
              <a:ea typeface="Times New Roman"/>
              <a:cs typeface="Times New Roman"/>
              <a:sym typeface="Times New Roman"/>
            </a:endParaRPr>
          </a:p>
          <a:p>
            <a:pPr indent="-339725" lvl="0" marL="628650" marR="0" rtl="0" algn="just">
              <a:spcBef>
                <a:spcPts val="0"/>
              </a:spcBef>
              <a:spcAft>
                <a:spcPts val="0"/>
              </a:spcAft>
              <a:buClr>
                <a:srgbClr val="000000"/>
              </a:buClr>
              <a:buSzPts val="1600"/>
              <a:buFont typeface="Arial"/>
              <a:buChar char="•"/>
            </a:pPr>
            <a:r>
              <a:rPr lang="en" sz="1600">
                <a:latin typeface="Times New Roman"/>
                <a:ea typeface="Times New Roman"/>
                <a:cs typeface="Times New Roman"/>
                <a:sym typeface="Times New Roman"/>
              </a:rPr>
              <a:t>Traditional static secret scanners lack semantic understanding, generating prohibitively high False Positive Rates by flagging safe test variables.</a:t>
            </a:r>
            <a:endParaRPr sz="1600">
              <a:latin typeface="Times New Roman"/>
              <a:ea typeface="Times New Roman"/>
              <a:cs typeface="Times New Roman"/>
              <a:sym typeface="Times New Roman"/>
            </a:endParaRPr>
          </a:p>
          <a:p>
            <a:pPr indent="-339725" lvl="0" marL="628650" marR="0" rtl="0" algn="just">
              <a:spcBef>
                <a:spcPts val="0"/>
              </a:spcBef>
              <a:spcAft>
                <a:spcPts val="0"/>
              </a:spcAft>
              <a:buClr>
                <a:srgbClr val="000000"/>
              </a:buClr>
              <a:buSzPts val="1600"/>
              <a:buFont typeface="Arial"/>
              <a:buChar char="•"/>
            </a:pPr>
            <a:r>
              <a:rPr lang="en" sz="1600">
                <a:latin typeface="Times New Roman"/>
                <a:ea typeface="Times New Roman"/>
                <a:cs typeface="Times New Roman"/>
                <a:sym typeface="Times New Roman"/>
              </a:rPr>
              <a:t>To resolve this, we engineered a two-stage hybrid scanning pipeline that uses Regex as a Stage-1 pre-filter and invokes a locally deployed, 4-bit quantized Meta Llama 3 model.</a:t>
            </a:r>
            <a:endParaRPr sz="1600">
              <a:latin typeface="Times New Roman"/>
              <a:ea typeface="Times New Roman"/>
              <a:cs typeface="Times New Roman"/>
              <a:sym typeface="Times New Roman"/>
            </a:endParaRPr>
          </a:p>
          <a:p>
            <a:pPr indent="-339725" lvl="0" marL="628650" marR="0" rtl="0" algn="just">
              <a:spcBef>
                <a:spcPts val="0"/>
              </a:spcBef>
              <a:spcAft>
                <a:spcPts val="0"/>
              </a:spcAft>
              <a:buClr>
                <a:srgbClr val="000000"/>
              </a:buClr>
              <a:buSzPts val="1600"/>
              <a:buFont typeface="Arial"/>
              <a:buChar char="•"/>
            </a:pPr>
            <a:r>
              <a:rPr lang="en" sz="1600">
                <a:latin typeface="Times New Roman"/>
                <a:ea typeface="Times New Roman"/>
                <a:cs typeface="Times New Roman"/>
                <a:sym typeface="Times New Roman"/>
              </a:rPr>
              <a:t>By analyzing a strict 11-line context window, our solution drastically reduces false alarms while maintaining total offline execution and data privacy.</a:t>
            </a:r>
            <a:endParaRPr b="0" sz="2800" strike="noStrike">
              <a:solidFill>
                <a:srgbClr val="000000"/>
              </a:solidFill>
              <a:latin typeface="Times New Roman"/>
              <a:ea typeface="Times New Roman"/>
              <a:cs typeface="Times New Roman"/>
              <a:sym typeface="Times New Roman"/>
            </a:endParaRPr>
          </a:p>
        </p:txBody>
      </p:sp>
      <p:sp>
        <p:nvSpPr>
          <p:cNvPr id="160" name="Google Shape;160;p28"/>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pic>
        <p:nvPicPr>
          <p:cNvPr id="161" name="Google Shape;161;p28"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nvSpPr>
        <p:spPr>
          <a:xfrm>
            <a:off x="342900" y="274625"/>
            <a:ext cx="2085900" cy="5256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 sz="2800">
                <a:solidFill>
                  <a:srgbClr val="572314"/>
                </a:solidFill>
                <a:latin typeface="Times New Roman"/>
                <a:ea typeface="Times New Roman"/>
                <a:cs typeface="Times New Roman"/>
                <a:sym typeface="Times New Roman"/>
              </a:rPr>
              <a:t>Motivations</a:t>
            </a:r>
            <a:endParaRPr b="1" sz="2800">
              <a:solidFill>
                <a:srgbClr val="572314"/>
              </a:solidFill>
              <a:latin typeface="Times New Roman"/>
              <a:ea typeface="Times New Roman"/>
              <a:cs typeface="Times New Roman"/>
              <a:sym typeface="Times New Roman"/>
            </a:endParaRPr>
          </a:p>
        </p:txBody>
      </p:sp>
      <p:sp>
        <p:nvSpPr>
          <p:cNvPr id="167" name="Google Shape;167;p29"/>
          <p:cNvSpPr txBox="1"/>
          <p:nvPr/>
        </p:nvSpPr>
        <p:spPr>
          <a:xfrm>
            <a:off x="342900" y="1143000"/>
            <a:ext cx="7799100" cy="3547800"/>
          </a:xfrm>
          <a:prstGeom prst="rect">
            <a:avLst/>
          </a:prstGeom>
          <a:noFill/>
          <a:ln>
            <a:noFill/>
          </a:ln>
        </p:spPr>
        <p:txBody>
          <a:bodyPr anchorCtr="0" anchor="ctr" bIns="45000" lIns="90000" spcFirstLastPara="1" rIns="90000" wrap="square" tIns="45000">
            <a:noAutofit/>
          </a:bodyPr>
          <a:lstStyle/>
          <a:p>
            <a:pPr indent="-283210" lvl="0" marL="335915" marR="0" rtl="0" algn="just">
              <a:spcBef>
                <a:spcPts val="0"/>
              </a:spcBef>
              <a:spcAft>
                <a:spcPts val="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Motivation: </a:t>
            </a:r>
            <a:endParaRPr sz="1600">
              <a:solidFill>
                <a:srgbClr val="000000"/>
              </a:solidFill>
              <a:latin typeface="Times New Roman"/>
              <a:ea typeface="Times New Roman"/>
              <a:cs typeface="Times New Roman"/>
              <a:sym typeface="Times New Roman"/>
            </a:endParaRPr>
          </a:p>
          <a:p>
            <a:pPr indent="0" lvl="0" marL="342900" marR="0" rtl="0" algn="just">
              <a:spcBef>
                <a:spcPts val="0"/>
              </a:spcBef>
              <a:spcAft>
                <a:spcPts val="0"/>
              </a:spcAft>
              <a:buClr>
                <a:srgbClr val="000000"/>
              </a:buClr>
              <a:buSzPts val="1600"/>
              <a:buFont typeface="Arial"/>
              <a:buNone/>
            </a:pPr>
            <a:r>
              <a:rPr lang="en" sz="1600">
                <a:solidFill>
                  <a:srgbClr val="000000"/>
                </a:solidFill>
                <a:latin typeface="Times New Roman"/>
                <a:ea typeface="Times New Roman"/>
                <a:cs typeface="Times New Roman"/>
                <a:sym typeface="Times New Roman"/>
              </a:rPr>
              <a:t>High FPR causes severe </a:t>
            </a:r>
            <a:r>
              <a:rPr lang="en" sz="1600">
                <a:latin typeface="Times New Roman"/>
                <a:ea typeface="Times New Roman"/>
                <a:cs typeface="Times New Roman"/>
                <a:sym typeface="Times New Roman"/>
              </a:rPr>
              <a:t>"</a:t>
            </a:r>
            <a:r>
              <a:rPr lang="en" sz="1600">
                <a:solidFill>
                  <a:srgbClr val="000000"/>
                </a:solidFill>
                <a:latin typeface="Times New Roman"/>
                <a:ea typeface="Times New Roman"/>
                <a:cs typeface="Times New Roman"/>
                <a:sym typeface="Times New Roman"/>
              </a:rPr>
              <a:t>Alert Fatigue</a:t>
            </a:r>
            <a:r>
              <a:rPr lang="en" sz="1600">
                <a:latin typeface="Times New Roman"/>
                <a:ea typeface="Times New Roman"/>
                <a:cs typeface="Times New Roman"/>
                <a:sym typeface="Times New Roman"/>
              </a:rPr>
              <a:t>"</a:t>
            </a:r>
            <a:r>
              <a:rPr lang="en" sz="1600">
                <a:solidFill>
                  <a:srgbClr val="000000"/>
                </a:solidFill>
                <a:latin typeface="Times New Roman"/>
                <a:ea typeface="Times New Roman"/>
                <a:cs typeface="Times New Roman"/>
                <a:sym typeface="Times New Roman"/>
              </a:rPr>
              <a:t> among security teams, delaying CI/CD pipelines and increasing the likelihood that genuine, critical vulnerabilities are overlooked in large-scale codebases.</a:t>
            </a:r>
            <a:br>
              <a:rPr lang="en" sz="1600">
                <a:solidFill>
                  <a:srgbClr val="000000"/>
                </a:solidFill>
                <a:latin typeface="Times New Roman"/>
                <a:ea typeface="Times New Roman"/>
                <a:cs typeface="Times New Roman"/>
                <a:sym typeface="Times New Roman"/>
              </a:rPr>
            </a:br>
            <a:endParaRPr sz="1600" strike="noStrike">
              <a:solidFill>
                <a:srgbClr val="000000"/>
              </a:solidFill>
              <a:latin typeface="Times New Roman"/>
              <a:ea typeface="Times New Roman"/>
              <a:cs typeface="Times New Roman"/>
              <a:sym typeface="Times New Roman"/>
            </a:endParaRPr>
          </a:p>
          <a:p>
            <a:pPr indent="-283210" lvl="0" marL="335915" marR="0" rtl="0" algn="just">
              <a:spcBef>
                <a:spcPts val="0"/>
              </a:spcBef>
              <a:spcAft>
                <a:spcPts val="0"/>
              </a:spcAft>
              <a:buClr>
                <a:srgbClr val="000000"/>
              </a:buClr>
              <a:buSzPts val="1600"/>
              <a:buFont typeface="Arial"/>
              <a:buChar char="•"/>
            </a:pPr>
            <a:r>
              <a:rPr lang="en" sz="1600" strike="noStrike">
                <a:solidFill>
                  <a:srgbClr val="000000"/>
                </a:solidFill>
                <a:latin typeface="Times New Roman"/>
                <a:ea typeface="Times New Roman"/>
                <a:cs typeface="Times New Roman"/>
                <a:sym typeface="Times New Roman"/>
              </a:rPr>
              <a:t>Primary Objective: </a:t>
            </a:r>
            <a:endParaRPr sz="1600" strike="noStrike">
              <a:solidFill>
                <a:srgbClr val="000000"/>
              </a:solidFill>
              <a:latin typeface="Times New Roman"/>
              <a:ea typeface="Times New Roman"/>
              <a:cs typeface="Times New Roman"/>
              <a:sym typeface="Times New Roman"/>
            </a:endParaRPr>
          </a:p>
          <a:p>
            <a:pPr indent="0" lvl="0" marL="335915" marR="0" rtl="0" algn="just">
              <a:spcBef>
                <a:spcPts val="0"/>
              </a:spcBef>
              <a:spcAft>
                <a:spcPts val="0"/>
              </a:spcAft>
              <a:buClr>
                <a:srgbClr val="000000"/>
              </a:buClr>
              <a:buSzPts val="1600"/>
              <a:buFont typeface="Arial"/>
              <a:buNone/>
            </a:pPr>
            <a:r>
              <a:rPr lang="en" sz="1600">
                <a:latin typeface="Times New Roman"/>
                <a:ea typeface="Times New Roman"/>
                <a:cs typeface="Times New Roman"/>
                <a:sym typeface="Times New Roman"/>
              </a:rPr>
              <a:t>D</a:t>
            </a:r>
            <a:r>
              <a:rPr lang="en" sz="1600" strike="noStrike">
                <a:solidFill>
                  <a:srgbClr val="000000"/>
                </a:solidFill>
                <a:latin typeface="Times New Roman"/>
                <a:ea typeface="Times New Roman"/>
                <a:cs typeface="Times New Roman"/>
                <a:sym typeface="Times New Roman"/>
              </a:rPr>
              <a:t>esigned and implemented a two-stage hybrid scanning pipeline</a:t>
            </a:r>
            <a:r>
              <a:rPr lang="en" sz="1600" strike="noStrike">
                <a:solidFill>
                  <a:srgbClr val="000000"/>
                </a:solidFill>
                <a:latin typeface="Times New Roman"/>
                <a:ea typeface="Times New Roman"/>
                <a:cs typeface="Times New Roman"/>
                <a:sym typeface="Times New Roman"/>
              </a:rPr>
              <a:t> that drastically reduces False Positive Rates in secret detection without compromising recall capabilities.</a:t>
            </a:r>
            <a:br>
              <a:rPr lang="en" sz="1600" strike="noStrike">
                <a:solidFill>
                  <a:srgbClr val="000000"/>
                </a:solidFill>
                <a:latin typeface="Times New Roman"/>
                <a:ea typeface="Times New Roman"/>
                <a:cs typeface="Times New Roman"/>
                <a:sym typeface="Times New Roman"/>
              </a:rPr>
            </a:br>
            <a:endParaRPr sz="1600" strike="noStrike">
              <a:solidFill>
                <a:srgbClr val="000000"/>
              </a:solidFill>
              <a:latin typeface="Times New Roman"/>
              <a:ea typeface="Times New Roman"/>
              <a:cs typeface="Times New Roman"/>
              <a:sym typeface="Times New Roman"/>
            </a:endParaRPr>
          </a:p>
          <a:p>
            <a:pPr indent="-283210" lvl="0" marL="335915" marR="0" rtl="0" algn="just">
              <a:spcBef>
                <a:spcPts val="0"/>
              </a:spcBef>
              <a:spcAft>
                <a:spcPts val="0"/>
              </a:spcAft>
              <a:buClr>
                <a:srgbClr val="000000"/>
              </a:buClr>
              <a:buSzPts val="1600"/>
              <a:buFont typeface="Arial"/>
              <a:buChar char="•"/>
            </a:pPr>
            <a:r>
              <a:rPr lang="en" sz="1600" strike="noStrike">
                <a:solidFill>
                  <a:srgbClr val="000000"/>
                </a:solidFill>
                <a:latin typeface="Times New Roman"/>
                <a:ea typeface="Times New Roman"/>
                <a:cs typeface="Times New Roman"/>
                <a:sym typeface="Times New Roman"/>
              </a:rPr>
              <a:t>Measurable Objectives: </a:t>
            </a:r>
            <a:endParaRPr sz="1600" strike="noStrike">
              <a:solidFill>
                <a:srgbClr val="000000"/>
              </a:solidFill>
              <a:latin typeface="Times New Roman"/>
              <a:ea typeface="Times New Roman"/>
              <a:cs typeface="Times New Roman"/>
              <a:sym typeface="Times New Roman"/>
            </a:endParaRPr>
          </a:p>
          <a:p>
            <a:pPr indent="-282575" lvl="0" marL="600710"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E</a:t>
            </a:r>
            <a:r>
              <a:rPr lang="en" sz="1600">
                <a:solidFill>
                  <a:schemeClr val="dk1"/>
                </a:solidFill>
                <a:latin typeface="Times New Roman"/>
                <a:ea typeface="Times New Roman"/>
                <a:cs typeface="Times New Roman"/>
                <a:sym typeface="Times New Roman"/>
              </a:rPr>
              <a:t>valuated baseline Regex performance against the Hybrid LLM pipeline using a quantitative Confusion Matrix.</a:t>
            </a:r>
            <a:endParaRPr sz="1600">
              <a:solidFill>
                <a:schemeClr val="dk1"/>
              </a:solidFill>
              <a:latin typeface="Times New Roman"/>
              <a:ea typeface="Times New Roman"/>
              <a:cs typeface="Times New Roman"/>
              <a:sym typeface="Times New Roman"/>
            </a:endParaRPr>
          </a:p>
          <a:p>
            <a:pPr indent="-307975" lvl="0" marL="600710" marR="0" rtl="0" algn="just">
              <a:spcBef>
                <a:spcPts val="0"/>
              </a:spcBef>
              <a:spcAft>
                <a:spcPts val="0"/>
              </a:spcAft>
              <a:buClr>
                <a:schemeClr val="dk1"/>
              </a:buClr>
              <a:buSzPts val="2000"/>
              <a:buFont typeface="Times New Roman"/>
              <a:buChar char="•"/>
            </a:pPr>
            <a:r>
              <a:rPr lang="en" sz="1600">
                <a:solidFill>
                  <a:srgbClr val="1F2328"/>
                </a:solidFill>
                <a:highlight>
                  <a:srgbClr val="FFFFFF"/>
                </a:highlight>
                <a:latin typeface="Times New Roman"/>
                <a:ea typeface="Times New Roman"/>
                <a:cs typeface="Times New Roman"/>
                <a:sym typeface="Times New Roman"/>
              </a:rPr>
              <a:t>Guaranteed zero-trust data privacy by executing a fine-tuned LLM entirely offline, while benchmarking the resulting inference latency trade-offs.</a:t>
            </a:r>
            <a:endParaRPr sz="2000" strike="noStrike">
              <a:solidFill>
                <a:srgbClr val="000000"/>
              </a:solidFill>
              <a:latin typeface="Times New Roman"/>
              <a:ea typeface="Times New Roman"/>
              <a:cs typeface="Times New Roman"/>
              <a:sym typeface="Times New Roman"/>
            </a:endParaRPr>
          </a:p>
        </p:txBody>
      </p:sp>
      <p:sp>
        <p:nvSpPr>
          <p:cNvPr id="168" name="Google Shape;168;p29"/>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pic>
        <p:nvPicPr>
          <p:cNvPr id="169" name="Google Shape;169;p29"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nvSpPr>
        <p:spPr>
          <a:xfrm>
            <a:off x="342900" y="274627"/>
            <a:ext cx="31287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 sz="2800">
                <a:solidFill>
                  <a:srgbClr val="572314"/>
                </a:solidFill>
                <a:latin typeface="Times New Roman"/>
                <a:ea typeface="Times New Roman"/>
                <a:cs typeface="Times New Roman"/>
                <a:sym typeface="Times New Roman"/>
              </a:rPr>
              <a:t>Literature Review</a:t>
            </a:r>
            <a:endParaRPr b="1" sz="2800">
              <a:solidFill>
                <a:srgbClr val="572314"/>
              </a:solidFill>
              <a:latin typeface="Times New Roman"/>
              <a:ea typeface="Times New Roman"/>
              <a:cs typeface="Times New Roman"/>
              <a:sym typeface="Times New Roman"/>
            </a:endParaRPr>
          </a:p>
        </p:txBody>
      </p:sp>
      <p:sp>
        <p:nvSpPr>
          <p:cNvPr id="175" name="Google Shape;175;p30"/>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sp>
        <p:nvSpPr>
          <p:cNvPr id="176" name="Google Shape;176;p30"/>
          <p:cNvSpPr txBox="1"/>
          <p:nvPr/>
        </p:nvSpPr>
        <p:spPr>
          <a:xfrm>
            <a:off x="342900" y="800100"/>
            <a:ext cx="4800600" cy="295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Table1: Summary of Existing Approaches and Research Limitations</a:t>
            </a:r>
            <a:endParaRPr sz="1200">
              <a:solidFill>
                <a:schemeClr val="dk1"/>
              </a:solidFill>
              <a:latin typeface="Arial"/>
              <a:ea typeface="Arial"/>
              <a:cs typeface="Arial"/>
              <a:sym typeface="Arial"/>
            </a:endParaRPr>
          </a:p>
        </p:txBody>
      </p:sp>
      <p:graphicFrame>
        <p:nvGraphicFramePr>
          <p:cNvPr id="177" name="Google Shape;177;p30"/>
          <p:cNvGraphicFramePr/>
          <p:nvPr/>
        </p:nvGraphicFramePr>
        <p:xfrm>
          <a:off x="342900" y="1201590"/>
          <a:ext cx="3000000" cy="3000000"/>
        </p:xfrm>
        <a:graphic>
          <a:graphicData uri="http://schemas.openxmlformats.org/drawingml/2006/table">
            <a:tbl>
              <a:tblPr bandRow="1" firstRow="1">
                <a:noFill/>
                <a:tableStyleId>{4988CF06-5FA7-4D49-9562-FA9D673A86ED}</a:tableStyleId>
              </a:tblPr>
              <a:tblGrid>
                <a:gridCol w="872025"/>
                <a:gridCol w="1920850"/>
                <a:gridCol w="1321625"/>
                <a:gridCol w="1933500"/>
                <a:gridCol w="1750975"/>
              </a:tblGrid>
              <a:tr h="535950">
                <a:tc>
                  <a:txBody>
                    <a:bodyPr/>
                    <a:lstStyle/>
                    <a:p>
                      <a:pPr indent="0" lvl="0" marL="0" marR="0" rtl="0" algn="l">
                        <a:spcBef>
                          <a:spcPts val="0"/>
                        </a:spcBef>
                        <a:spcAft>
                          <a:spcPts val="0"/>
                        </a:spcAft>
                        <a:buClr>
                          <a:schemeClr val="dk1"/>
                        </a:buClr>
                        <a:buSzPts val="1400"/>
                        <a:buFont typeface="Times New Roman"/>
                        <a:buNone/>
                      </a:pPr>
                      <a:r>
                        <a:rPr b="1" lang="en" sz="1400" u="none" cap="none" strike="noStrike">
                          <a:latin typeface="Times New Roman"/>
                          <a:ea typeface="Times New Roman"/>
                          <a:cs typeface="Times New Roman"/>
                          <a:sym typeface="Times New Roman"/>
                        </a:rPr>
                        <a:t>Author</a:t>
                      </a:r>
                      <a:endParaRPr b="1" sz="1400" u="none" cap="none" strike="noStrike">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b="1" lang="en" sz="1400" u="none" cap="none" strike="noStrike">
                          <a:latin typeface="Times New Roman"/>
                          <a:ea typeface="Times New Roman"/>
                          <a:cs typeface="Times New Roman"/>
                          <a:sym typeface="Times New Roman"/>
                        </a:rPr>
                        <a:t>Methods/</a:t>
                      </a:r>
                      <a:endParaRPr b="1" sz="1400" u="none" cap="none" strike="noStrike">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Times New Roman"/>
                        <a:buNone/>
                      </a:pPr>
                      <a:r>
                        <a:rPr b="1" lang="en" sz="1400" u="none" cap="none" strike="noStrike">
                          <a:latin typeface="Times New Roman"/>
                          <a:ea typeface="Times New Roman"/>
                          <a:cs typeface="Times New Roman"/>
                          <a:sym typeface="Times New Roman"/>
                        </a:rPr>
                        <a:t>Techniques Used</a:t>
                      </a:r>
                      <a:endParaRPr b="1" sz="1400" u="none" cap="none" strike="noStrike">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b="1" lang="en" sz="1400" u="none" cap="none" strike="noStrike">
                          <a:latin typeface="Times New Roman"/>
                          <a:ea typeface="Times New Roman"/>
                          <a:cs typeface="Times New Roman"/>
                          <a:sym typeface="Times New Roman"/>
                        </a:rPr>
                        <a:t>Dataset Used</a:t>
                      </a:r>
                      <a:endParaRPr b="1" sz="1400" u="none" cap="none" strike="noStrike">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b="1" lang="en" sz="1400" u="none" cap="none" strike="noStrike">
                          <a:latin typeface="Times New Roman"/>
                          <a:ea typeface="Times New Roman"/>
                          <a:cs typeface="Times New Roman"/>
                          <a:sym typeface="Times New Roman"/>
                        </a:rPr>
                        <a:t>Research Outcomes</a:t>
                      </a:r>
                      <a:endParaRPr b="1" sz="1400" u="none" cap="none" strike="noStrike">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b="1" lang="en" sz="1400" u="none" cap="none" strike="noStrike">
                          <a:latin typeface="Times New Roman"/>
                          <a:ea typeface="Times New Roman"/>
                          <a:cs typeface="Times New Roman"/>
                          <a:sym typeface="Times New Roman"/>
                        </a:rPr>
                        <a:t>Findings &amp; Limitations</a:t>
                      </a:r>
                      <a:endParaRPr b="1" sz="1400" u="none" cap="none" strike="noStrike">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tcPr>
                </a:tc>
              </a:tr>
              <a:tr h="751200">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Schwarz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"Countermind" multi-layered security architecture using Semantic Boundary Logic (SBL) and Parameter-Space Restriction (PSR).</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N/A (Conceptual/Architectural design).</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Shifts LLM defenses from reactive post-hoc filtering to proactive pre-inference structural validation.</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Post-hoc filters are brittle against prompt injections; models inherently struggle to distinguish trusted instructions from untrusted data.</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751200">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Li et al.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Injecting vulnerability steering vectors into LLM activation layers without altering original parameters.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SARD, FFmpeg+Qemu, Reveal, REEF.</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Outperformed state-of-the-art methods with a 12.86% F1-score increase on real-world datasets.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Existing representation methods focus on overall semantics instead of isolating specific vulnerability concepts.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751200">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Kim et al.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Reinforcement learning (RL) based context generator to infer contextual signals from user prompts.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SafetyInstruct, Advbench, Wildjailbreak, XSTest.</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Reduces harmful responses while preventing unnecessary refusals of benign requests.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Conventional LLM frameworks fail on ambiguous tasks; extracting context is necessary to prevent bypassing safeguards.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751200">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Jin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Categorization of LLM adaptation into base application, static augmentation, RAG, fine-tuning, and hybrid fusion.</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N/A (Survey paper analyzing standardized benchmarks).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Identified optimal architectural strengths (encoder vs. decoder) for different security priorities.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High token consumption, context window limits, and poor generalization remain major barriers.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bl>
          </a:graphicData>
        </a:graphic>
      </p:graphicFrame>
      <p:pic>
        <p:nvPicPr>
          <p:cNvPr id="178" name="Google Shape;178;p30"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nvSpPr>
        <p:spPr>
          <a:xfrm>
            <a:off x="342900" y="274625"/>
            <a:ext cx="44247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 sz="2800">
                <a:solidFill>
                  <a:srgbClr val="572314"/>
                </a:solidFill>
                <a:latin typeface="Times New Roman"/>
                <a:ea typeface="Times New Roman"/>
                <a:cs typeface="Times New Roman"/>
                <a:sym typeface="Times New Roman"/>
              </a:rPr>
              <a:t>Literature Review 	contd.</a:t>
            </a:r>
            <a:endParaRPr b="1" sz="2800">
              <a:solidFill>
                <a:srgbClr val="572314"/>
              </a:solidFill>
              <a:latin typeface="Times New Roman"/>
              <a:ea typeface="Times New Roman"/>
              <a:cs typeface="Times New Roman"/>
              <a:sym typeface="Times New Roman"/>
            </a:endParaRPr>
          </a:p>
        </p:txBody>
      </p:sp>
      <p:sp>
        <p:nvSpPr>
          <p:cNvPr id="184" name="Google Shape;184;p31"/>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sp>
        <p:nvSpPr>
          <p:cNvPr id="185" name="Google Shape;185;p31"/>
          <p:cNvSpPr txBox="1"/>
          <p:nvPr/>
        </p:nvSpPr>
        <p:spPr>
          <a:xfrm>
            <a:off x="342900" y="800095"/>
            <a:ext cx="5320800" cy="295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Table2: Summary of Existing Approaches and Research Limitations, contd.</a:t>
            </a:r>
            <a:endParaRPr sz="1200">
              <a:solidFill>
                <a:schemeClr val="dk1"/>
              </a:solidFill>
              <a:latin typeface="Arial"/>
              <a:ea typeface="Arial"/>
              <a:cs typeface="Arial"/>
              <a:sym typeface="Arial"/>
            </a:endParaRPr>
          </a:p>
        </p:txBody>
      </p:sp>
      <p:graphicFrame>
        <p:nvGraphicFramePr>
          <p:cNvPr id="186" name="Google Shape;186;p31"/>
          <p:cNvGraphicFramePr/>
          <p:nvPr/>
        </p:nvGraphicFramePr>
        <p:xfrm>
          <a:off x="342900" y="1095305"/>
          <a:ext cx="3000000" cy="3000000"/>
        </p:xfrm>
        <a:graphic>
          <a:graphicData uri="http://schemas.openxmlformats.org/drawingml/2006/table">
            <a:tbl>
              <a:tblPr bandRow="1" firstRow="1">
                <a:noFill/>
                <a:tableStyleId>{4988CF06-5FA7-4D49-9562-FA9D673A86ED}</a:tableStyleId>
              </a:tblPr>
              <a:tblGrid>
                <a:gridCol w="872025"/>
                <a:gridCol w="1920850"/>
                <a:gridCol w="1321625"/>
                <a:gridCol w="1933500"/>
                <a:gridCol w="1750975"/>
              </a:tblGrid>
              <a:tr h="535950">
                <a:tc>
                  <a:txBody>
                    <a:bodyPr/>
                    <a:lstStyle/>
                    <a:p>
                      <a:pPr indent="0" lvl="0" marL="0" marR="0" rtl="0" algn="l">
                        <a:spcBef>
                          <a:spcPts val="0"/>
                        </a:spcBef>
                        <a:spcAft>
                          <a:spcPts val="0"/>
                        </a:spcAft>
                        <a:buClr>
                          <a:schemeClr val="dk1"/>
                        </a:buClr>
                        <a:buSzPts val="1400"/>
                        <a:buFont typeface="Times New Roman"/>
                        <a:buNone/>
                      </a:pPr>
                      <a:r>
                        <a:rPr b="1" lang="en" sz="1400" u="none" cap="none" strike="noStrike">
                          <a:latin typeface="Times New Roman"/>
                          <a:ea typeface="Times New Roman"/>
                          <a:cs typeface="Times New Roman"/>
                          <a:sym typeface="Times New Roman"/>
                        </a:rPr>
                        <a:t>Author</a:t>
                      </a:r>
                      <a:endParaRPr b="1" sz="1400" u="none" cap="none" strike="noStrike">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b="1" lang="en" sz="1400" u="none" cap="none" strike="noStrike">
                          <a:latin typeface="Times New Roman"/>
                          <a:ea typeface="Times New Roman"/>
                          <a:cs typeface="Times New Roman"/>
                          <a:sym typeface="Times New Roman"/>
                        </a:rPr>
                        <a:t>Methods/</a:t>
                      </a:r>
                      <a:endParaRPr b="1" sz="1400" u="none" cap="none" strike="noStrike">
                        <a:latin typeface="Times New Roman"/>
                        <a:ea typeface="Times New Roman"/>
                        <a:cs typeface="Times New Roman"/>
                        <a:sym typeface="Times New Roman"/>
                      </a:endParaRPr>
                    </a:p>
                    <a:p>
                      <a:pPr indent="0" lvl="0" marL="0" marR="0" rtl="0" algn="l">
                        <a:spcBef>
                          <a:spcPts val="0"/>
                        </a:spcBef>
                        <a:spcAft>
                          <a:spcPts val="0"/>
                        </a:spcAft>
                        <a:buClr>
                          <a:schemeClr val="dk1"/>
                        </a:buClr>
                        <a:buSzPts val="1400"/>
                        <a:buFont typeface="Times New Roman"/>
                        <a:buNone/>
                      </a:pPr>
                      <a:r>
                        <a:rPr b="1" lang="en" sz="1400" u="none" cap="none" strike="noStrike">
                          <a:latin typeface="Times New Roman"/>
                          <a:ea typeface="Times New Roman"/>
                          <a:cs typeface="Times New Roman"/>
                          <a:sym typeface="Times New Roman"/>
                        </a:rPr>
                        <a:t>Techniques Used</a:t>
                      </a:r>
                      <a:endParaRPr b="1" sz="1400" u="none" cap="none" strike="noStrike">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b="1" lang="en" sz="1400" u="none" cap="none" strike="noStrike">
                          <a:latin typeface="Times New Roman"/>
                          <a:ea typeface="Times New Roman"/>
                          <a:cs typeface="Times New Roman"/>
                          <a:sym typeface="Times New Roman"/>
                        </a:rPr>
                        <a:t>Dataset Used</a:t>
                      </a:r>
                      <a:endParaRPr b="1" sz="1400" u="none" cap="none" strike="noStrike">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b="1" lang="en" sz="1400" u="none" cap="none" strike="noStrike">
                          <a:latin typeface="Times New Roman"/>
                          <a:ea typeface="Times New Roman"/>
                          <a:cs typeface="Times New Roman"/>
                          <a:sym typeface="Times New Roman"/>
                        </a:rPr>
                        <a:t>Research Outcomes</a:t>
                      </a:r>
                      <a:endParaRPr b="1" sz="1400" u="none" cap="none" strike="noStrike">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Times New Roman"/>
                        <a:buNone/>
                      </a:pPr>
                      <a:r>
                        <a:rPr b="1" lang="en" sz="1400" u="none" cap="none" strike="noStrike">
                          <a:latin typeface="Times New Roman"/>
                          <a:ea typeface="Times New Roman"/>
                          <a:cs typeface="Times New Roman"/>
                          <a:sym typeface="Times New Roman"/>
                        </a:rPr>
                        <a:t>Findings &amp; Limitations</a:t>
                      </a:r>
                      <a:endParaRPr b="1" sz="1400" u="none" cap="none" strike="noStrike">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tcPr>
                </a:tc>
              </a:tr>
              <a:tr h="751200">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Dozono et al.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Empirical evaluation of 5 frontier LLMs comparing open-source vs. closed-source code performance.</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CWE-Bench-Java (Open) and TS-Vuls (Closed, commercial Teamscale codebase).</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Precision dropped significantly from 56% on open-source code to 34% on closed-source code.</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LLM metrics are heavily inflated on open-source data due to training contamination.</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50575">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Apostolidis et al.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CppCheck static analysis filtered by a fine-tuned CodeBERT vulnerability prediction model.</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Big-Vul and ReVeal (C/C++ GitHub samples).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Reduced false positives, improving static analysis practicality with minimal impact on detection accuracy.</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Vulnerability prediction models lack line-level granularity; static tools suffer from overwhelming false alarms.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750575">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Dozono et al.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Empirical evaluation of 5 frontier LLMs comparing open-source vs. closed-source code performance.</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CWE-Bench-Java (Open) and TS-Vuls (Closed, commercial Teamscale codebase).</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Precision dropped significantly from 56% on open-source code to 34% on closed-source code.</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LLM metrics are heavily inflated on open-source data due to training contamination.</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50575">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Muske &amp; Khedker (2015)</a:t>
                      </a:r>
                      <a:endParaRPr b="0" sz="1000" u="none" cap="none" strike="noStrike">
                        <a:latin typeface="Times New Roman"/>
                        <a:ea typeface="Times New Roman"/>
                        <a:cs typeface="Times New Roman"/>
                        <a:sym typeface="Times New Roman"/>
                      </a:endParaRPr>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Data flow analysis computing Complete-range Non-deterministic Value (cnv) variables.</a:t>
                      </a:r>
                      <a:endParaRPr b="0" sz="1000" u="none" cap="none" strike="noStrike">
                        <a:latin typeface="Times New Roman"/>
                        <a:ea typeface="Times New Roman"/>
                        <a:cs typeface="Times New Roman"/>
                        <a:sym typeface="Times New Roman"/>
                      </a:endParaRPr>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Embedded C system applications (SCMS, BCM).</a:t>
                      </a:r>
                      <a:endParaRPr b="0" sz="1000" u="none" cap="none" strike="noStrike">
                        <a:latin typeface="Times New Roman"/>
                        <a:ea typeface="Times New Roman"/>
                        <a:cs typeface="Times New Roman"/>
                        <a:sym typeface="Times New Roman"/>
                      </a:endParaRPr>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Cut redundant model checking calls by 49.49% and reduced false positive elimination time by 39.28%.</a:t>
                      </a:r>
                      <a:endParaRPr b="0" sz="1000" u="none" cap="none" strike="noStrike">
                        <a:latin typeface="Times New Roman"/>
                        <a:ea typeface="Times New Roman"/>
                        <a:cs typeface="Times New Roman"/>
                        <a:sym typeface="Times New Roman"/>
                      </a:endParaRPr>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Clr>
                          <a:schemeClr val="dk1"/>
                        </a:buClr>
                        <a:buSzPts val="1000"/>
                        <a:buFont typeface="Times New Roman"/>
                        <a:buNone/>
                      </a:pPr>
                      <a:r>
                        <a:rPr b="0" lang="en" sz="1000" u="none" cap="none" strike="noStrike">
                          <a:latin typeface="Times New Roman"/>
                          <a:ea typeface="Times New Roman"/>
                          <a:cs typeface="Times New Roman"/>
                          <a:sym typeface="Times New Roman"/>
                        </a:rPr>
                        <a:t>Speed gains were achieved at the cost of missing 2.78% of false positives due to execution path over-approximation.</a:t>
                      </a:r>
                      <a:endParaRPr b="0" sz="1000" u="none" cap="none" strike="noStrike">
                        <a:latin typeface="Times New Roman"/>
                        <a:ea typeface="Times New Roman"/>
                        <a:cs typeface="Times New Roman"/>
                        <a:sym typeface="Times New Roman"/>
                      </a:endParaRPr>
                    </a:p>
                  </a:txBody>
                  <a:tcPr marT="45725" marB="45725" marR="91450" marL="91450">
                    <a:lnT cap="flat" cmpd="sng" w="38100">
                      <a:solidFill>
                        <a:schemeClr val="lt1"/>
                      </a:solidFill>
                      <a:prstDash val="solid"/>
                      <a:round/>
                      <a:headEnd len="sm" w="sm" type="none"/>
                      <a:tailEnd len="sm" w="sm" type="none"/>
                    </a:lnT>
                  </a:tcPr>
                </a:tc>
              </a:tr>
            </a:tbl>
          </a:graphicData>
        </a:graphic>
      </p:graphicFrame>
      <p:pic>
        <p:nvPicPr>
          <p:cNvPr id="187" name="Google Shape;187;p31"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nvSpPr>
        <p:spPr>
          <a:xfrm>
            <a:off x="342900" y="274625"/>
            <a:ext cx="5036100" cy="5253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 sz="2800" u="none" cap="none" strike="noStrike">
                <a:solidFill>
                  <a:srgbClr val="572314"/>
                </a:solidFill>
                <a:latin typeface="Times New Roman"/>
                <a:ea typeface="Times New Roman"/>
                <a:cs typeface="Times New Roman"/>
                <a:sym typeface="Times New Roman"/>
              </a:rPr>
              <a:t>Research Gap &amp; Improvements</a:t>
            </a:r>
            <a:endParaRPr b="1" i="0" sz="2800" u="none" cap="none" strike="noStrike">
              <a:solidFill>
                <a:srgbClr val="572314"/>
              </a:solidFill>
              <a:latin typeface="Times New Roman"/>
              <a:ea typeface="Times New Roman"/>
              <a:cs typeface="Times New Roman"/>
              <a:sym typeface="Times New Roman"/>
            </a:endParaRPr>
          </a:p>
        </p:txBody>
      </p:sp>
      <p:sp>
        <p:nvSpPr>
          <p:cNvPr id="193" name="Google Shape;193;p32"/>
          <p:cNvSpPr txBox="1"/>
          <p:nvPr/>
        </p:nvSpPr>
        <p:spPr>
          <a:xfrm>
            <a:off x="342900" y="1143000"/>
            <a:ext cx="7799100" cy="2894700"/>
          </a:xfrm>
          <a:prstGeom prst="rect">
            <a:avLst/>
          </a:prstGeom>
          <a:noFill/>
          <a:ln>
            <a:noFill/>
          </a:ln>
        </p:spPr>
        <p:txBody>
          <a:bodyPr anchorCtr="0" anchor="ctr" bIns="45000" lIns="90000" spcFirstLastPara="1" rIns="90000" wrap="square" tIns="45000">
            <a:noAutofit/>
          </a:bodyPr>
          <a:lstStyle/>
          <a:p>
            <a:pPr indent="-342900" lvl="0" marL="34290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Identified Limitation 1: Token Inefficiency &amp; Latency Bottlenecks</a:t>
            </a:r>
            <a:endParaRPr i="0" sz="1600" cap="none" strike="noStrike">
              <a:solidFill>
                <a:srgbClr val="000000"/>
              </a:solidFill>
              <a:latin typeface="Times New Roman"/>
              <a:ea typeface="Times New Roman"/>
              <a:cs typeface="Times New Roman"/>
              <a:sym typeface="Times New Roman"/>
            </a:endParaRPr>
          </a:p>
          <a:p>
            <a:pPr indent="-340995" lvl="0" marL="662305"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Recent surveys (e.g., Jin, 2025) highlight that analyzing entire repositories using LLMs results in severe token consumption and context window exhaustion.</a:t>
            </a:r>
            <a:endParaRPr i="0" sz="1600" cap="none" strike="noStrike">
              <a:solidFill>
                <a:srgbClr val="000000"/>
              </a:solidFill>
              <a:latin typeface="Times New Roman"/>
              <a:ea typeface="Times New Roman"/>
              <a:cs typeface="Times New Roman"/>
              <a:sym typeface="Times New Roman"/>
            </a:endParaRPr>
          </a:p>
          <a:p>
            <a:pPr indent="-340995" lvl="0" marL="662305"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Our </a:t>
            </a:r>
            <a:r>
              <a:rPr lang="en" sz="1600">
                <a:latin typeface="Times New Roman"/>
                <a:ea typeface="Times New Roman"/>
                <a:cs typeface="Times New Roman"/>
                <a:sym typeface="Times New Roman"/>
              </a:rPr>
              <a:t>Engineered Solution</a:t>
            </a:r>
            <a:r>
              <a:rPr i="0" lang="en" sz="1600" cap="none" strike="noStrike">
                <a:solidFill>
                  <a:srgbClr val="000000"/>
                </a:solidFill>
                <a:latin typeface="Times New Roman"/>
                <a:ea typeface="Times New Roman"/>
                <a:cs typeface="Times New Roman"/>
                <a:sym typeface="Times New Roman"/>
              </a:rPr>
              <a:t>: We utilized a "cascading filter" approach. By using deterministic Regex as a Stage-1 pre-filter, we only invoked the LLM on a strict 11-line context window, bypassing the latency constraints of pure-LLM scanners.</a:t>
            </a:r>
            <a:endParaRPr i="0" sz="1600" cap="none" strike="noStrike">
              <a:solidFill>
                <a:srgbClr val="000000"/>
              </a:solidFill>
              <a:latin typeface="Times New Roman"/>
              <a:ea typeface="Times New Roman"/>
              <a:cs typeface="Times New Roman"/>
              <a:sym typeface="Times New Roman"/>
            </a:endParaRPr>
          </a:p>
          <a:p>
            <a:pPr indent="-241300" lvl="0" marL="342900" marR="0" rtl="0" algn="just">
              <a:lnSpc>
                <a:spcPct val="100000"/>
              </a:lnSpc>
              <a:spcBef>
                <a:spcPts val="0"/>
              </a:spcBef>
              <a:spcAft>
                <a:spcPts val="0"/>
              </a:spcAft>
              <a:buClr>
                <a:schemeClr val="dk1"/>
              </a:buClr>
              <a:buSzPts val="1600"/>
              <a:buFont typeface="Arial"/>
              <a:buNone/>
            </a:pPr>
            <a:r>
              <a:t/>
            </a:r>
            <a:endParaRPr i="0" sz="1600" cap="none" strike="noStrike">
              <a:solidFill>
                <a:srgbClr val="000000"/>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Identified Limitation 2: Granularity and "Context Blindness"</a:t>
            </a:r>
            <a:endParaRPr i="0" sz="1600" cap="none" strike="noStrike">
              <a:solidFill>
                <a:srgbClr val="000000"/>
              </a:solidFill>
              <a:latin typeface="Times New Roman"/>
              <a:ea typeface="Times New Roman"/>
              <a:cs typeface="Times New Roman"/>
              <a:sym typeface="Times New Roman"/>
            </a:endParaRPr>
          </a:p>
          <a:p>
            <a:pPr indent="-341630" lvl="0" marL="64897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Existing vulnerability models often evaluate overall file semantics rather than isolating specific vulnerability concepts (Li et al., 2025), and lack line-level granularity (Apostolidis et al., 2025).</a:t>
            </a:r>
            <a:endParaRPr sz="1600">
              <a:latin typeface="Times New Roman"/>
              <a:ea typeface="Times New Roman"/>
              <a:cs typeface="Times New Roman"/>
              <a:sym typeface="Times New Roman"/>
            </a:endParaRPr>
          </a:p>
        </p:txBody>
      </p:sp>
      <p:sp>
        <p:nvSpPr>
          <p:cNvPr id="194" name="Google Shape;194;p32"/>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195" name="Google Shape;195;p32"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nvSpPr>
        <p:spPr>
          <a:xfrm>
            <a:off x="342900" y="274625"/>
            <a:ext cx="6663600" cy="5253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 sz="2800" u="none" cap="none" strike="noStrike">
                <a:solidFill>
                  <a:srgbClr val="572314"/>
                </a:solidFill>
                <a:latin typeface="Times New Roman"/>
                <a:ea typeface="Times New Roman"/>
                <a:cs typeface="Times New Roman"/>
                <a:sym typeface="Times New Roman"/>
              </a:rPr>
              <a:t>Research Gap &amp; Improvements		contd.</a:t>
            </a:r>
            <a:endParaRPr b="1" i="0" sz="2800" u="none" cap="none" strike="noStrike">
              <a:solidFill>
                <a:srgbClr val="572314"/>
              </a:solidFill>
              <a:latin typeface="Times New Roman"/>
              <a:ea typeface="Times New Roman"/>
              <a:cs typeface="Times New Roman"/>
              <a:sym typeface="Times New Roman"/>
            </a:endParaRPr>
          </a:p>
        </p:txBody>
      </p:sp>
      <p:sp>
        <p:nvSpPr>
          <p:cNvPr id="201" name="Google Shape;201;p33"/>
          <p:cNvSpPr txBox="1"/>
          <p:nvPr/>
        </p:nvSpPr>
        <p:spPr>
          <a:xfrm>
            <a:off x="342900" y="1143000"/>
            <a:ext cx="7799100" cy="2894700"/>
          </a:xfrm>
          <a:prstGeom prst="rect">
            <a:avLst/>
          </a:prstGeom>
          <a:noFill/>
          <a:ln>
            <a:noFill/>
          </a:ln>
        </p:spPr>
        <p:txBody>
          <a:bodyPr anchorCtr="0" anchor="ctr" bIns="45000" lIns="90000" spcFirstLastPara="1" rIns="90000" wrap="square" tIns="45000">
            <a:noAutofit/>
          </a:bodyPr>
          <a:lstStyle/>
          <a:p>
            <a:pPr indent="-341630" lvl="0" marL="64897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Our </a:t>
            </a:r>
            <a:r>
              <a:rPr lang="en" sz="1600">
                <a:solidFill>
                  <a:schemeClr val="dk1"/>
                </a:solidFill>
                <a:latin typeface="Times New Roman"/>
                <a:ea typeface="Times New Roman"/>
                <a:cs typeface="Times New Roman"/>
                <a:sym typeface="Times New Roman"/>
              </a:rPr>
              <a:t>Engineered Solution</a:t>
            </a:r>
            <a:r>
              <a:rPr i="0" lang="en" sz="1600" cap="none" strike="noStrike">
                <a:solidFill>
                  <a:srgbClr val="000000"/>
                </a:solidFill>
                <a:latin typeface="Times New Roman"/>
                <a:ea typeface="Times New Roman"/>
                <a:cs typeface="Times New Roman"/>
                <a:sym typeface="Times New Roman"/>
              </a:rPr>
              <a:t>: We extracted the Abstract Syntax Tree (AST) context (5 lines above and below the Regex match). Our LoRA fine-tuning specifically train</a:t>
            </a:r>
            <a:r>
              <a:rPr lang="en" sz="1600">
                <a:latin typeface="Times New Roman"/>
                <a:ea typeface="Times New Roman"/>
                <a:cs typeface="Times New Roman"/>
                <a:sym typeface="Times New Roman"/>
              </a:rPr>
              <a:t>ed</a:t>
            </a:r>
            <a:r>
              <a:rPr i="0" lang="en" sz="1600" cap="none" strike="noStrike">
                <a:solidFill>
                  <a:srgbClr val="000000"/>
                </a:solidFill>
                <a:latin typeface="Times New Roman"/>
                <a:ea typeface="Times New Roman"/>
                <a:cs typeface="Times New Roman"/>
                <a:sym typeface="Times New Roman"/>
              </a:rPr>
              <a:t> the model to evaluate variable scope and dummy test parameters within this micro-context.</a:t>
            </a:r>
            <a:endParaRPr i="0" sz="1600" cap="none" strike="noStrike">
              <a:solidFill>
                <a:srgbClr val="000000"/>
              </a:solidFill>
              <a:latin typeface="Times New Roman"/>
              <a:ea typeface="Times New Roman"/>
              <a:cs typeface="Times New Roman"/>
              <a:sym typeface="Times New Roman"/>
            </a:endParaRPr>
          </a:p>
          <a:p>
            <a:pPr indent="-241300" lvl="0" marL="342900" marR="0" rtl="0" algn="just">
              <a:lnSpc>
                <a:spcPct val="100000"/>
              </a:lnSpc>
              <a:spcBef>
                <a:spcPts val="0"/>
              </a:spcBef>
              <a:spcAft>
                <a:spcPts val="0"/>
              </a:spcAft>
              <a:buClr>
                <a:schemeClr val="dk1"/>
              </a:buClr>
              <a:buSzPts val="1600"/>
              <a:buFont typeface="Arial"/>
              <a:buNone/>
            </a:pPr>
            <a:r>
              <a:t/>
            </a:r>
            <a:endParaRPr i="0" sz="1600" cap="none" strike="noStrike">
              <a:solidFill>
                <a:srgbClr val="000000"/>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Identified Limitation 3: The Data Privacy Paradigm</a:t>
            </a:r>
            <a:endParaRPr i="0" sz="1600" cap="none" strike="noStrike">
              <a:solidFill>
                <a:srgbClr val="000000"/>
              </a:solidFill>
              <a:latin typeface="Times New Roman"/>
              <a:ea typeface="Times New Roman"/>
              <a:cs typeface="Times New Roman"/>
              <a:sym typeface="Times New Roman"/>
            </a:endParaRPr>
          </a:p>
          <a:p>
            <a:pPr indent="-342265" lvl="0" marL="63500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State-of-the-art LLM security tools rely on cloud-based APIs. Sending proprietary, unredacted corporate source code to external servers (OpenAI/Anthropic) violates Zero-Trust security models and data compliance laws.</a:t>
            </a:r>
            <a:endParaRPr i="0" sz="1600" cap="none" strike="noStrike">
              <a:solidFill>
                <a:srgbClr val="000000"/>
              </a:solidFill>
              <a:latin typeface="Times New Roman"/>
              <a:ea typeface="Times New Roman"/>
              <a:cs typeface="Times New Roman"/>
              <a:sym typeface="Times New Roman"/>
            </a:endParaRPr>
          </a:p>
          <a:p>
            <a:pPr indent="-342265" lvl="0" marL="63500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Our </a:t>
            </a:r>
            <a:r>
              <a:rPr lang="en" sz="1600">
                <a:solidFill>
                  <a:schemeClr val="dk1"/>
                </a:solidFill>
                <a:latin typeface="Times New Roman"/>
                <a:ea typeface="Times New Roman"/>
                <a:cs typeface="Times New Roman"/>
                <a:sym typeface="Times New Roman"/>
              </a:rPr>
              <a:t>Engineered Solution</a:t>
            </a:r>
            <a:r>
              <a:rPr i="0" lang="en" sz="1600" cap="none" strike="noStrike">
                <a:solidFill>
                  <a:srgbClr val="000000"/>
                </a:solidFill>
                <a:latin typeface="Times New Roman"/>
                <a:ea typeface="Times New Roman"/>
                <a:cs typeface="Times New Roman"/>
                <a:sym typeface="Times New Roman"/>
              </a:rPr>
              <a:t>: Total offline execution. We bridged this gap by deploying a 4-bit quantized Meta Llama 3 8B model locally using the Apple MLX framework, leveraging Unified Memory for secure, on-device inference.</a:t>
            </a:r>
            <a:endParaRPr b="0" i="0" sz="1600" u="none" cap="none" strike="noStrike">
              <a:solidFill>
                <a:srgbClr val="000000"/>
              </a:solidFill>
              <a:latin typeface="Times New Roman"/>
              <a:ea typeface="Times New Roman"/>
              <a:cs typeface="Times New Roman"/>
              <a:sym typeface="Times New Roman"/>
            </a:endParaRPr>
          </a:p>
        </p:txBody>
      </p:sp>
      <p:sp>
        <p:nvSpPr>
          <p:cNvPr id="202" name="Google Shape;202;p33"/>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03" name="Google Shape;203;p33"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nvSpPr>
        <p:spPr>
          <a:xfrm>
            <a:off x="342900" y="274625"/>
            <a:ext cx="5407500" cy="5256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i="0" lang="en" sz="2800" u="none" cap="none" strike="noStrike">
                <a:solidFill>
                  <a:srgbClr val="572314"/>
                </a:solidFill>
                <a:latin typeface="Times New Roman"/>
                <a:ea typeface="Times New Roman"/>
                <a:cs typeface="Times New Roman"/>
                <a:sym typeface="Times New Roman"/>
              </a:rPr>
              <a:t>Proposed Solution &amp; Architecture</a:t>
            </a:r>
            <a:endParaRPr b="1" i="0" sz="2800" u="none" cap="none" strike="noStrike">
              <a:solidFill>
                <a:srgbClr val="572314"/>
              </a:solidFill>
              <a:latin typeface="Times New Roman"/>
              <a:ea typeface="Times New Roman"/>
              <a:cs typeface="Times New Roman"/>
              <a:sym typeface="Times New Roman"/>
            </a:endParaRPr>
          </a:p>
        </p:txBody>
      </p:sp>
      <p:sp>
        <p:nvSpPr>
          <p:cNvPr id="209" name="Google Shape;209;p34"/>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sp>
        <p:nvSpPr>
          <p:cNvPr id="210" name="Google Shape;210;p34"/>
          <p:cNvSpPr txBox="1"/>
          <p:nvPr/>
        </p:nvSpPr>
        <p:spPr>
          <a:xfrm>
            <a:off x="2427000" y="4707775"/>
            <a:ext cx="4290000" cy="31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300">
                <a:solidFill>
                  <a:schemeClr val="dk1"/>
                </a:solidFill>
                <a:latin typeface="Times New Roman"/>
                <a:ea typeface="Times New Roman"/>
                <a:cs typeface="Times New Roman"/>
                <a:sym typeface="Times New Roman"/>
              </a:rPr>
              <a:t>Fig. 1: Schematic Model Diagram of the Proposed Model</a:t>
            </a:r>
            <a:endParaRPr sz="1300">
              <a:solidFill>
                <a:schemeClr val="dk1"/>
              </a:solidFill>
              <a:latin typeface="Times New Roman"/>
              <a:ea typeface="Times New Roman"/>
              <a:cs typeface="Times New Roman"/>
              <a:sym typeface="Times New Roman"/>
            </a:endParaRPr>
          </a:p>
        </p:txBody>
      </p:sp>
      <p:pic>
        <p:nvPicPr>
          <p:cNvPr descr="WhatsApp Image 2026-03-24 at 15.28.24" id="211" name="Google Shape;211;p34"/>
          <p:cNvPicPr preferRelativeResize="0"/>
          <p:nvPr/>
        </p:nvPicPr>
        <p:blipFill rotWithShape="1">
          <a:blip r:embed="rId3">
            <a:alphaModFix/>
          </a:blip>
          <a:srcRect b="0" l="0" r="0" t="0"/>
          <a:stretch/>
        </p:blipFill>
        <p:spPr>
          <a:xfrm>
            <a:off x="520700" y="853450"/>
            <a:ext cx="7621148" cy="3801101"/>
          </a:xfrm>
          <a:prstGeom prst="rect">
            <a:avLst/>
          </a:prstGeom>
          <a:noFill/>
          <a:ln>
            <a:noFill/>
          </a:ln>
        </p:spPr>
      </p:pic>
      <p:pic>
        <p:nvPicPr>
          <p:cNvPr id="212" name="Google Shape;212;p34" title="Frame 6.png"/>
          <p:cNvPicPr preferRelativeResize="0"/>
          <p:nvPr/>
        </p:nvPicPr>
        <p:blipFill rotWithShape="1">
          <a:blip r:embed="rId4">
            <a:alphaModFix/>
          </a:blip>
          <a:srcRect b="0" l="0" r="0" t="0"/>
          <a:stretch/>
        </p:blipFill>
        <p:spPr>
          <a:xfrm>
            <a:off x="8141862" y="0"/>
            <a:ext cx="1002150" cy="1002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nvSpPr>
        <p:spPr>
          <a:xfrm>
            <a:off x="342900" y="274625"/>
            <a:ext cx="48654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 sz="2800" u="none" cap="none" strike="noStrike">
                <a:solidFill>
                  <a:srgbClr val="572314"/>
                </a:solidFill>
                <a:latin typeface="Times New Roman"/>
                <a:ea typeface="Times New Roman"/>
                <a:cs typeface="Times New Roman"/>
                <a:sym typeface="Times New Roman"/>
              </a:rPr>
              <a:t>Dataset &amp; Tools/Technologies</a:t>
            </a:r>
            <a:endParaRPr b="1" i="0" sz="2800" u="none" cap="none" strike="noStrike">
              <a:solidFill>
                <a:srgbClr val="572314"/>
              </a:solidFill>
              <a:latin typeface="Times New Roman"/>
              <a:ea typeface="Times New Roman"/>
              <a:cs typeface="Times New Roman"/>
              <a:sym typeface="Times New Roman"/>
            </a:endParaRPr>
          </a:p>
        </p:txBody>
      </p:sp>
      <p:sp>
        <p:nvSpPr>
          <p:cNvPr id="218" name="Google Shape;218;p35"/>
          <p:cNvSpPr txBox="1"/>
          <p:nvPr/>
        </p:nvSpPr>
        <p:spPr>
          <a:xfrm>
            <a:off x="342900" y="1149300"/>
            <a:ext cx="7798800" cy="3233700"/>
          </a:xfrm>
          <a:prstGeom prst="rect">
            <a:avLst/>
          </a:prstGeom>
          <a:noFill/>
          <a:ln>
            <a:noFill/>
          </a:ln>
        </p:spPr>
        <p:txBody>
          <a:bodyPr anchorCtr="0" anchor="ctr" bIns="45000" lIns="90000" spcFirstLastPara="1" rIns="90000" wrap="square" tIns="45000">
            <a:noAutofit/>
          </a:bodyPr>
          <a:lstStyle/>
          <a:p>
            <a:pPr indent="-285750" lvl="0" marL="285750" marR="0" rtl="0" algn="just">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Dataset Description:</a:t>
            </a:r>
            <a:endParaRPr i="0" sz="1600" cap="none" strike="noStrike">
              <a:solidFill>
                <a:srgbClr val="000000"/>
              </a:solidFill>
              <a:latin typeface="Times New Roman"/>
              <a:ea typeface="Times New Roman"/>
              <a:cs typeface="Times New Roman"/>
              <a:sym typeface="Times New Roman"/>
            </a:endParaRPr>
          </a:p>
          <a:p>
            <a:pPr indent="-285115" lvl="0" marL="62166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Source: The open-source CredData benchmark dataset.</a:t>
            </a:r>
            <a:endParaRPr sz="1600">
              <a:solidFill>
                <a:schemeClr val="dk1"/>
              </a:solidFill>
              <a:latin typeface="Times New Roman"/>
              <a:ea typeface="Times New Roman"/>
              <a:cs typeface="Times New Roman"/>
              <a:sym typeface="Times New Roman"/>
            </a:endParaRPr>
          </a:p>
          <a:p>
            <a:pPr indent="-285115" lvl="0" marL="62166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Composition: The benchmark comprises 27,000 lines of source code. Due to extreme local compute constraints, legacy baseline tools were evaluated against the full dataset, while the Hybrid LLM was rigorously benchmarked against a standardized 1,000-hit subset.</a:t>
            </a:r>
            <a:br>
              <a:rPr lang="en"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02895" lvl="0" marL="30289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Tools &amp; Technologies:</a:t>
            </a:r>
            <a:endParaRPr sz="1600">
              <a:solidFill>
                <a:schemeClr val="dk1"/>
              </a:solidFill>
              <a:latin typeface="Times New Roman"/>
              <a:ea typeface="Times New Roman"/>
              <a:cs typeface="Times New Roman"/>
              <a:sym typeface="Times New Roman"/>
            </a:endParaRPr>
          </a:p>
          <a:p>
            <a:pPr indent="-275590" lvl="0" marL="61531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Language &amp; Orchestration: Python 3.10+</a:t>
            </a:r>
            <a:endParaRPr sz="1600">
              <a:solidFill>
                <a:schemeClr val="dk1"/>
              </a:solidFill>
              <a:latin typeface="Times New Roman"/>
              <a:ea typeface="Times New Roman"/>
              <a:cs typeface="Times New Roman"/>
              <a:sym typeface="Times New Roman"/>
            </a:endParaRPr>
          </a:p>
          <a:p>
            <a:pPr indent="-275590" lvl="0" marL="61531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AI Model: Meta Llama 3 8B Instruct (4-bit quantized).</a:t>
            </a:r>
            <a:endParaRPr sz="1600">
              <a:solidFill>
                <a:schemeClr val="dk1"/>
              </a:solidFill>
              <a:latin typeface="Times New Roman"/>
              <a:ea typeface="Times New Roman"/>
              <a:cs typeface="Times New Roman"/>
              <a:sym typeface="Times New Roman"/>
            </a:endParaRPr>
          </a:p>
          <a:p>
            <a:pPr indent="-275590" lvl="0" marL="61531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Compute Framework: Apple MLX Framework.</a:t>
            </a:r>
            <a:endParaRPr sz="1600">
              <a:solidFill>
                <a:schemeClr val="dk1"/>
              </a:solidFill>
              <a:latin typeface="Times New Roman"/>
              <a:ea typeface="Times New Roman"/>
              <a:cs typeface="Times New Roman"/>
              <a:sym typeface="Times New Roman"/>
            </a:endParaRPr>
          </a:p>
          <a:p>
            <a:pPr indent="-275590" lvl="0" marL="61531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Hardware: Local execution on Apple Silicon (M-series Mac) utilizing Unified Memory for offline inference.</a:t>
            </a:r>
            <a:endParaRPr i="0" sz="1600" cap="none" strike="noStrike">
              <a:solidFill>
                <a:srgbClr val="000000"/>
              </a:solidFill>
              <a:latin typeface="Times New Roman"/>
              <a:ea typeface="Times New Roman"/>
              <a:cs typeface="Times New Roman"/>
              <a:sym typeface="Times New Roman"/>
            </a:endParaRPr>
          </a:p>
        </p:txBody>
      </p:sp>
      <p:sp>
        <p:nvSpPr>
          <p:cNvPr id="219" name="Google Shape;219;p35"/>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20" name="Google Shape;220;p35"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nvSpPr>
        <p:spPr>
          <a:xfrm>
            <a:off x="342900" y="274625"/>
            <a:ext cx="7741800" cy="8685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lang="en" sz="2800">
                <a:solidFill>
                  <a:srgbClr val="572314"/>
                </a:solidFill>
                <a:latin typeface="Times New Roman"/>
                <a:ea typeface="Times New Roman"/>
                <a:cs typeface="Times New Roman"/>
                <a:sym typeface="Times New Roman"/>
              </a:rPr>
              <a:t>Experimentation: System Specifications &amp; Parameters</a:t>
            </a:r>
            <a:endParaRPr b="1" i="0" sz="2800" u="none" cap="none" strike="noStrike">
              <a:solidFill>
                <a:srgbClr val="572314"/>
              </a:solidFill>
              <a:latin typeface="Times New Roman"/>
              <a:ea typeface="Times New Roman"/>
              <a:cs typeface="Times New Roman"/>
              <a:sym typeface="Times New Roman"/>
            </a:endParaRPr>
          </a:p>
        </p:txBody>
      </p:sp>
      <p:sp>
        <p:nvSpPr>
          <p:cNvPr id="226" name="Google Shape;226;p36"/>
          <p:cNvSpPr txBox="1"/>
          <p:nvPr/>
        </p:nvSpPr>
        <p:spPr>
          <a:xfrm>
            <a:off x="342900" y="1143000"/>
            <a:ext cx="7799100" cy="2109300"/>
          </a:xfrm>
          <a:prstGeom prst="rect">
            <a:avLst/>
          </a:prstGeom>
          <a:noFill/>
          <a:ln>
            <a:noFill/>
          </a:ln>
        </p:spPr>
        <p:txBody>
          <a:bodyPr anchorCtr="0" anchor="ctr" bIns="45000" lIns="90000" spcFirstLastPara="1" rIns="90000" wrap="square" tIns="45000">
            <a:noAutofit/>
          </a:bodyPr>
          <a:lstStyle/>
          <a:p>
            <a:pPr indent="-282575" lvl="0" marL="319405" marR="0" rtl="0" algn="just">
              <a:lnSpc>
                <a:spcPct val="100000"/>
              </a:lnSpc>
              <a:spcBef>
                <a:spcPts val="0"/>
              </a:spcBef>
              <a:spcAft>
                <a:spcPts val="0"/>
              </a:spcAft>
              <a:buClr>
                <a:srgbClr val="000000"/>
              </a:buClr>
              <a:buSzPts val="1600"/>
              <a:buFont typeface="Arial"/>
              <a:buChar char="•"/>
            </a:pPr>
            <a:r>
              <a:rPr lang="en" sz="1600">
                <a:solidFill>
                  <a:schemeClr val="dk1"/>
                </a:solidFill>
                <a:latin typeface="Times New Roman"/>
                <a:ea typeface="Times New Roman"/>
                <a:cs typeface="Times New Roman"/>
                <a:sym typeface="Times New Roman"/>
              </a:rPr>
              <a:t>Hardware &amp; Compute Environment: All inference executed locally on Apple Silicon (M-series Mac) utilizing Unified Memory to strictly enforce zero-trust data privacy constraints.</a:t>
            </a:r>
            <a:endParaRPr sz="1600">
              <a:solidFill>
                <a:schemeClr val="dk1"/>
              </a:solidFill>
              <a:latin typeface="Times New Roman"/>
              <a:ea typeface="Times New Roman"/>
              <a:cs typeface="Times New Roman"/>
              <a:sym typeface="Times New Roman"/>
            </a:endParaRPr>
          </a:p>
          <a:p>
            <a:pPr indent="-282575" lvl="0" marL="319405" marR="0" rtl="0" algn="just">
              <a:lnSpc>
                <a:spcPct val="100000"/>
              </a:lnSpc>
              <a:spcBef>
                <a:spcPts val="0"/>
              </a:spcBef>
              <a:spcAft>
                <a:spcPts val="0"/>
              </a:spcAft>
              <a:buClr>
                <a:srgbClr val="000000"/>
              </a:buClr>
              <a:buSzPts val="1600"/>
              <a:buFont typeface="Arial"/>
              <a:buChar char="•"/>
            </a:pPr>
            <a:r>
              <a:rPr lang="en" sz="1600">
                <a:solidFill>
                  <a:schemeClr val="dk1"/>
                </a:solidFill>
                <a:latin typeface="Times New Roman"/>
                <a:ea typeface="Times New Roman"/>
                <a:cs typeface="Times New Roman"/>
                <a:sym typeface="Times New Roman"/>
              </a:rPr>
              <a:t>Pipeline Implementation:</a:t>
            </a:r>
            <a:endParaRPr sz="1600">
              <a:solidFill>
                <a:schemeClr val="dk1"/>
              </a:solidFill>
              <a:latin typeface="Times New Roman"/>
              <a:ea typeface="Times New Roman"/>
              <a:cs typeface="Times New Roman"/>
              <a:sym typeface="Times New Roman"/>
            </a:endParaRPr>
          </a:p>
          <a:p>
            <a:pPr indent="-282575" lvl="0" marL="685800" marR="0" rtl="0" algn="just">
              <a:lnSpc>
                <a:spcPct val="100000"/>
              </a:lnSpc>
              <a:spcBef>
                <a:spcPts val="0"/>
              </a:spcBef>
              <a:spcAft>
                <a:spcPts val="0"/>
              </a:spcAft>
              <a:buClr>
                <a:srgbClr val="000000"/>
              </a:buClr>
              <a:buSzPts val="1600"/>
              <a:buFont typeface="Arial"/>
              <a:buChar char="•"/>
            </a:pPr>
            <a:r>
              <a:rPr lang="en" sz="1600">
                <a:solidFill>
                  <a:schemeClr val="dk1"/>
                </a:solidFill>
                <a:latin typeface="Times New Roman"/>
                <a:ea typeface="Times New Roman"/>
                <a:cs typeface="Times New Roman"/>
                <a:sym typeface="Times New Roman"/>
              </a:rPr>
              <a:t>Phase 1 (Regex + 11-line AST context extraction) and Phase 2 (Apple MLX inference) were fully integrated and operationalized.</a:t>
            </a:r>
            <a:endParaRPr sz="1600">
              <a:solidFill>
                <a:schemeClr val="dk1"/>
              </a:solidFill>
              <a:latin typeface="Times New Roman"/>
              <a:ea typeface="Times New Roman"/>
              <a:cs typeface="Times New Roman"/>
              <a:sym typeface="Times New Roman"/>
            </a:endParaRPr>
          </a:p>
          <a:p>
            <a:pPr indent="-282575" lvl="0" marL="685800" marR="0" rtl="0" algn="just">
              <a:lnSpc>
                <a:spcPct val="100000"/>
              </a:lnSpc>
              <a:spcBef>
                <a:spcPts val="0"/>
              </a:spcBef>
              <a:spcAft>
                <a:spcPts val="0"/>
              </a:spcAft>
              <a:buClr>
                <a:srgbClr val="000000"/>
              </a:buClr>
              <a:buSzPts val="1600"/>
              <a:buFont typeface="Arial"/>
              <a:buChar char="•"/>
            </a:pPr>
            <a:r>
              <a:rPr lang="en" sz="1600">
                <a:solidFill>
                  <a:schemeClr val="dk1"/>
                </a:solidFill>
                <a:latin typeface="Times New Roman"/>
                <a:ea typeface="Times New Roman"/>
                <a:cs typeface="Times New Roman"/>
                <a:sym typeface="Times New Roman"/>
              </a:rPr>
              <a:t>Model fine-tuning (4-bit quantized, LoRA at 3000 iterations) successfully stabilized strict JSON output parsing.</a:t>
            </a:r>
            <a:endParaRPr sz="1600">
              <a:latin typeface="Times New Roman"/>
              <a:ea typeface="Times New Roman"/>
              <a:cs typeface="Times New Roman"/>
              <a:sym typeface="Times New Roman"/>
            </a:endParaRPr>
          </a:p>
        </p:txBody>
      </p:sp>
      <p:sp>
        <p:nvSpPr>
          <p:cNvPr id="227" name="Google Shape;227;p36"/>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28" name="Google Shape;228;p36"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nvSpPr>
        <p:spPr>
          <a:xfrm>
            <a:off x="342900" y="274625"/>
            <a:ext cx="7757100" cy="5256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Clr>
                <a:srgbClr val="572314"/>
              </a:buClr>
              <a:buSzPts val="2800"/>
              <a:buFont typeface="Times New Roman"/>
              <a:buNone/>
            </a:pPr>
            <a:r>
              <a:rPr b="1" lang="en" sz="2800">
                <a:solidFill>
                  <a:srgbClr val="572314"/>
                </a:solidFill>
                <a:latin typeface="Times New Roman"/>
                <a:ea typeface="Times New Roman"/>
                <a:cs typeface="Times New Roman"/>
                <a:sym typeface="Times New Roman"/>
              </a:rPr>
              <a:t>Experimentation: Experimental Results</a:t>
            </a:r>
            <a:endParaRPr b="1" sz="2800">
              <a:solidFill>
                <a:srgbClr val="572314"/>
              </a:solidFill>
              <a:latin typeface="Times New Roman"/>
              <a:ea typeface="Times New Roman"/>
              <a:cs typeface="Times New Roman"/>
              <a:sym typeface="Times New Roman"/>
            </a:endParaRPr>
          </a:p>
        </p:txBody>
      </p:sp>
      <p:sp>
        <p:nvSpPr>
          <p:cNvPr id="234" name="Google Shape;234;p37"/>
          <p:cNvSpPr txBox="1"/>
          <p:nvPr/>
        </p:nvSpPr>
        <p:spPr>
          <a:xfrm>
            <a:off x="342900" y="1143000"/>
            <a:ext cx="7799100" cy="3216900"/>
          </a:xfrm>
          <a:prstGeom prst="rect">
            <a:avLst/>
          </a:prstGeom>
          <a:noFill/>
          <a:ln>
            <a:noFill/>
          </a:ln>
        </p:spPr>
        <p:txBody>
          <a:bodyPr anchorCtr="0" anchor="t" bIns="45000" lIns="90000" spcFirstLastPara="1" rIns="90000" wrap="square" tIns="45000">
            <a:noAutofit/>
          </a:bodyPr>
          <a:lstStyle/>
          <a:p>
            <a:pPr indent="-285750" lvl="0" marL="285750" marR="0" rtl="0" algn="just">
              <a:lnSpc>
                <a:spcPct val="100000"/>
              </a:lnSpc>
              <a:spcBef>
                <a:spcPts val="0"/>
              </a:spcBef>
              <a:spcAft>
                <a:spcPts val="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Experimental Setup: </a:t>
            </a:r>
            <a:r>
              <a:rPr b="0" i="0" lang="en" sz="1600" cap="none" strike="noStrike">
                <a:solidFill>
                  <a:srgbClr val="000000"/>
                </a:solidFill>
                <a:latin typeface="Times New Roman"/>
                <a:ea typeface="Times New Roman"/>
                <a:cs typeface="Times New Roman"/>
                <a:sym typeface="Times New Roman"/>
              </a:rPr>
              <a:t>Conducted a head-to-head comparative analysis on the CredData dataset against industry-standard offline scanners (TruffleHog and Gitleaks).</a:t>
            </a:r>
            <a:endParaRPr b="0" i="0" sz="1600" cap="none" strike="noStrike">
              <a:solidFill>
                <a:srgbClr val="000000"/>
              </a:solidFill>
              <a:latin typeface="Times New Roman"/>
              <a:ea typeface="Times New Roman"/>
              <a:cs typeface="Times New Roman"/>
              <a:sym typeface="Times New Roman"/>
            </a:endParaRPr>
          </a:p>
          <a:p>
            <a:pPr indent="-184150" lvl="0" marL="285750" marR="0" rtl="0" algn="just">
              <a:lnSpc>
                <a:spcPct val="100000"/>
              </a:lnSpc>
              <a:spcBef>
                <a:spcPts val="0"/>
              </a:spcBef>
              <a:spcAft>
                <a:spcPts val="0"/>
              </a:spcAft>
              <a:buClr>
                <a:schemeClr val="dk1"/>
              </a:buClr>
              <a:buSzPts val="1600"/>
              <a:buFont typeface="Arial"/>
              <a:buNone/>
            </a:pPr>
            <a:r>
              <a:t/>
            </a:r>
            <a:endParaRPr b="0" i="0" sz="800"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The Baseline Failure (Context Blindness):</a:t>
            </a:r>
            <a:endParaRPr b="0" i="0" sz="1600" cap="none" strike="noStrike">
              <a:solidFill>
                <a:srgbClr val="000000"/>
              </a:solidFill>
              <a:latin typeface="Times New Roman"/>
              <a:ea typeface="Times New Roman"/>
              <a:cs typeface="Times New Roman"/>
              <a:sym typeface="Times New Roman"/>
            </a:endParaRPr>
          </a:p>
          <a:p>
            <a:pPr indent="-285115" lvl="0" marL="600710" marR="0" rtl="0" algn="just">
              <a:lnSpc>
                <a:spcPct val="100000"/>
              </a:lnSpc>
              <a:spcBef>
                <a:spcPts val="0"/>
              </a:spcBef>
              <a:spcAft>
                <a:spcPts val="0"/>
              </a:spcAft>
              <a:buClr>
                <a:srgbClr val="000000"/>
              </a:buClr>
              <a:buSzPts val="1600"/>
              <a:buFont typeface="Arial"/>
              <a:buChar char="•"/>
            </a:pPr>
            <a:r>
              <a:rPr b="0" i="0" lang="en" sz="1600" cap="none" strike="noStrike">
                <a:solidFill>
                  <a:srgbClr val="000000"/>
                </a:solidFill>
                <a:latin typeface="Times New Roman"/>
                <a:ea typeface="Times New Roman"/>
                <a:cs typeface="Times New Roman"/>
                <a:sym typeface="Times New Roman"/>
              </a:rPr>
              <a:t>TruffleHog failed entirely (Precision: 0.4301, Recall: 0.0123).</a:t>
            </a:r>
            <a:endParaRPr b="0" i="0" sz="1600" cap="none" strike="noStrike">
              <a:solidFill>
                <a:srgbClr val="000000"/>
              </a:solidFill>
              <a:latin typeface="Times New Roman"/>
              <a:ea typeface="Times New Roman"/>
              <a:cs typeface="Times New Roman"/>
              <a:sym typeface="Times New Roman"/>
            </a:endParaRPr>
          </a:p>
          <a:p>
            <a:pPr indent="-285115" lvl="0" marL="600710" marR="0" rtl="0" algn="just">
              <a:lnSpc>
                <a:spcPct val="100000"/>
              </a:lnSpc>
              <a:spcBef>
                <a:spcPts val="0"/>
              </a:spcBef>
              <a:spcAft>
                <a:spcPts val="0"/>
              </a:spcAft>
              <a:buClr>
                <a:srgbClr val="000000"/>
              </a:buClr>
              <a:buSzPts val="1600"/>
              <a:buFont typeface="Arial"/>
              <a:buChar char="•"/>
            </a:pPr>
            <a:r>
              <a:rPr b="0" i="0" lang="en" sz="1600" cap="none" strike="noStrike">
                <a:solidFill>
                  <a:srgbClr val="000000"/>
                </a:solidFill>
                <a:latin typeface="Times New Roman"/>
                <a:ea typeface="Times New Roman"/>
                <a:cs typeface="Times New Roman"/>
                <a:sym typeface="Times New Roman"/>
              </a:rPr>
              <a:t>Gitleaks (Regex) maintained high Precision (0.8600) but suffered catastrophic False Negatives, missing 74% of actual secrets (Recall: 0.2600).</a:t>
            </a:r>
            <a:br>
              <a:rPr b="0" i="0" lang="en" sz="1600" cap="none" strike="noStrike">
                <a:solidFill>
                  <a:srgbClr val="000000"/>
                </a:solidFill>
                <a:latin typeface="Times New Roman"/>
                <a:ea typeface="Times New Roman"/>
                <a:cs typeface="Times New Roman"/>
                <a:sym typeface="Times New Roman"/>
              </a:rPr>
            </a:br>
            <a:endParaRPr b="0" i="0" sz="800"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Hybrid Model Performance:</a:t>
            </a:r>
            <a:endParaRPr b="0" i="0" sz="1600" cap="none" strike="noStrike">
              <a:solidFill>
                <a:srgbClr val="000000"/>
              </a:solidFill>
              <a:latin typeface="Times New Roman"/>
              <a:ea typeface="Times New Roman"/>
              <a:cs typeface="Times New Roman"/>
              <a:sym typeface="Times New Roman"/>
            </a:endParaRPr>
          </a:p>
          <a:p>
            <a:pPr indent="-285115" lvl="0" marL="600710" marR="0" rtl="0" algn="just">
              <a:lnSpc>
                <a:spcPct val="100000"/>
              </a:lnSpc>
              <a:spcBef>
                <a:spcPts val="0"/>
              </a:spcBef>
              <a:spcAft>
                <a:spcPts val="0"/>
              </a:spcAft>
              <a:buClr>
                <a:srgbClr val="000000"/>
              </a:buClr>
              <a:buSzPts val="1600"/>
              <a:buFont typeface="Times New Roman"/>
              <a:buChar char="•"/>
            </a:pPr>
            <a:r>
              <a:rPr lang="en" sz="1600">
                <a:solidFill>
                  <a:schemeClr val="dk1"/>
                </a:solidFill>
                <a:latin typeface="Times New Roman"/>
                <a:ea typeface="Times New Roman"/>
                <a:cs typeface="Times New Roman"/>
                <a:sym typeface="Times New Roman"/>
              </a:rPr>
              <a:t>Overall Accuracy: Achieved 87.0%, demonstrating stable and reliable classification across a standardized 1,000-hit evaluation subset.</a:t>
            </a:r>
            <a:endParaRPr sz="2100">
              <a:solidFill>
                <a:schemeClr val="dk1"/>
              </a:solidFill>
              <a:latin typeface="Times New Roman"/>
              <a:ea typeface="Times New Roman"/>
              <a:cs typeface="Times New Roman"/>
              <a:sym typeface="Times New Roman"/>
            </a:endParaRPr>
          </a:p>
          <a:p>
            <a:pPr indent="-285115" lvl="0" marL="600710" marR="0" rtl="0" algn="just">
              <a:lnSpc>
                <a:spcPct val="100000"/>
              </a:lnSpc>
              <a:spcBef>
                <a:spcPts val="0"/>
              </a:spcBef>
              <a:spcAft>
                <a:spcPts val="0"/>
              </a:spcAft>
              <a:buClr>
                <a:srgbClr val="000000"/>
              </a:buClr>
              <a:buSzPts val="1600"/>
              <a:buFont typeface="Times New Roman"/>
              <a:buChar char="•"/>
            </a:pPr>
            <a:r>
              <a:rPr i="0" lang="en" sz="1600" cap="none" strike="noStrike">
                <a:solidFill>
                  <a:srgbClr val="000000"/>
                </a:solidFill>
                <a:latin typeface="Times New Roman"/>
                <a:ea typeface="Times New Roman"/>
                <a:cs typeface="Times New Roman"/>
                <a:sym typeface="Times New Roman"/>
              </a:rPr>
              <a:t>Achieved a dominant F1-Score of 0.8723 within the test sample.</a:t>
            </a:r>
            <a:endParaRPr i="0" sz="1600" cap="none" strike="noStrike">
              <a:solidFill>
                <a:srgbClr val="000000"/>
              </a:solidFill>
              <a:latin typeface="Times New Roman"/>
              <a:ea typeface="Times New Roman"/>
              <a:cs typeface="Times New Roman"/>
              <a:sym typeface="Times New Roman"/>
            </a:endParaRPr>
          </a:p>
          <a:p>
            <a:pPr indent="-285115" lvl="0" marL="60071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Precision re</a:t>
            </a:r>
            <a:r>
              <a:rPr b="0" i="0" lang="en" sz="1600" cap="none" strike="noStrike">
                <a:solidFill>
                  <a:srgbClr val="000000"/>
                </a:solidFill>
                <a:latin typeface="Times New Roman"/>
                <a:ea typeface="Times New Roman"/>
                <a:cs typeface="Times New Roman"/>
                <a:sym typeface="Times New Roman"/>
              </a:rPr>
              <a:t>mained highly competitive at 0.8117, while Recall surged to 0.9427</a:t>
            </a:r>
            <a:r>
              <a:rPr lang="en"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p:txBody>
      </p:sp>
      <p:sp>
        <p:nvSpPr>
          <p:cNvPr id="235" name="Google Shape;235;p37"/>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36" name="Google Shape;236;p37"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nvSpPr>
        <p:spPr>
          <a:xfrm>
            <a:off x="342900" y="274625"/>
            <a:ext cx="7798800" cy="5256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Clr>
                <a:srgbClr val="572314"/>
              </a:buClr>
              <a:buSzPts val="2800"/>
              <a:buFont typeface="Times New Roman"/>
              <a:buNone/>
            </a:pPr>
            <a:r>
              <a:rPr b="1" lang="en" sz="2800">
                <a:solidFill>
                  <a:srgbClr val="572314"/>
                </a:solidFill>
                <a:latin typeface="Times New Roman"/>
                <a:ea typeface="Times New Roman"/>
                <a:cs typeface="Times New Roman"/>
                <a:sym typeface="Times New Roman"/>
              </a:rPr>
              <a:t>Experimentation: Experimental Results</a:t>
            </a:r>
            <a:r>
              <a:rPr b="1" lang="en" sz="2800">
                <a:solidFill>
                  <a:srgbClr val="572314"/>
                </a:solidFill>
                <a:latin typeface="Times New Roman"/>
                <a:ea typeface="Times New Roman"/>
                <a:cs typeface="Times New Roman"/>
                <a:sym typeface="Times New Roman"/>
              </a:rPr>
              <a:t>	contd.</a:t>
            </a:r>
            <a:endParaRPr b="1" i="0" sz="2800" u="none" cap="none" strike="noStrike">
              <a:solidFill>
                <a:srgbClr val="572314"/>
              </a:solidFill>
              <a:latin typeface="Times New Roman"/>
              <a:ea typeface="Times New Roman"/>
              <a:cs typeface="Times New Roman"/>
              <a:sym typeface="Times New Roman"/>
            </a:endParaRPr>
          </a:p>
        </p:txBody>
      </p:sp>
      <p:sp>
        <p:nvSpPr>
          <p:cNvPr id="242" name="Google Shape;242;p38"/>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descr="Code_Generated_Image" id="243" name="Google Shape;243;p38"/>
          <p:cNvPicPr preferRelativeResize="0"/>
          <p:nvPr/>
        </p:nvPicPr>
        <p:blipFill rotWithShape="1">
          <a:blip r:embed="rId3">
            <a:alphaModFix/>
          </a:blip>
          <a:srcRect b="0" l="0" r="0" t="0"/>
          <a:stretch/>
        </p:blipFill>
        <p:spPr>
          <a:xfrm>
            <a:off x="1447800" y="859610"/>
            <a:ext cx="6248400" cy="3749040"/>
          </a:xfrm>
          <a:prstGeom prst="rect">
            <a:avLst/>
          </a:prstGeom>
          <a:noFill/>
          <a:ln>
            <a:noFill/>
          </a:ln>
        </p:spPr>
      </p:pic>
      <p:sp>
        <p:nvSpPr>
          <p:cNvPr id="244" name="Google Shape;244;p38"/>
          <p:cNvSpPr txBox="1"/>
          <p:nvPr/>
        </p:nvSpPr>
        <p:spPr>
          <a:xfrm>
            <a:off x="2234100" y="4562800"/>
            <a:ext cx="4675800" cy="58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Times New Roman"/>
                <a:ea typeface="Times New Roman"/>
                <a:cs typeface="Times New Roman"/>
                <a:sym typeface="Times New Roman"/>
              </a:rPr>
              <a:t>Fig. 2: </a:t>
            </a:r>
            <a:r>
              <a:rPr lang="en" sz="1300">
                <a:solidFill>
                  <a:schemeClr val="dk1"/>
                </a:solidFill>
                <a:latin typeface="Times New Roman"/>
                <a:ea typeface="Times New Roman"/>
                <a:cs typeface="Times New Roman"/>
                <a:sym typeface="Times New Roman"/>
              </a:rPr>
              <a:t>Precision, Recall, and F1-Score evaluation of the Hybrid Llama 3/MLX architecture against industry baselines.</a:t>
            </a:r>
            <a:endParaRPr sz="1300">
              <a:solidFill>
                <a:schemeClr val="dk1"/>
              </a:solidFill>
              <a:latin typeface="Times New Roman"/>
              <a:ea typeface="Times New Roman"/>
              <a:cs typeface="Times New Roman"/>
              <a:sym typeface="Times New Roman"/>
            </a:endParaRPr>
          </a:p>
        </p:txBody>
      </p:sp>
      <p:pic>
        <p:nvPicPr>
          <p:cNvPr id="245" name="Google Shape;245;p38" title="Frame 6.png"/>
          <p:cNvPicPr preferRelativeResize="0"/>
          <p:nvPr/>
        </p:nvPicPr>
        <p:blipFill rotWithShape="1">
          <a:blip r:embed="rId4">
            <a:alphaModFix/>
          </a:blip>
          <a:srcRect b="0" l="0" r="0" t="0"/>
          <a:stretch/>
        </p:blipFill>
        <p:spPr>
          <a:xfrm>
            <a:off x="8141862" y="0"/>
            <a:ext cx="1002150" cy="1002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9"/>
          <p:cNvSpPr txBox="1"/>
          <p:nvPr/>
        </p:nvSpPr>
        <p:spPr>
          <a:xfrm>
            <a:off x="342900" y="274625"/>
            <a:ext cx="6826800" cy="5256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Clr>
                <a:srgbClr val="572314"/>
              </a:buClr>
              <a:buSzPts val="2800"/>
              <a:buFont typeface="Times New Roman"/>
              <a:buNone/>
            </a:pPr>
            <a:r>
              <a:rPr b="1" lang="en" sz="2800">
                <a:solidFill>
                  <a:srgbClr val="572314"/>
                </a:solidFill>
                <a:latin typeface="Times New Roman"/>
                <a:ea typeface="Times New Roman"/>
                <a:cs typeface="Times New Roman"/>
                <a:sym typeface="Times New Roman"/>
              </a:rPr>
              <a:t>Experimentation: Performance Analysis</a:t>
            </a:r>
            <a:endParaRPr b="1" sz="2800">
              <a:solidFill>
                <a:srgbClr val="572314"/>
              </a:solidFill>
              <a:latin typeface="Times New Roman"/>
              <a:ea typeface="Times New Roman"/>
              <a:cs typeface="Times New Roman"/>
              <a:sym typeface="Times New Roman"/>
            </a:endParaRPr>
          </a:p>
        </p:txBody>
      </p:sp>
      <p:sp>
        <p:nvSpPr>
          <p:cNvPr id="251" name="Google Shape;251;p39"/>
          <p:cNvSpPr txBox="1"/>
          <p:nvPr/>
        </p:nvSpPr>
        <p:spPr>
          <a:xfrm>
            <a:off x="342900" y="1143000"/>
            <a:ext cx="7799100" cy="2920800"/>
          </a:xfrm>
          <a:prstGeom prst="rect">
            <a:avLst/>
          </a:prstGeom>
          <a:noFill/>
          <a:ln>
            <a:noFill/>
          </a:ln>
        </p:spPr>
        <p:txBody>
          <a:bodyPr anchorCtr="0" anchor="ctr" bIns="45000" lIns="90000" spcFirstLastPara="1" rIns="90000" wrap="square" tIns="45000">
            <a:noAutofit/>
          </a:bodyPr>
          <a:lstStyle/>
          <a:p>
            <a:pPr indent="-285750" lvl="0" marL="285750" marR="0" rtl="0" algn="just">
              <a:lnSpc>
                <a:spcPct val="100000"/>
              </a:lnSpc>
              <a:spcBef>
                <a:spcPts val="0"/>
              </a:spcBef>
              <a:spcAft>
                <a:spcPts val="0"/>
              </a:spcAft>
              <a:buClr>
                <a:srgbClr val="000000"/>
              </a:buClr>
              <a:buSzPts val="1600"/>
              <a:buFont typeface="Arial"/>
              <a:buChar char="•"/>
            </a:pPr>
            <a:r>
              <a:rPr lang="en" sz="1600">
                <a:solidFill>
                  <a:schemeClr val="dk1"/>
                </a:solidFill>
                <a:latin typeface="Times New Roman"/>
                <a:ea typeface="Times New Roman"/>
                <a:cs typeface="Times New Roman"/>
                <a:sym typeface="Times New Roman"/>
              </a:rPr>
              <a:t>The Latency Reality: While the Apple MLX framework ensured Zero-Trust privacy via local execution, executing a quantized 8B parameter model was fundamentally slower than pure C-based Regex.</a:t>
            </a:r>
            <a:br>
              <a:rPr b="0" i="0" lang="en" sz="1600" cap="none" strike="noStrike">
                <a:solidFill>
                  <a:srgbClr val="000000"/>
                </a:solidFill>
                <a:latin typeface="Times New Roman"/>
                <a:ea typeface="Times New Roman"/>
                <a:cs typeface="Times New Roman"/>
                <a:sym typeface="Times New Roman"/>
              </a:rPr>
            </a:br>
            <a:endParaRPr b="0" i="0" sz="1600"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600"/>
              <a:buFont typeface="Arial"/>
              <a:buChar char="•"/>
            </a:pPr>
            <a:r>
              <a:rPr lang="en" sz="1600">
                <a:solidFill>
                  <a:schemeClr val="dk1"/>
                </a:solidFill>
                <a:latin typeface="Times New Roman"/>
                <a:ea typeface="Times New Roman"/>
                <a:cs typeface="Times New Roman"/>
                <a:sym typeface="Times New Roman"/>
              </a:rPr>
              <a:t>Pipeline Blocking: Executing sequential LLM inference on hundreds of initial Regex matches created a severe bottleneck, rendering it impractical for monolithic repository scans</a:t>
            </a:r>
            <a:r>
              <a:rPr b="0" i="0" lang="en" sz="1600" cap="none" strike="noStrike">
                <a:solidFill>
                  <a:srgbClr val="000000"/>
                </a:solidFill>
                <a:latin typeface="Times New Roman"/>
                <a:ea typeface="Times New Roman"/>
                <a:cs typeface="Times New Roman"/>
                <a:sym typeface="Times New Roman"/>
              </a:rPr>
              <a:t> in a fast-paced CI/CD environment.</a:t>
            </a:r>
            <a:endParaRPr b="0" i="0" sz="1600" cap="none" strike="noStrike">
              <a:solidFill>
                <a:srgbClr val="000000"/>
              </a:solidFill>
              <a:latin typeface="Times New Roman"/>
              <a:ea typeface="Times New Roman"/>
              <a:cs typeface="Times New Roman"/>
              <a:sym typeface="Times New Roman"/>
            </a:endParaRPr>
          </a:p>
          <a:p>
            <a:pPr indent="-184150" lvl="0" marL="285750" marR="0" rtl="0" algn="just">
              <a:lnSpc>
                <a:spcPct val="100000"/>
              </a:lnSpc>
              <a:spcBef>
                <a:spcPts val="0"/>
              </a:spcBef>
              <a:spcAft>
                <a:spcPts val="0"/>
              </a:spcAft>
              <a:buClr>
                <a:schemeClr val="dk1"/>
              </a:buClr>
              <a:buSzPts val="1600"/>
              <a:buFont typeface="Arial"/>
              <a:buNone/>
            </a:pPr>
            <a:r>
              <a:t/>
            </a:r>
            <a:endParaRPr b="0" i="0" sz="1600"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600"/>
              <a:buFont typeface="Arial"/>
              <a:buChar char="•"/>
            </a:pPr>
            <a:r>
              <a:rPr lang="en" sz="1600">
                <a:solidFill>
                  <a:schemeClr val="dk1"/>
                </a:solidFill>
                <a:latin typeface="Times New Roman"/>
                <a:ea typeface="Times New Roman"/>
                <a:cs typeface="Times New Roman"/>
                <a:sym typeface="Times New Roman"/>
              </a:rPr>
              <a:t>Prompt Engineering Impact: Implementation of a strict Few-Shot Prompting template halved the initial context processing time and stabilized outputs, but the baseline per-snippet inference speed remained a critical hurdle</a:t>
            </a:r>
            <a:r>
              <a:rPr b="0" i="0" lang="en" sz="1600" cap="none" strike="noStrike">
                <a:solidFill>
                  <a:srgbClr val="000000"/>
                </a:solidFill>
                <a:latin typeface="Times New Roman"/>
                <a:ea typeface="Times New Roman"/>
                <a:cs typeface="Times New Roman"/>
                <a:sym typeface="Times New Roman"/>
              </a:rPr>
              <a:t> for production deployment.</a:t>
            </a:r>
            <a:endParaRPr b="0" i="0" sz="1600" cap="none" strike="noStrike">
              <a:solidFill>
                <a:srgbClr val="000000"/>
              </a:solidFill>
              <a:latin typeface="Times New Roman"/>
              <a:ea typeface="Times New Roman"/>
              <a:cs typeface="Times New Roman"/>
              <a:sym typeface="Times New Roman"/>
            </a:endParaRPr>
          </a:p>
        </p:txBody>
      </p:sp>
      <p:sp>
        <p:nvSpPr>
          <p:cNvPr id="252" name="Google Shape;252;p39"/>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53" name="Google Shape;253;p39"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0"/>
          <p:cNvSpPr txBox="1"/>
          <p:nvPr/>
        </p:nvSpPr>
        <p:spPr>
          <a:xfrm>
            <a:off x="342900" y="274625"/>
            <a:ext cx="51399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lang="en" sz="2800">
                <a:solidFill>
                  <a:srgbClr val="572314"/>
                </a:solidFill>
                <a:latin typeface="Times New Roman"/>
                <a:ea typeface="Times New Roman"/>
                <a:cs typeface="Times New Roman"/>
                <a:sym typeface="Times New Roman"/>
              </a:rPr>
              <a:t>Conclusion and Future Scope</a:t>
            </a:r>
            <a:endParaRPr b="1" i="0" sz="2800" u="none" cap="none" strike="noStrike">
              <a:solidFill>
                <a:srgbClr val="572314"/>
              </a:solidFill>
              <a:latin typeface="Times New Roman"/>
              <a:ea typeface="Times New Roman"/>
              <a:cs typeface="Times New Roman"/>
              <a:sym typeface="Times New Roman"/>
            </a:endParaRPr>
          </a:p>
        </p:txBody>
      </p:sp>
      <p:sp>
        <p:nvSpPr>
          <p:cNvPr id="259" name="Google Shape;259;p40"/>
          <p:cNvSpPr txBox="1"/>
          <p:nvPr/>
        </p:nvSpPr>
        <p:spPr>
          <a:xfrm>
            <a:off x="342900" y="1143000"/>
            <a:ext cx="7799100" cy="3635100"/>
          </a:xfrm>
          <a:prstGeom prst="rect">
            <a:avLst/>
          </a:prstGeom>
          <a:noFill/>
          <a:ln>
            <a:noFill/>
          </a:ln>
        </p:spPr>
        <p:txBody>
          <a:bodyPr anchorCtr="0" anchor="ctr" bIns="45000" lIns="90000" spcFirstLastPara="1" rIns="90000" wrap="square" tIns="45000">
            <a:noAutofit/>
          </a:bodyPr>
          <a:lstStyle/>
          <a:p>
            <a:pPr indent="-374650" lvl="0" marL="342900" marR="0" rtl="0" algn="just">
              <a:lnSpc>
                <a:spcPct val="100000"/>
              </a:lnSpc>
              <a:spcBef>
                <a:spcPts val="0"/>
              </a:spcBef>
              <a:spcAft>
                <a:spcPts val="0"/>
              </a:spcAft>
              <a:buClr>
                <a:srgbClr val="000000"/>
              </a:buClr>
              <a:buSzPts val="2100"/>
              <a:buFont typeface="Times New Roman"/>
              <a:buChar char="•"/>
            </a:pPr>
            <a:r>
              <a:rPr lang="en" sz="1600">
                <a:solidFill>
                  <a:schemeClr val="dk1"/>
                </a:solidFill>
                <a:latin typeface="Times New Roman"/>
                <a:ea typeface="Times New Roman"/>
                <a:cs typeface="Times New Roman"/>
                <a:sym typeface="Times New Roman"/>
              </a:rPr>
              <a:t>Conclusion: The hybrid LLM-augmented pipeline successfully eliminated Regex context-blindness (achieving an 87.23% F1-Score) and guaranteed zero-trust data privacy via local MLX execution, definitively validating the core research hypothesis.</a:t>
            </a:r>
            <a:endParaRPr sz="1600">
              <a:solidFill>
                <a:schemeClr val="dk1"/>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Future Scope:</a:t>
            </a:r>
            <a:endParaRPr sz="1600">
              <a:solidFill>
                <a:schemeClr val="dk1"/>
              </a:solidFill>
              <a:latin typeface="Times New Roman"/>
              <a:ea typeface="Times New Roman"/>
              <a:cs typeface="Times New Roman"/>
              <a:sym typeface="Times New Roman"/>
            </a:endParaRPr>
          </a:p>
          <a:p>
            <a:pPr indent="-333375" lvl="0" marL="742950" marR="0" rtl="0" algn="just">
              <a:lnSpc>
                <a:spcPct val="100000"/>
              </a:lnSpc>
              <a:spcBef>
                <a:spcPts val="0"/>
              </a:spcBef>
              <a:spcAft>
                <a:spcPts val="0"/>
              </a:spcAft>
              <a:buClr>
                <a:srgbClr val="000000"/>
              </a:buClr>
              <a:buSzPts val="1500"/>
              <a:buFont typeface="Arial"/>
              <a:buChar char="•"/>
            </a:pPr>
            <a:r>
              <a:rPr b="0" i="0" lang="en" sz="1500" cap="none" strike="noStrike">
                <a:solidFill>
                  <a:srgbClr val="000000"/>
                </a:solidFill>
                <a:latin typeface="Times New Roman"/>
                <a:ea typeface="Times New Roman"/>
                <a:cs typeface="Times New Roman"/>
                <a:sym typeface="Times New Roman"/>
              </a:rPr>
              <a:t>Cross-Dataset Validation: The model’s current performance is heavily biased toward the CredData benchmark. </a:t>
            </a:r>
            <a:r>
              <a:rPr lang="en" sz="1500">
                <a:solidFill>
                  <a:schemeClr val="dk1"/>
                </a:solidFill>
                <a:latin typeface="Times New Roman"/>
                <a:ea typeface="Times New Roman"/>
                <a:cs typeface="Times New Roman"/>
                <a:sym typeface="Times New Roman"/>
              </a:rPr>
              <a:t>We plan to validate generalization by testing</a:t>
            </a:r>
            <a:r>
              <a:rPr b="0" i="0" lang="en" sz="1500" cap="none" strike="noStrike">
                <a:solidFill>
                  <a:srgbClr val="000000"/>
                </a:solidFill>
                <a:latin typeface="Times New Roman"/>
                <a:ea typeface="Times New Roman"/>
                <a:cs typeface="Times New Roman"/>
                <a:sym typeface="Times New Roman"/>
              </a:rPr>
              <a:t> against the FPSecretBench dataset, pending access approval from the authors.</a:t>
            </a:r>
            <a:endParaRPr b="0" i="0" sz="1500" cap="none" strike="noStrike">
              <a:solidFill>
                <a:srgbClr val="000000"/>
              </a:solidFill>
              <a:latin typeface="Times New Roman"/>
              <a:ea typeface="Times New Roman"/>
              <a:cs typeface="Times New Roman"/>
              <a:sym typeface="Times New Roman"/>
            </a:endParaRPr>
          </a:p>
          <a:p>
            <a:pPr indent="-238125" lvl="0" marL="742950" marR="0" rtl="0" algn="just">
              <a:lnSpc>
                <a:spcPct val="100000"/>
              </a:lnSpc>
              <a:spcBef>
                <a:spcPts val="0"/>
              </a:spcBef>
              <a:spcAft>
                <a:spcPts val="0"/>
              </a:spcAft>
              <a:buClr>
                <a:schemeClr val="dk1"/>
              </a:buClr>
              <a:buSzPts val="1600"/>
              <a:buFont typeface="Arial"/>
              <a:buNone/>
            </a:pPr>
            <a:r>
              <a:t/>
            </a:r>
            <a:endParaRPr b="0" i="0" sz="1500" cap="none" strike="noStrike">
              <a:solidFill>
                <a:srgbClr val="000000"/>
              </a:solidFill>
              <a:latin typeface="Times New Roman"/>
              <a:ea typeface="Times New Roman"/>
              <a:cs typeface="Times New Roman"/>
              <a:sym typeface="Times New Roman"/>
            </a:endParaRPr>
          </a:p>
          <a:p>
            <a:pPr indent="-333375" lvl="0" marL="742950" marR="0" rtl="0" algn="just">
              <a:lnSpc>
                <a:spcPct val="100000"/>
              </a:lnSpc>
              <a:spcBef>
                <a:spcPts val="0"/>
              </a:spcBef>
              <a:spcAft>
                <a:spcPts val="0"/>
              </a:spcAft>
              <a:buClr>
                <a:srgbClr val="000000"/>
              </a:buClr>
              <a:buSzPts val="1500"/>
              <a:buFont typeface="Arial"/>
              <a:buChar char="•"/>
            </a:pPr>
            <a:r>
              <a:rPr b="0" i="0" lang="en" sz="1500" cap="none" strike="noStrike">
                <a:solidFill>
                  <a:srgbClr val="000000"/>
                </a:solidFill>
                <a:latin typeface="Times New Roman"/>
                <a:ea typeface="Times New Roman"/>
                <a:cs typeface="Times New Roman"/>
                <a:sym typeface="Times New Roman"/>
              </a:rPr>
              <a:t>Aggressive Latency Mitigation: Shift research focus from detection accuracy to operational speed. Investigate batch processing through the MLX engine or aggressive model pruning to drop per-snippet inference times to a viable DevSecOps threshold.</a:t>
            </a:r>
            <a:endParaRPr b="0" i="0" sz="1500" cap="none" strike="noStrike">
              <a:solidFill>
                <a:srgbClr val="000000"/>
              </a:solidFill>
              <a:latin typeface="Times New Roman"/>
              <a:ea typeface="Times New Roman"/>
              <a:cs typeface="Times New Roman"/>
              <a:sym typeface="Times New Roman"/>
            </a:endParaRPr>
          </a:p>
          <a:p>
            <a:pPr indent="-238125" lvl="0" marL="742950" marR="0" rtl="0" algn="just">
              <a:lnSpc>
                <a:spcPct val="100000"/>
              </a:lnSpc>
              <a:spcBef>
                <a:spcPts val="0"/>
              </a:spcBef>
              <a:spcAft>
                <a:spcPts val="0"/>
              </a:spcAft>
              <a:buClr>
                <a:schemeClr val="dk1"/>
              </a:buClr>
              <a:buSzPts val="1600"/>
              <a:buFont typeface="Arial"/>
              <a:buNone/>
            </a:pPr>
            <a:r>
              <a:t/>
            </a:r>
            <a:endParaRPr b="0" i="0" sz="1500" cap="none" strike="noStrike">
              <a:solidFill>
                <a:srgbClr val="000000"/>
              </a:solidFill>
              <a:latin typeface="Times New Roman"/>
              <a:ea typeface="Times New Roman"/>
              <a:cs typeface="Times New Roman"/>
              <a:sym typeface="Times New Roman"/>
            </a:endParaRPr>
          </a:p>
          <a:p>
            <a:pPr indent="-333375" lvl="0" marL="742950" marR="0" rtl="0" algn="just">
              <a:lnSpc>
                <a:spcPct val="100000"/>
              </a:lnSpc>
              <a:spcBef>
                <a:spcPts val="0"/>
              </a:spcBef>
              <a:spcAft>
                <a:spcPts val="0"/>
              </a:spcAft>
              <a:buClr>
                <a:srgbClr val="000000"/>
              </a:buClr>
              <a:buSzPts val="1500"/>
              <a:buFont typeface="Arial"/>
              <a:buChar char="•"/>
            </a:pPr>
            <a:r>
              <a:rPr b="0" i="0" lang="en" sz="1500" cap="none" strike="noStrike">
                <a:solidFill>
                  <a:srgbClr val="000000"/>
                </a:solidFill>
                <a:latin typeface="Times New Roman"/>
                <a:ea typeface="Times New Roman"/>
                <a:cs typeface="Times New Roman"/>
                <a:sym typeface="Times New Roman"/>
              </a:rPr>
              <a:t>Pipeline Integration: Package the validated Python/MLX architecture into a deployable CLI tool or a standardized GitHub Action for seamless CI/CD pipeline integration.</a:t>
            </a:r>
            <a:endParaRPr b="0" i="0" sz="1500" cap="none" strike="noStrike">
              <a:solidFill>
                <a:srgbClr val="000000"/>
              </a:solidFill>
              <a:latin typeface="Times New Roman"/>
              <a:ea typeface="Times New Roman"/>
              <a:cs typeface="Times New Roman"/>
              <a:sym typeface="Times New Roman"/>
            </a:endParaRPr>
          </a:p>
        </p:txBody>
      </p:sp>
      <p:sp>
        <p:nvSpPr>
          <p:cNvPr id="260" name="Google Shape;260;p40"/>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61" name="Google Shape;261;p40"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1"/>
          <p:cNvSpPr txBox="1"/>
          <p:nvPr>
            <p:ph type="title"/>
          </p:nvPr>
        </p:nvSpPr>
        <p:spPr>
          <a:xfrm>
            <a:off x="342900" y="274628"/>
            <a:ext cx="1888500" cy="52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572314"/>
              </a:buClr>
              <a:buSzPts val="2500"/>
              <a:buFont typeface="Times New Roman"/>
              <a:buNone/>
            </a:pPr>
            <a:r>
              <a:rPr b="1" lang="en" sz="2800">
                <a:solidFill>
                  <a:srgbClr val="572314"/>
                </a:solidFill>
                <a:latin typeface="Times New Roman"/>
                <a:ea typeface="Times New Roman"/>
                <a:cs typeface="Times New Roman"/>
                <a:sym typeface="Times New Roman"/>
              </a:rPr>
              <a:t>References</a:t>
            </a:r>
            <a:endParaRPr b="1" sz="2800">
              <a:solidFill>
                <a:srgbClr val="572314"/>
              </a:solidFill>
              <a:latin typeface="Times New Roman"/>
              <a:ea typeface="Times New Roman"/>
              <a:cs typeface="Times New Roman"/>
              <a:sym typeface="Times New Roman"/>
            </a:endParaRPr>
          </a:p>
        </p:txBody>
      </p:sp>
      <p:sp>
        <p:nvSpPr>
          <p:cNvPr id="267" name="Google Shape;267;p41"/>
          <p:cNvSpPr txBox="1"/>
          <p:nvPr/>
        </p:nvSpPr>
        <p:spPr>
          <a:xfrm>
            <a:off x="342900" y="899300"/>
            <a:ext cx="7799100" cy="4027800"/>
          </a:xfrm>
          <a:prstGeom prst="rect">
            <a:avLst/>
          </a:prstGeom>
          <a:noFill/>
          <a:ln>
            <a:noFill/>
          </a:ln>
        </p:spPr>
        <p:txBody>
          <a:bodyPr anchorCtr="0" anchor="ctr" bIns="45700" lIns="91425" spcFirstLastPara="1" rIns="91425" wrap="square" tIns="45700">
            <a:noAutofit/>
          </a:bodyPr>
          <a:lstStyle/>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Schwarz, D. (2025) 'Countermind: A Multi-Layered Security Architecture for Large Language Models', arXiv preprint arXiv:2510.11837v1.</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Li, J. et al. (2025) 'Steering Large Language Models for Vulnerability Detection', 2025 IEEE International Conference on Acoustics, Speech and Signal Processing (ICASSP).</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Kim, M., Caccia, L., Shi, Z., Pereira, M., Côté, M.-A., Yuan, X., and Sordoni, A. (2025) 'Learning to Extract Context for Context-Aware LLM Inference', Microsoft Research.</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Jin, S. (2025) 'Large Language Models for Vulnerability Detection in Static Code Analysis: A Survey', 2025 8th International Conference on Artificial Intelligence and Big Data (ICAIBD).</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Dozono, K., Engesser, J., Hummelt, B., Roehm, T., and Pretschner, A. (2025) 'Should We Evaluate LLM Based Security Analysis Approaches on Open Source Systems?', 2025 40th IEEE/ACM International Conference on Automated Software Engineering (ASE).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Apostolidis, G. D., Kalouptsoglou, I., Siavvas, M., Kehagias, D., and Tzovaras, D. (2025) 'AI-Enhanced Static Analysis: Reducing False Alarms Using Large Language Models', 2025 IEEE International Conference on Smart Computing (SMARTCOMP).</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Guo, Z. et al. (2023) 'Mitigating False Positive Static Analysis Warnings: Progress, Challenges, and Opportunities', IEEE Transactions on Software Engineering, Vol. 49, No. 12, pp. 5154-5186.</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Muske, T. and Khedker, U. P. (2015) 'Efficient Elimination of False Positives using Static Analysis', 2015 IEEE.</a:t>
            </a:r>
            <a:endParaRPr sz="1200">
              <a:solidFill>
                <a:schemeClr val="dk1"/>
              </a:solidFill>
              <a:latin typeface="Times New Roman"/>
              <a:ea typeface="Times New Roman"/>
              <a:cs typeface="Times New Roman"/>
              <a:sym typeface="Times New Roman"/>
            </a:endParaRPr>
          </a:p>
        </p:txBody>
      </p:sp>
      <p:pic>
        <p:nvPicPr>
          <p:cNvPr id="268" name="Google Shape;268;p41"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2"/>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pic>
        <p:nvPicPr>
          <p:cNvPr id="274" name="Google Shape;274;p42" title="Gemini_Generated_Image_k7cps3k7cps3k7cp.png"/>
          <p:cNvPicPr preferRelativeResize="0"/>
          <p:nvPr/>
        </p:nvPicPr>
        <p:blipFill>
          <a:blip r:embed="rId3">
            <a:alphaModFix/>
          </a:blip>
          <a:stretch>
            <a:fillRect/>
          </a:stretch>
        </p:blipFill>
        <p:spPr>
          <a:xfrm>
            <a:off x="1360225" y="780813"/>
            <a:ext cx="6423552" cy="35818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lar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