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1" r:id="rId5"/>
    <p:sldMasterId id="214748367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5143500" cx="9144000"/>
  <p:notesSz cx="6858000" cy="9144000"/>
  <p:embeddedFontLst>
    <p:embeddedFont>
      <p:font typeface="Quicksand"/>
      <p:regular r:id="rId25"/>
      <p:bold r:id="rId26"/>
    </p:embeddedFont>
    <p:embeddedFont>
      <p:font typeface="Gill Sans"/>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216">
          <p15:clr>
            <a:srgbClr val="747775"/>
          </p15:clr>
        </p15:guide>
        <p15:guide id="2" orient="horz" pos="504">
          <p15:clr>
            <a:srgbClr val="747775"/>
          </p15:clr>
        </p15:guide>
        <p15:guide id="3" orient="horz" pos="173">
          <p15:clr>
            <a:srgbClr val="747775"/>
          </p15:clr>
        </p15:guide>
        <p15:guide id="4" orient="horz" pos="72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1615823-763D-4289-AFF7-78FB870AD9B0}">
  <a:tblStyle styleId="{91615823-763D-4289-AFF7-78FB870AD9B0}"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
        <p:guide pos="504" orient="horz"/>
        <p:guide pos="173" orient="horz"/>
        <p:guide pos="72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font" Target="fonts/Quicksand-bold.fntdata"/><Relationship Id="rId25" Type="http://schemas.openxmlformats.org/officeDocument/2006/relationships/font" Target="fonts/Quicksand-regular.fntdata"/><Relationship Id="rId28" Type="http://schemas.openxmlformats.org/officeDocument/2006/relationships/font" Target="fonts/GillSans-bold.fntdata"/><Relationship Id="rId27" Type="http://schemas.openxmlformats.org/officeDocument/2006/relationships/font" Target="fonts/GillSans-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ddffdbfb35_2_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Good morning. I'm Dinanath, representing Group 3 alongside Satyajeet, Avignyan, and Ashutosh. Today, we are presenting our Review-1 progress on the automated detection of hardcoded secrets using LLM-augmented static analysis.</a:t>
            </a:r>
            <a:endParaRPr/>
          </a:p>
        </p:txBody>
      </p:sp>
      <p:sp>
        <p:nvSpPr>
          <p:cNvPr id="136" name="Google Shape;136;g3ddffdbfb35_2_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ddffdbfb35_2_9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g3ddffdbfb35_2_95:notes"/>
          <p:cNvSpPr txBox="1"/>
          <p:nvPr>
            <p:ph idx="1" type="body"/>
          </p:nvPr>
        </p:nvSpPr>
        <p:spPr>
          <a:xfrm>
            <a:off x="685512" y="4400392"/>
            <a:ext cx="5486976" cy="3600691"/>
          </a:xfrm>
          <a:prstGeom prst="rect">
            <a:avLst/>
          </a:prstGeom>
          <a:noFill/>
          <a:ln>
            <a:noFill/>
          </a:ln>
        </p:spPr>
        <p:txBody>
          <a:bodyPr anchorCtr="0" anchor="t" bIns="40675" lIns="81350" spcFirstLastPara="1" rIns="81350" wrap="square" tIns="40675">
            <a:noAutofit/>
          </a:bodyPr>
          <a:lstStyle/>
          <a:p>
            <a:pPr indent="0" lvl="0" marL="0" rtl="0" algn="l">
              <a:spcBef>
                <a:spcPts val="0"/>
              </a:spcBef>
              <a:spcAft>
                <a:spcPts val="0"/>
              </a:spcAft>
              <a:buNone/>
            </a:pPr>
            <a:r>
              <a:rPr lang="en" sz="1200"/>
              <a:t>Our presentation will move rapidly from the problem of alert fatigue to our proposed hybrid architecture, followed by our current implementation results and the bottlenecks we are addressing.</a:t>
            </a:r>
            <a:endParaRPr sz="1200"/>
          </a:p>
        </p:txBody>
      </p:sp>
      <p:sp>
        <p:nvSpPr>
          <p:cNvPr id="148" name="Google Shape;148;g3ddffdbfb35_2_95:notes"/>
          <p:cNvSpPr txBox="1"/>
          <p:nvPr>
            <p:ph idx="12" type="sldNum"/>
          </p:nvPr>
        </p:nvSpPr>
        <p:spPr>
          <a:xfrm>
            <a:off x="3884088" y="8685377"/>
            <a:ext cx="2972472" cy="458912"/>
          </a:xfrm>
          <a:prstGeom prst="rect">
            <a:avLst/>
          </a:prstGeom>
          <a:noFill/>
          <a:ln>
            <a:noFill/>
          </a:ln>
        </p:spPr>
        <p:txBody>
          <a:bodyPr anchorCtr="0" anchor="b" bIns="40675" lIns="81350" spcFirstLastPara="1" rIns="81350" wrap="square" tIns="40675">
            <a:noAutofit/>
          </a:bodyPr>
          <a:lstStyle/>
          <a:p>
            <a:pPr indent="0" lvl="0" marL="0" rtl="0" algn="r">
              <a:spcBef>
                <a:spcPts val="0"/>
              </a:spcBef>
              <a:spcAft>
                <a:spcPts val="0"/>
              </a:spcAft>
              <a:buNone/>
            </a:pPr>
            <a:fld id="{00000000-1234-1234-1234-123412341234}" type="slidenum">
              <a:rPr lang="en" sz="1200"/>
              <a:t>‹#›</a:t>
            </a:fld>
            <a:endParaRPr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dffdbfb35_2_1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In DevSecOps, traditional static secret scanners rely heavily on Regex and Entropy. The fatal flaw here is a lack of semantic understanding—they flag dummy credentials and safe test variables, creating massive False Positive Rates. This leads to severe alert fatigue for security teams. Our primary objective is to implement a two-stage hybrid scanning pipeline to slash these false positives without compromising our recall capabilities. Furthermore, we are committed to keeping this zero-trust by executing the LLM entirely offline.</a:t>
            </a:r>
            <a:endParaRPr/>
          </a:p>
        </p:txBody>
      </p:sp>
      <p:sp>
        <p:nvSpPr>
          <p:cNvPr id="156" name="Google Shape;156;g3ddffdbfb35_2_1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ddffdbfb35_2_11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In DevSecOps, traditional static secret scanners rely heavily on Regex and Entropy. The fatal flaw here is a lack of semantic understanding—they flag dummy credentials and safe test variables, creating massive False Positive Rates. This leads to severe alert fatigue for security teams. Our primary objective is to implement a two-stage hybrid scanning pipeline to slash these false positives without compromising our recall capabilities. Furthermore, we are committed to keeping this zero-trust by executing the LLM entirely offline.</a:t>
            </a:r>
            <a:endParaRPr/>
          </a:p>
        </p:txBody>
      </p:sp>
      <p:sp>
        <p:nvSpPr>
          <p:cNvPr id="164" name="Google Shape;164;g3ddffdbfb35_2_11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ddffdbfb35_2_11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analyzed current literature and existing solutions to establish our baseline. The consensus is that while LLMs improve accuracy, they introduce new, restrictive barriers in real-world application.</a:t>
            </a:r>
            <a:endParaRPr/>
          </a:p>
        </p:txBody>
      </p:sp>
      <p:sp>
        <p:nvSpPr>
          <p:cNvPr id="172" name="Google Shape;172;g3ddffdbfb35_2_11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ddffdbfb35_2_125: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analyzed current literature and existing solutions to establish our baseline. The consensus is that while LLMs improve accuracy, they introduce new, restrictive barriers in real-world application.</a:t>
            </a:r>
            <a:endParaRPr/>
          </a:p>
        </p:txBody>
      </p:sp>
      <p:sp>
        <p:nvSpPr>
          <p:cNvPr id="181" name="Google Shape;181;g3ddffdbfb35_2_12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ddffdbfb35_2_13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identified three major limitations in current research: token inefficiency, context blindness, and data privacy. Sending raw source code to external APIs like OpenAI violates zero-trust models. To solve this, we use a cascading filter. We use Regex as a Stage-1 pre-filter, and only send a strict 11-line Abstract Syntax Tree context to the LLM. To guarantee data privacy, we deploy a 4-bit quantized Llama 3 8B model locally using the Apple MLX framework.</a:t>
            </a:r>
            <a:endParaRPr/>
          </a:p>
        </p:txBody>
      </p:sp>
      <p:sp>
        <p:nvSpPr>
          <p:cNvPr id="190" name="Google Shape;190;g3ddffdbfb35_2_13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ddffdbfb35_2_14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We identified three major limitations in current research: token inefficiency, context blindness, and data privacy. Sending raw source code to external APIs like OpenAI violates zero-trust models. To solve this, we use a cascading filter. We use Regex as a Stage-1 pre-filter, and only send a strict 11-line Abstract Syntax Tree context to the LLM. To guarantee data privacy, we deploy a 4-bit quantized Llama 3 8B model locally using the Apple MLX framework.</a:t>
            </a:r>
            <a:endParaRPr/>
          </a:p>
        </p:txBody>
      </p:sp>
      <p:sp>
        <p:nvSpPr>
          <p:cNvPr id="198" name="Google Shape;198;g3ddffdbfb35_2_14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ddffdbfb35_2_14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Here is the schematic of our model. We are evaluating this architecture against the open-source CredData benchmark, which contains roughly 27,000 lines of real-world code. Everything is orchestrated in Python and runs locally on Apple Silicon utilizing Unified Memory.</a:t>
            </a:r>
            <a:endParaRPr/>
          </a:p>
        </p:txBody>
      </p:sp>
      <p:sp>
        <p:nvSpPr>
          <p:cNvPr id="206" name="Google Shape;206;g3ddffdbfb35_2_14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ddffdbfb35_2_156: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Here is the schematic of our model. We are evaluating this architecture against the open-source CredData benchmark, which contains roughly 27,000 lines of real-world code. Everything is orchestrated in Python and runs locally on Apple Silicon utilizing Unified Memory.</a:t>
            </a:r>
            <a:endParaRPr/>
          </a:p>
        </p:txBody>
      </p:sp>
      <p:sp>
        <p:nvSpPr>
          <p:cNvPr id="215" name="Google Shape;215;g3ddffdbfb35_2_156: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ddffdbfb35_2_16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Regarding our progress, Phase 1—the Regex and AST context extraction—and Phase 2—the local MLX inference—are fully operational. We have successfully fine-tuned the model using LoRA at 3000 iterations to enforce strict JSON output parsing, and we have scaled our testing to the full CredData dataset.</a:t>
            </a:r>
            <a:endParaRPr/>
          </a:p>
        </p:txBody>
      </p:sp>
      <p:sp>
        <p:nvSpPr>
          <p:cNvPr id="223" name="Google Shape;223;g3ddffdbfb35_2_16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de007c11df_0_0:notes"/>
          <p:cNvSpPr txBox="1"/>
          <p:nvPr>
            <p:ph idx="1" type="body"/>
          </p:nvPr>
        </p:nvSpPr>
        <p:spPr>
          <a:xfrm>
            <a:off x="685512" y="4400392"/>
            <a:ext cx="5487000" cy="3600600"/>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 baseline results expose the 'context blindness' of traditional tools. In our tests, TruffleHog failed entirely with a 0.0123 recall, while Gitleaks missed 74% of actual secrets. In contrast, our hybrid model achieved an 87% overall accuracy. We maintained a highly competitive Precision of 0.8117 while surging our Recall to 0.9427. The F1-Score sits at a dominant 0.8723.</a:t>
            </a:r>
            <a:endParaRPr/>
          </a:p>
        </p:txBody>
      </p:sp>
      <p:sp>
        <p:nvSpPr>
          <p:cNvPr id="231" name="Google Shape;231;g3de007c11df_0_0:notes"/>
          <p:cNvSpPr/>
          <p:nvPr>
            <p:ph idx="2" type="sldImg"/>
          </p:nvPr>
        </p:nvSpPr>
        <p:spPr>
          <a:xfrm>
            <a:off x="519895" y="1143206"/>
            <a:ext cx="58182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dffdbfb35_2_17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 baseline results expose the 'context blindness' of traditional tools. In our tests, TruffleHog failed entirely with a 0.0123 recall, while Gitleaks missed 74% of actual secrets. In contrast, our hybrid model achieved an 87% overall accuracy. We maintained a highly competitive Precision of 0.8117 while surging our Recall to 0.9427. The F1-Score sits at a dominant 0.8723.</a:t>
            </a:r>
            <a:endParaRPr/>
          </a:p>
        </p:txBody>
      </p:sp>
      <p:sp>
        <p:nvSpPr>
          <p:cNvPr id="239" name="Google Shape;239;g3ddffdbfb35_2_17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ddffdbfb35_2_1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However, we must address the operational reality: executing this 1,000-hit subset took 3.5 hours locally. Sequential LLM inference is currently a severe bottleneck that makes monolithic repository scans impractical for fast-paced CI/CD pipelines. Moving forward, our priority shifts aggressively from detection accuracy to operational speed. We will investigate batch processing and model pruning to bring inference times down to viable thresholds, and we will validate our generalization against the FPSecretBench dataset before packaging this as a deployable GitHub Action.</a:t>
            </a:r>
            <a:endParaRPr/>
          </a:p>
        </p:txBody>
      </p:sp>
      <p:sp>
        <p:nvSpPr>
          <p:cNvPr id="248" name="Google Shape;248;g3ddffdbfb35_2_1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ddffdbfb35_2_191: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However, we must address the operational reality: executing this 1,000-hit subset took 3.5 hours locally. Sequential LLM inference is currently a severe bottleneck that makes monolithic repository scans impractical for fast-paced CI/CD pipelines. Moving forward, our priority shifts aggressively from detection accuracy to operational speed. We will investigate batch processing and model pruning to bring inference times down to viable thresholds, and we will validate our generalization against the FPSecretBench dataset before packaging this as a deployable GitHub Action.</a:t>
            </a:r>
            <a:endParaRPr/>
          </a:p>
        </p:txBody>
      </p:sp>
      <p:sp>
        <p:nvSpPr>
          <p:cNvPr id="256" name="Google Shape;256;g3ddffdbfb35_2_191: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ddffdbfb35_2_198: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These are the references that ground our methodology. Thank you everyone, we are now open to your questions.</a:t>
            </a:r>
            <a:endParaRPr/>
          </a:p>
        </p:txBody>
      </p:sp>
      <p:sp>
        <p:nvSpPr>
          <p:cNvPr id="264" name="Google Shape;264;g3ddffdbfb35_2_198: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ddffdbfb35_2_2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solidFill>
                  <a:schemeClr val="dk1"/>
                </a:solidFill>
              </a:rPr>
              <a:t>These are the references that ground our methodology. Thank you everyone, we are now open to your questions.</a:t>
            </a:r>
            <a:endParaRPr/>
          </a:p>
        </p:txBody>
      </p:sp>
      <p:sp>
        <p:nvSpPr>
          <p:cNvPr id="271" name="Google Shape;271;g3ddffdbfb35_2_2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8" name="Shape 58"/>
        <p:cNvGrpSpPr/>
        <p:nvPr/>
      </p:nvGrpSpPr>
      <p:grpSpPr>
        <a:xfrm>
          <a:off x="0" y="0"/>
          <a:ext cx="0" cy="0"/>
          <a:chOff x="0" y="0"/>
          <a:chExt cx="0" cy="0"/>
        </a:xfrm>
      </p:grpSpPr>
      <p:sp>
        <p:nvSpPr>
          <p:cNvPr id="59" name="Google Shape;59;p14"/>
          <p:cNvSpPr txBox="1"/>
          <p:nvPr>
            <p:ph type="title"/>
          </p:nvPr>
        </p:nvSpPr>
        <p:spPr>
          <a:xfrm>
            <a:off x="715100" y="535000"/>
            <a:ext cx="7708800" cy="572700"/>
          </a:xfrm>
          <a:prstGeom prst="rect">
            <a:avLst/>
          </a:prstGeom>
          <a:noFill/>
          <a:ln>
            <a:noFill/>
          </a:ln>
        </p:spPr>
        <p:txBody>
          <a:bodyPr anchorCtr="0" anchor="b" bIns="91425" lIns="91425" spcFirstLastPara="1" rIns="91425" wrap="square" tIns="91425">
            <a:noAutofit/>
          </a:bodyPr>
          <a:lstStyle>
            <a:lvl1pPr lvl="0" algn="l">
              <a:spcBef>
                <a:spcPts val="0"/>
              </a:spcBef>
              <a:spcAft>
                <a:spcPts val="0"/>
              </a:spcAft>
              <a:buClr>
                <a:schemeClr val="dk2"/>
              </a:buClr>
              <a:buSzPts val="2500"/>
              <a:buFont typeface="Arial"/>
              <a:buNone/>
              <a:defRPr sz="2500"/>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p:txBody>
      </p:sp>
      <p:sp>
        <p:nvSpPr>
          <p:cNvPr id="60" name="Google Shape;60;p14"/>
          <p:cNvSpPr txBox="1"/>
          <p:nvPr>
            <p:ph idx="1" type="body"/>
          </p:nvPr>
        </p:nvSpPr>
        <p:spPr>
          <a:xfrm>
            <a:off x="720000" y="1430950"/>
            <a:ext cx="7704000" cy="31776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1pPr>
            <a:lvl2pPr indent="-304800" lvl="1" marL="914400" algn="l">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2pPr>
            <a:lvl3pPr indent="-304800" lvl="2" marL="1371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3pPr>
            <a:lvl4pPr indent="-304800" lvl="3" marL="1828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4pPr>
            <a:lvl5pPr indent="-304800" lvl="4" marL="22860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5pPr>
            <a:lvl6pPr indent="-304800" lvl="5" marL="27432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6pPr>
            <a:lvl7pPr indent="-304800" lvl="6" marL="32004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7pPr>
            <a:lvl8pPr indent="-304800" lvl="7" marL="3657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8pPr>
            <a:lvl9pPr indent="-304800" lvl="8" marL="4114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1" name="Shape 61"/>
        <p:cNvGrpSpPr/>
        <p:nvPr/>
      </p:nvGrpSpPr>
      <p:grpSpPr>
        <a:xfrm>
          <a:off x="0" y="0"/>
          <a:ext cx="0" cy="0"/>
          <a:chOff x="0" y="0"/>
          <a:chExt cx="0" cy="0"/>
        </a:xfrm>
      </p:grpSpPr>
      <p:sp>
        <p:nvSpPr>
          <p:cNvPr id="62" name="Google Shape;62;p1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1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FFFFFF"/>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5" name="Shape 65"/>
        <p:cNvGrpSpPr/>
        <p:nvPr/>
      </p:nvGrpSpPr>
      <p:grpSpPr>
        <a:xfrm>
          <a:off x="0" y="0"/>
          <a:ext cx="0" cy="0"/>
          <a:chOff x="0" y="0"/>
          <a:chExt cx="0" cy="0"/>
        </a:xfrm>
      </p:grpSpPr>
      <p:sp>
        <p:nvSpPr>
          <p:cNvPr id="66" name="Google Shape;66;p16"/>
          <p:cNvSpPr txBox="1"/>
          <p:nvPr>
            <p:ph type="ctrTitle"/>
          </p:nvPr>
        </p:nvSpPr>
        <p:spPr>
          <a:xfrm>
            <a:off x="685800" y="1028700"/>
            <a:ext cx="7848600" cy="1445419"/>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5400"/>
              <a:buFont typeface="Arial"/>
              <a:buNone/>
              <a:defRPr sz="54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16"/>
          <p:cNvSpPr txBox="1"/>
          <p:nvPr>
            <p:ph idx="1" type="subTitle"/>
          </p:nvPr>
        </p:nvSpPr>
        <p:spPr>
          <a:xfrm>
            <a:off x="685800" y="2628900"/>
            <a:ext cx="6400800" cy="1314450"/>
          </a:xfrm>
          <a:prstGeom prst="rect">
            <a:avLst/>
          </a:prstGeom>
          <a:noFill/>
          <a:ln>
            <a:noFill/>
          </a:ln>
        </p:spPr>
        <p:txBody>
          <a:bodyPr anchorCtr="0" anchor="t" bIns="45700" lIns="91425" spcFirstLastPara="1" rIns="91425" wrap="square" tIns="45700">
            <a:normAutofit/>
          </a:bodyPr>
          <a:lstStyle>
            <a:lvl1pPr lvl="0" algn="l">
              <a:spcBef>
                <a:spcPts val="560"/>
              </a:spcBef>
              <a:spcAft>
                <a:spcPts val="0"/>
              </a:spcAft>
              <a:buSzPts val="2380"/>
              <a:buNone/>
              <a:defRPr>
                <a:solidFill>
                  <a:srgbClr val="3F3F3F"/>
                </a:solidFill>
              </a:defRPr>
            </a:lvl1pPr>
            <a:lvl2pPr lvl="1" algn="ctr">
              <a:spcBef>
                <a:spcPts val="480"/>
              </a:spcBef>
              <a:spcAft>
                <a:spcPts val="0"/>
              </a:spcAft>
              <a:buSzPts val="2040"/>
              <a:buNone/>
              <a:defRPr>
                <a:solidFill>
                  <a:srgbClr val="888888"/>
                </a:solidFill>
              </a:defRPr>
            </a:lvl2pPr>
            <a:lvl3pPr lvl="2" algn="ctr">
              <a:spcBef>
                <a:spcPts val="400"/>
              </a:spcBef>
              <a:spcAft>
                <a:spcPts val="0"/>
              </a:spcAft>
              <a:buSzPts val="1800"/>
              <a:buNone/>
              <a:defRPr>
                <a:solidFill>
                  <a:srgbClr val="888888"/>
                </a:solidFill>
              </a:defRPr>
            </a:lvl3pPr>
            <a:lvl4pPr lvl="3" algn="ctr">
              <a:spcBef>
                <a:spcPts val="360"/>
              </a:spcBef>
              <a:spcAft>
                <a:spcPts val="0"/>
              </a:spcAft>
              <a:buSzPts val="1800"/>
              <a:buNone/>
              <a:defRPr>
                <a:solidFill>
                  <a:srgbClr val="888888"/>
                </a:solidFill>
              </a:defRPr>
            </a:lvl4pPr>
            <a:lvl5pPr lvl="4" algn="ctr">
              <a:spcBef>
                <a:spcPts val="320"/>
              </a:spcBef>
              <a:spcAft>
                <a:spcPts val="0"/>
              </a:spcAft>
              <a:buSzPts val="1600"/>
              <a:buNone/>
              <a:defRPr>
                <a:solidFill>
                  <a:srgbClr val="888888"/>
                </a:solidFill>
              </a:defRPr>
            </a:lvl5pPr>
            <a:lvl6pPr lvl="5" algn="ctr">
              <a:spcBef>
                <a:spcPts val="260"/>
              </a:spcBef>
              <a:spcAft>
                <a:spcPts val="0"/>
              </a:spcAft>
              <a:buSzPts val="1300"/>
              <a:buNone/>
              <a:defRPr>
                <a:solidFill>
                  <a:srgbClr val="888888"/>
                </a:solidFill>
              </a:defRPr>
            </a:lvl6pPr>
            <a:lvl7pPr lvl="6" algn="ctr">
              <a:spcBef>
                <a:spcPts val="260"/>
              </a:spcBef>
              <a:spcAft>
                <a:spcPts val="0"/>
              </a:spcAft>
              <a:buSzPts val="1300"/>
              <a:buNone/>
              <a:defRPr>
                <a:solidFill>
                  <a:srgbClr val="888888"/>
                </a:solidFill>
              </a:defRPr>
            </a:lvl7pPr>
            <a:lvl8pPr lvl="7" algn="ctr">
              <a:spcBef>
                <a:spcPts val="260"/>
              </a:spcBef>
              <a:spcAft>
                <a:spcPts val="0"/>
              </a:spcAft>
              <a:buSzPts val="1300"/>
              <a:buNone/>
              <a:defRPr>
                <a:solidFill>
                  <a:srgbClr val="888888"/>
                </a:solidFill>
              </a:defRPr>
            </a:lvl8pPr>
            <a:lvl9pPr lvl="8" algn="ctr">
              <a:spcBef>
                <a:spcPts val="260"/>
              </a:spcBef>
              <a:spcAft>
                <a:spcPts val="0"/>
              </a:spcAft>
              <a:buSzPts val="1300"/>
              <a:buNone/>
              <a:defRPr>
                <a:solidFill>
                  <a:srgbClr val="888888"/>
                </a:solidFill>
              </a:defRPr>
            </a:lvl9pPr>
          </a:lstStyle>
          <a:p/>
        </p:txBody>
      </p:sp>
      <p:sp>
        <p:nvSpPr>
          <p:cNvPr id="68" name="Google Shape;68;p16"/>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6"/>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cxnSp>
        <p:nvCxnSpPr>
          <p:cNvPr id="71" name="Google Shape;71;p16"/>
          <p:cNvCxnSpPr/>
          <p:nvPr/>
        </p:nvCxnSpPr>
        <p:spPr>
          <a:xfrm>
            <a:off x="685800" y="2548890"/>
            <a:ext cx="7848600" cy="1191"/>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7"/>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7"/>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58140" lvl="1" marL="914400" algn="l">
              <a:spcBef>
                <a:spcPts val="480"/>
              </a:spcBef>
              <a:spcAft>
                <a:spcPts val="0"/>
              </a:spcAft>
              <a:buClr>
                <a:schemeClr val="accent1"/>
              </a:buClr>
              <a:buSzPts val="204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Clr>
                <a:schemeClr val="accent1"/>
              </a:buClr>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75" name="Google Shape;75;p17"/>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7"/>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7"/>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2"/>
        </a:solidFill>
      </p:bgPr>
    </p:bg>
    <p:spTree>
      <p:nvGrpSpPr>
        <p:cNvPr id="78" name="Shape 78"/>
        <p:cNvGrpSpPr/>
        <p:nvPr/>
      </p:nvGrpSpPr>
      <p:grpSpPr>
        <a:xfrm>
          <a:off x="0" y="0"/>
          <a:ext cx="0" cy="0"/>
          <a:chOff x="0" y="0"/>
          <a:chExt cx="0" cy="0"/>
        </a:xfrm>
      </p:grpSpPr>
      <p:sp>
        <p:nvSpPr>
          <p:cNvPr id="79" name="Google Shape;79;p18"/>
          <p:cNvSpPr txBox="1"/>
          <p:nvPr>
            <p:ph type="title"/>
          </p:nvPr>
        </p:nvSpPr>
        <p:spPr>
          <a:xfrm>
            <a:off x="722313" y="1771650"/>
            <a:ext cx="7772400" cy="1650206"/>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2"/>
              </a:buClr>
              <a:buSzPts val="4800"/>
              <a:buFont typeface="Arial"/>
              <a:buNone/>
              <a:defRPr b="0"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8"/>
          <p:cNvSpPr txBox="1"/>
          <p:nvPr>
            <p:ph idx="1" type="body"/>
          </p:nvPr>
        </p:nvSpPr>
        <p:spPr>
          <a:xfrm>
            <a:off x="722313" y="3470149"/>
            <a:ext cx="7772400" cy="1125140"/>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SzPts val="2040"/>
              <a:buNone/>
              <a:defRPr sz="2400">
                <a:solidFill>
                  <a:schemeClr val="lt2"/>
                </a:solidFill>
              </a:defRPr>
            </a:lvl1pPr>
            <a:lvl2pPr indent="-228600" lvl="1" marL="914400" algn="l">
              <a:spcBef>
                <a:spcPts val="360"/>
              </a:spcBef>
              <a:spcAft>
                <a:spcPts val="0"/>
              </a:spcAft>
              <a:buSzPts val="1530"/>
              <a:buNone/>
              <a:defRPr sz="1800">
                <a:solidFill>
                  <a:schemeClr val="lt1"/>
                </a:solidFill>
              </a:defRPr>
            </a:lvl2pPr>
            <a:lvl3pPr indent="-228600" lvl="2" marL="1371600" algn="l">
              <a:spcBef>
                <a:spcPts val="320"/>
              </a:spcBef>
              <a:spcAft>
                <a:spcPts val="0"/>
              </a:spcAft>
              <a:buSzPts val="1440"/>
              <a:buNone/>
              <a:defRPr sz="1600">
                <a:solidFill>
                  <a:schemeClr val="lt1"/>
                </a:solidFill>
              </a:defRPr>
            </a:lvl3pPr>
            <a:lvl4pPr indent="-228600" lvl="3" marL="1828800" algn="l">
              <a:spcBef>
                <a:spcPts val="280"/>
              </a:spcBef>
              <a:spcAft>
                <a:spcPts val="0"/>
              </a:spcAft>
              <a:buSzPts val="1400"/>
              <a:buNone/>
              <a:defRPr sz="1400">
                <a:solidFill>
                  <a:schemeClr val="lt1"/>
                </a:solidFill>
              </a:defRPr>
            </a:lvl4pPr>
            <a:lvl5pPr indent="-228600" lvl="4" marL="2286000" algn="l">
              <a:spcBef>
                <a:spcPts val="280"/>
              </a:spcBef>
              <a:spcAft>
                <a:spcPts val="0"/>
              </a:spcAft>
              <a:buSzPts val="1400"/>
              <a:buNone/>
              <a:defRPr sz="1400">
                <a:solidFill>
                  <a:schemeClr val="lt1"/>
                </a:solidFill>
              </a:defRPr>
            </a:lvl5pPr>
            <a:lvl6pPr indent="-228600" lvl="5" marL="2743200" algn="l">
              <a:spcBef>
                <a:spcPts val="280"/>
              </a:spcBef>
              <a:spcAft>
                <a:spcPts val="0"/>
              </a:spcAft>
              <a:buSzPts val="1400"/>
              <a:buNone/>
              <a:defRPr sz="1400">
                <a:solidFill>
                  <a:schemeClr val="lt1"/>
                </a:solidFill>
              </a:defRPr>
            </a:lvl6pPr>
            <a:lvl7pPr indent="-228600" lvl="6" marL="3200400" algn="l">
              <a:spcBef>
                <a:spcPts val="280"/>
              </a:spcBef>
              <a:spcAft>
                <a:spcPts val="0"/>
              </a:spcAft>
              <a:buSzPts val="1400"/>
              <a:buNone/>
              <a:defRPr sz="1400">
                <a:solidFill>
                  <a:schemeClr val="lt1"/>
                </a:solidFill>
              </a:defRPr>
            </a:lvl7pPr>
            <a:lvl8pPr indent="-228600" lvl="7" marL="3657600" algn="l">
              <a:spcBef>
                <a:spcPts val="280"/>
              </a:spcBef>
              <a:spcAft>
                <a:spcPts val="0"/>
              </a:spcAft>
              <a:buSzPts val="1400"/>
              <a:buNone/>
              <a:defRPr sz="1400">
                <a:solidFill>
                  <a:schemeClr val="lt1"/>
                </a:solidFill>
              </a:defRPr>
            </a:lvl8pPr>
            <a:lvl9pPr indent="-228600" lvl="8" marL="4114800" algn="l">
              <a:spcBef>
                <a:spcPts val="280"/>
              </a:spcBef>
              <a:spcAft>
                <a:spcPts val="0"/>
              </a:spcAft>
              <a:buSzPts val="1400"/>
              <a:buNone/>
              <a:defRPr sz="1400">
                <a:solidFill>
                  <a:schemeClr val="lt1"/>
                </a:solidFill>
              </a:defRPr>
            </a:lvl9pPr>
          </a:lstStyle>
          <a:p/>
        </p:txBody>
      </p:sp>
      <p:sp>
        <p:nvSpPr>
          <p:cNvPr id="81" name="Google Shape;81;p18"/>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8"/>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8"/>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84" name="Google Shape;84;p18"/>
          <p:cNvCxnSpPr/>
          <p:nvPr/>
        </p:nvCxnSpPr>
        <p:spPr>
          <a:xfrm>
            <a:off x="731520" y="3449574"/>
            <a:ext cx="7848600" cy="1191"/>
          </a:xfrm>
          <a:prstGeom prst="straightConnector1">
            <a:avLst/>
          </a:prstGeom>
          <a:noFill/>
          <a:ln cap="flat" cmpd="sng" w="19050">
            <a:solidFill>
              <a:schemeClr val="lt2"/>
            </a:solidFill>
            <a:prstDash val="solid"/>
            <a:round/>
            <a:headEnd len="sm" w="sm" type="none"/>
            <a:tailEnd len="sm" w="sm"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5" name="Shape 85"/>
        <p:cNvGrpSpPr/>
        <p:nvPr/>
      </p:nvGrpSpPr>
      <p:grpSpPr>
        <a:xfrm>
          <a:off x="0" y="0"/>
          <a:ext cx="0" cy="0"/>
          <a:chOff x="0" y="0"/>
          <a:chExt cx="0" cy="0"/>
        </a:xfrm>
      </p:grpSpPr>
      <p:sp>
        <p:nvSpPr>
          <p:cNvPr id="86" name="Google Shape;86;p19"/>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9"/>
          <p:cNvSpPr txBox="1"/>
          <p:nvPr>
            <p:ph idx="1" type="body"/>
          </p:nvPr>
        </p:nvSpPr>
        <p:spPr>
          <a:xfrm>
            <a:off x="457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8" name="Google Shape;88;p19"/>
          <p:cNvSpPr txBox="1"/>
          <p:nvPr>
            <p:ph idx="2" type="body"/>
          </p:nvPr>
        </p:nvSpPr>
        <p:spPr>
          <a:xfrm>
            <a:off x="4648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9" name="Google Shape;89;p19"/>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19"/>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1" name="Google Shape;91;p19"/>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2" name="Shape 92"/>
        <p:cNvGrpSpPr/>
        <p:nvPr/>
      </p:nvGrpSpPr>
      <p:grpSpPr>
        <a:xfrm>
          <a:off x="0" y="0"/>
          <a:ext cx="0" cy="0"/>
          <a:chOff x="0" y="0"/>
          <a:chExt cx="0" cy="0"/>
        </a:xfrm>
      </p:grpSpPr>
      <p:sp>
        <p:nvSpPr>
          <p:cNvPr id="93" name="Google Shape;93;p20"/>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4" name="Google Shape;94;p20"/>
          <p:cNvSpPr txBox="1"/>
          <p:nvPr>
            <p:ph idx="1" type="body"/>
          </p:nvPr>
        </p:nvSpPr>
        <p:spPr>
          <a:xfrm>
            <a:off x="45720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5" name="Google Shape;95;p20"/>
          <p:cNvSpPr txBox="1"/>
          <p:nvPr>
            <p:ph idx="2" type="body"/>
          </p:nvPr>
        </p:nvSpPr>
        <p:spPr>
          <a:xfrm>
            <a:off x="45720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6" name="Google Shape;96;p20"/>
          <p:cNvSpPr txBox="1"/>
          <p:nvPr>
            <p:ph idx="3" type="body"/>
          </p:nvPr>
        </p:nvSpPr>
        <p:spPr>
          <a:xfrm>
            <a:off x="475488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latin typeface="Arial"/>
                <a:ea typeface="Arial"/>
                <a:cs typeface="Arial"/>
                <a:sym typeface="Aria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7" name="Google Shape;97;p20"/>
          <p:cNvSpPr txBox="1"/>
          <p:nvPr>
            <p:ph idx="4" type="body"/>
          </p:nvPr>
        </p:nvSpPr>
        <p:spPr>
          <a:xfrm>
            <a:off x="475488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8" name="Google Shape;98;p20"/>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9" name="Google Shape;99;p20"/>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0" name="Google Shape;100;p20"/>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a:lvl1pPr>
            <a:lvl2pPr indent="0" lvl="1" marL="0" algn="ctr">
              <a:spcBef>
                <a:spcPts val="0"/>
              </a:spcBef>
              <a:buNone/>
              <a:defRPr/>
            </a:lvl2pPr>
            <a:lvl3pPr indent="0" lvl="2" marL="0" algn="ctr">
              <a:spcBef>
                <a:spcPts val="0"/>
              </a:spcBef>
              <a:buNone/>
              <a:defRPr/>
            </a:lvl3pPr>
            <a:lvl4pPr indent="0" lvl="3" marL="0" algn="ctr">
              <a:spcBef>
                <a:spcPts val="0"/>
              </a:spcBef>
              <a:buNone/>
              <a:defRPr/>
            </a:lvl4pPr>
            <a:lvl5pPr indent="0" lvl="4" marL="0" algn="ctr">
              <a:spcBef>
                <a:spcPts val="0"/>
              </a:spcBef>
              <a:buNone/>
              <a:defRPr/>
            </a:lvl5pPr>
            <a:lvl6pPr indent="0" lvl="5" marL="0" algn="ctr">
              <a:spcBef>
                <a:spcPts val="0"/>
              </a:spcBef>
              <a:buNone/>
              <a:defRPr/>
            </a:lvl6pPr>
            <a:lvl7pPr indent="0" lvl="6" marL="0" algn="ctr">
              <a:spcBef>
                <a:spcPts val="0"/>
              </a:spcBef>
              <a:buNone/>
              <a:defRPr/>
            </a:lvl7pPr>
            <a:lvl8pPr indent="0" lvl="7" marL="0" algn="ctr">
              <a:spcBef>
                <a:spcPts val="0"/>
              </a:spcBef>
              <a:buNone/>
              <a:defRPr/>
            </a:lvl8pPr>
            <a:lvl9pPr indent="0" lvl="8" marL="0" algn="ctr">
              <a:spcBef>
                <a:spcPts val="0"/>
              </a:spcBef>
              <a:buNone/>
              <a:defRPr/>
            </a:lvl9pPr>
          </a:lstStyle>
          <a:p>
            <a:pPr indent="0" lvl="0" marL="0" rtl="0" algn="ctr">
              <a:spcBef>
                <a:spcPts val="0"/>
              </a:spcBef>
              <a:spcAft>
                <a:spcPts val="0"/>
              </a:spcAft>
              <a:buNone/>
            </a:pPr>
            <a:fld id="{00000000-1234-1234-1234-123412341234}" type="slidenum">
              <a:rPr lang="en"/>
              <a:t>‹#›</a:t>
            </a:fld>
            <a:endParaRPr/>
          </a:p>
        </p:txBody>
      </p:sp>
      <p:cxnSp>
        <p:nvCxnSpPr>
          <p:cNvPr id="101" name="Google Shape;101;p20"/>
          <p:cNvCxnSpPr/>
          <p:nvPr/>
        </p:nvCxnSpPr>
        <p:spPr>
          <a:xfrm rot="5400000">
            <a:off x="2806462" y="3034268"/>
            <a:ext cx="3531870" cy="794"/>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21"/>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4" name="Google Shape;104;p21"/>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1"/>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6" name="Google Shape;106;p21"/>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7" name="Shape 107"/>
        <p:cNvGrpSpPr/>
        <p:nvPr/>
      </p:nvGrpSpPr>
      <p:grpSpPr>
        <a:xfrm>
          <a:off x="0" y="0"/>
          <a:ext cx="0" cy="0"/>
          <a:chOff x="0" y="0"/>
          <a:chExt cx="0" cy="0"/>
        </a:xfrm>
      </p:grpSpPr>
      <p:sp>
        <p:nvSpPr>
          <p:cNvPr id="108" name="Google Shape;108;p22"/>
          <p:cNvSpPr txBox="1"/>
          <p:nvPr>
            <p:ph type="title"/>
          </p:nvPr>
        </p:nvSpPr>
        <p:spPr>
          <a:xfrm>
            <a:off x="457200" y="594060"/>
            <a:ext cx="2139696" cy="946404"/>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9" name="Google Shape;109;p22"/>
          <p:cNvSpPr txBox="1"/>
          <p:nvPr>
            <p:ph idx="1" type="body"/>
          </p:nvPr>
        </p:nvSpPr>
        <p:spPr>
          <a:xfrm>
            <a:off x="2971800" y="594060"/>
            <a:ext cx="5715000" cy="4183380"/>
          </a:xfrm>
          <a:prstGeom prst="rect">
            <a:avLst/>
          </a:prstGeom>
          <a:noFill/>
          <a:ln>
            <a:noFill/>
          </a:ln>
        </p:spPr>
        <p:txBody>
          <a:bodyPr anchorCtr="0" anchor="t" bIns="45700" lIns="91425" spcFirstLastPara="1" rIns="91425" wrap="square" tIns="45700">
            <a:normAutofit/>
          </a:bodyPr>
          <a:lstStyle>
            <a:lvl1pPr indent="-401320" lvl="0" marL="457200" algn="l">
              <a:spcBef>
                <a:spcPts val="640"/>
              </a:spcBef>
              <a:spcAft>
                <a:spcPts val="0"/>
              </a:spcAft>
              <a:buSzPts val="2720"/>
              <a:buChar char="•"/>
              <a:defRPr sz="3200"/>
            </a:lvl1pPr>
            <a:lvl2pPr indent="-379730" lvl="1" marL="914400" algn="l">
              <a:spcBef>
                <a:spcPts val="560"/>
              </a:spcBef>
              <a:spcAft>
                <a:spcPts val="0"/>
              </a:spcAft>
              <a:buSzPts val="2380"/>
              <a:buChar char="•"/>
              <a:defRPr sz="2800"/>
            </a:lvl2pPr>
            <a:lvl3pPr indent="-365760" lvl="2" marL="1371600" algn="l">
              <a:spcBef>
                <a:spcPts val="480"/>
              </a:spcBef>
              <a:spcAft>
                <a:spcPts val="0"/>
              </a:spcAft>
              <a:buSzPts val="2160"/>
              <a:buChar char="•"/>
              <a:defRPr sz="2400"/>
            </a:lvl3pPr>
            <a:lvl4pPr indent="-355600" lvl="3" marL="1828800" algn="l">
              <a:spcBef>
                <a:spcPts val="400"/>
              </a:spcBef>
              <a:spcAft>
                <a:spcPts val="0"/>
              </a:spcAft>
              <a:buSzPts val="2000"/>
              <a:buChar char="•"/>
              <a:defRPr sz="2000"/>
            </a:lvl4pPr>
            <a:lvl5pPr indent="-355600" lvl="4" marL="2286000" algn="l">
              <a:spcBef>
                <a:spcPts val="400"/>
              </a:spcBef>
              <a:spcAft>
                <a:spcPts val="0"/>
              </a:spcAft>
              <a:buSzPts val="2000"/>
              <a:buChar char="•"/>
              <a:defRPr sz="2000"/>
            </a:lvl5pPr>
            <a:lvl6pPr indent="-355600" lvl="5" marL="2743200" algn="l">
              <a:spcBef>
                <a:spcPts val="400"/>
              </a:spcBef>
              <a:spcAft>
                <a:spcPts val="0"/>
              </a:spcAft>
              <a:buSzPts val="2000"/>
              <a:buChar char="•"/>
              <a:defRPr sz="2000"/>
            </a:lvl6pPr>
            <a:lvl7pPr indent="-355600" lvl="6" marL="3200400" algn="l">
              <a:spcBef>
                <a:spcPts val="400"/>
              </a:spcBef>
              <a:spcAft>
                <a:spcPts val="0"/>
              </a:spcAft>
              <a:buSzPts val="2000"/>
              <a:buChar char="•"/>
              <a:defRPr sz="2000"/>
            </a:lvl7pPr>
            <a:lvl8pPr indent="-355600" lvl="7" marL="3657600" algn="l">
              <a:spcBef>
                <a:spcPts val="400"/>
              </a:spcBef>
              <a:spcAft>
                <a:spcPts val="0"/>
              </a:spcAft>
              <a:buSzPts val="2000"/>
              <a:buChar char="•"/>
              <a:defRPr sz="2000"/>
            </a:lvl8pPr>
            <a:lvl9pPr indent="-355600" lvl="8" marL="4114800" algn="l">
              <a:spcBef>
                <a:spcPts val="400"/>
              </a:spcBef>
              <a:spcAft>
                <a:spcPts val="0"/>
              </a:spcAft>
              <a:buSzPts val="2000"/>
              <a:buChar char="•"/>
              <a:defRPr sz="2000"/>
            </a:lvl9pPr>
          </a:lstStyle>
          <a:p/>
        </p:txBody>
      </p:sp>
      <p:sp>
        <p:nvSpPr>
          <p:cNvPr id="110" name="Google Shape;110;p22"/>
          <p:cNvSpPr txBox="1"/>
          <p:nvPr>
            <p:ph idx="2" type="body"/>
          </p:nvPr>
        </p:nvSpPr>
        <p:spPr>
          <a:xfrm>
            <a:off x="457201" y="1597915"/>
            <a:ext cx="2139696" cy="3182711"/>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1" name="Google Shape;111;p22"/>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2"/>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3" name="Google Shape;113;p22"/>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114" name="Google Shape;114;p22"/>
          <p:cNvCxnSpPr/>
          <p:nvPr/>
        </p:nvCxnSpPr>
        <p:spPr>
          <a:xfrm rot="5400000">
            <a:off x="684114" y="2684956"/>
            <a:ext cx="4183380" cy="1588"/>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5" name="Shape 115"/>
        <p:cNvGrpSpPr/>
        <p:nvPr/>
      </p:nvGrpSpPr>
      <p:grpSpPr>
        <a:xfrm>
          <a:off x="0" y="0"/>
          <a:ext cx="0" cy="0"/>
          <a:chOff x="0" y="0"/>
          <a:chExt cx="0" cy="0"/>
        </a:xfrm>
      </p:grpSpPr>
      <p:sp>
        <p:nvSpPr>
          <p:cNvPr id="116" name="Google Shape;116;p23"/>
          <p:cNvSpPr txBox="1"/>
          <p:nvPr>
            <p:ph type="title"/>
          </p:nvPr>
        </p:nvSpPr>
        <p:spPr>
          <a:xfrm>
            <a:off x="457200" y="594360"/>
            <a:ext cx="2142680" cy="94869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7" name="Google Shape;117;p23"/>
          <p:cNvSpPr/>
          <p:nvPr>
            <p:ph idx="2" type="pic"/>
          </p:nvPr>
        </p:nvSpPr>
        <p:spPr>
          <a:xfrm>
            <a:off x="2858610" y="628651"/>
            <a:ext cx="5904390" cy="4125342"/>
          </a:xfrm>
          <a:prstGeom prst="rect">
            <a:avLst/>
          </a:prstGeom>
          <a:solidFill>
            <a:schemeClr val="lt2"/>
          </a:solidFill>
          <a:ln cap="flat" cmpd="sng" w="76200">
            <a:solidFill>
              <a:srgbClr val="FFFFFF"/>
            </a:solidFill>
            <a:prstDash val="solid"/>
            <a:miter lim="800000"/>
            <a:headEnd len="sm" w="sm" type="none"/>
            <a:tailEnd len="sm" w="sm" type="none"/>
          </a:ln>
          <a:effectLst>
            <a:outerShdw blurRad="50800" rotWithShape="0" algn="t" dir="5400000" dist="12700">
              <a:srgbClr val="000000">
                <a:alpha val="58823"/>
              </a:srgbClr>
            </a:outerShdw>
          </a:effectLst>
        </p:spPr>
      </p:sp>
      <p:sp>
        <p:nvSpPr>
          <p:cNvPr id="118" name="Google Shape;118;p23"/>
          <p:cNvSpPr txBox="1"/>
          <p:nvPr>
            <p:ph idx="1" type="body"/>
          </p:nvPr>
        </p:nvSpPr>
        <p:spPr>
          <a:xfrm>
            <a:off x="457200" y="1600200"/>
            <a:ext cx="2139696" cy="318211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9" name="Google Shape;119;p2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2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1" name="Google Shape;121;p2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2" name="Shape 122"/>
        <p:cNvGrpSpPr/>
        <p:nvPr/>
      </p:nvGrpSpPr>
      <p:grpSpPr>
        <a:xfrm>
          <a:off x="0" y="0"/>
          <a:ext cx="0" cy="0"/>
          <a:chOff x="0" y="0"/>
          <a:chExt cx="0" cy="0"/>
        </a:xfrm>
      </p:grpSpPr>
      <p:sp>
        <p:nvSpPr>
          <p:cNvPr id="123" name="Google Shape;123;p24"/>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4" name="Google Shape;124;p24"/>
          <p:cNvSpPr txBox="1"/>
          <p:nvPr>
            <p:ph idx="1" type="body"/>
          </p:nvPr>
        </p:nvSpPr>
        <p:spPr>
          <a:xfrm rot="5400000">
            <a:off x="2743200" y="-1085850"/>
            <a:ext cx="3657600" cy="8229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25" name="Google Shape;125;p24"/>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24"/>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24"/>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8" name="Shape 128"/>
        <p:cNvGrpSpPr/>
        <p:nvPr/>
      </p:nvGrpSpPr>
      <p:grpSpPr>
        <a:xfrm>
          <a:off x="0" y="0"/>
          <a:ext cx="0" cy="0"/>
          <a:chOff x="0" y="0"/>
          <a:chExt cx="0" cy="0"/>
        </a:xfrm>
      </p:grpSpPr>
      <p:sp>
        <p:nvSpPr>
          <p:cNvPr id="129" name="Google Shape;129;p25"/>
          <p:cNvSpPr txBox="1"/>
          <p:nvPr>
            <p:ph type="title"/>
          </p:nvPr>
        </p:nvSpPr>
        <p:spPr>
          <a:xfrm rot="5400000">
            <a:off x="5457825" y="1628775"/>
            <a:ext cx="4400550" cy="20574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5"/>
          <p:cNvSpPr txBox="1"/>
          <p:nvPr>
            <p:ph idx="1" type="body"/>
          </p:nvPr>
        </p:nvSpPr>
        <p:spPr>
          <a:xfrm rot="5400000">
            <a:off x="1266825" y="-352425"/>
            <a:ext cx="4400550" cy="60198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31" name="Google Shape;131;p2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2" name="Google Shape;132;p2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3" name="Google Shape;133;p2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theme" Target="../theme/theme2.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p:nvPr/>
        </p:nvSpPr>
        <p:spPr>
          <a:xfrm>
            <a:off x="0" y="165590"/>
            <a:ext cx="9144000" cy="1714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2" name="Google Shape;52;p13"/>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marR="0" rtl="0" algn="l">
              <a:spcBef>
                <a:spcPts val="0"/>
              </a:spcBef>
              <a:spcAft>
                <a:spcPts val="0"/>
              </a:spcAft>
              <a:buClr>
                <a:schemeClr val="dk2"/>
              </a:buClr>
              <a:buSzPts val="4000"/>
              <a:buFont typeface="Arial"/>
              <a:buNone/>
              <a:defRPr b="0" i="0" sz="4000" u="none" cap="none" strike="noStrik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 name="Google Shape;53;p13"/>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79730" lvl="0" marL="457200" marR="0" rtl="0" algn="l">
              <a:spcBef>
                <a:spcPts val="560"/>
              </a:spcBef>
              <a:spcAft>
                <a:spcPts val="0"/>
              </a:spcAft>
              <a:buClr>
                <a:schemeClr val="accent6"/>
              </a:buClr>
              <a:buSzPts val="2380"/>
              <a:buFont typeface="Arial"/>
              <a:buChar char="•"/>
              <a:defRPr b="0" i="0" sz="2800" u="none" cap="none" strike="noStrike">
                <a:solidFill>
                  <a:schemeClr val="dk1"/>
                </a:solidFill>
                <a:latin typeface="Arial"/>
                <a:ea typeface="Arial"/>
                <a:cs typeface="Arial"/>
                <a:sym typeface="Arial"/>
              </a:defRPr>
            </a:lvl1pPr>
            <a:lvl2pPr indent="-358140" lvl="1" marL="914400" marR="0" rtl="0" algn="l">
              <a:spcBef>
                <a:spcPts val="480"/>
              </a:spcBef>
              <a:spcAft>
                <a:spcPts val="0"/>
              </a:spcAft>
              <a:buClr>
                <a:schemeClr val="accent6"/>
              </a:buClr>
              <a:buSzPts val="2040"/>
              <a:buFont typeface="Arial"/>
              <a:buChar char="•"/>
              <a:defRPr b="0" i="0" sz="2400" u="none" cap="none" strike="noStrike">
                <a:solidFill>
                  <a:schemeClr val="dk1"/>
                </a:solidFill>
                <a:latin typeface="Arial"/>
                <a:ea typeface="Arial"/>
                <a:cs typeface="Arial"/>
                <a:sym typeface="Arial"/>
              </a:defRPr>
            </a:lvl2pPr>
            <a:lvl3pPr indent="-342900" lvl="2" marL="1371600" marR="0" rtl="0" algn="l">
              <a:spcBef>
                <a:spcPts val="400"/>
              </a:spcBef>
              <a:spcAft>
                <a:spcPts val="0"/>
              </a:spcAft>
              <a:buClr>
                <a:schemeClr val="accent6"/>
              </a:buClr>
              <a:buSzPts val="1800"/>
              <a:buFont typeface="Arial"/>
              <a:buChar char="•"/>
              <a:defRPr b="0" i="0" sz="2000" u="none" cap="none" strike="noStrike">
                <a:solidFill>
                  <a:schemeClr val="dk1"/>
                </a:solidFill>
                <a:latin typeface="Arial"/>
                <a:ea typeface="Arial"/>
                <a:cs typeface="Arial"/>
                <a:sym typeface="Arial"/>
              </a:defRPr>
            </a:lvl3pPr>
            <a:lvl4pPr indent="-342900" lvl="3" marL="1828800" marR="0" rtl="0" algn="l">
              <a:spcBef>
                <a:spcPts val="360"/>
              </a:spcBef>
              <a:spcAft>
                <a:spcPts val="0"/>
              </a:spcAft>
              <a:buClr>
                <a:schemeClr val="accent6"/>
              </a:buClr>
              <a:buSzPts val="1800"/>
              <a:buFont typeface="Arial"/>
              <a:buChar char="•"/>
              <a:defRPr b="0" i="0" sz="1800" u="none" cap="none" strike="noStrike">
                <a:solidFill>
                  <a:schemeClr val="dk1"/>
                </a:solidFill>
                <a:latin typeface="Arial"/>
                <a:ea typeface="Arial"/>
                <a:cs typeface="Arial"/>
                <a:sym typeface="Arial"/>
              </a:defRPr>
            </a:lvl4pPr>
            <a:lvl5pPr indent="-330200" lvl="4" marL="2286000" marR="0" rtl="0" algn="l">
              <a:spcBef>
                <a:spcPts val="320"/>
              </a:spcBef>
              <a:spcAft>
                <a:spcPts val="0"/>
              </a:spcAft>
              <a:buClr>
                <a:schemeClr val="accent6"/>
              </a:buClr>
              <a:buSzPts val="1600"/>
              <a:buFont typeface="Arial"/>
              <a:buChar char="•"/>
              <a:defRPr b="0" i="0" sz="1600" u="none" cap="none" strike="noStrike">
                <a:solidFill>
                  <a:schemeClr val="dk1"/>
                </a:solidFill>
                <a:latin typeface="Arial"/>
                <a:ea typeface="Arial"/>
                <a:cs typeface="Arial"/>
                <a:sym typeface="Arial"/>
              </a:defRPr>
            </a:lvl5pPr>
            <a:lvl6pPr indent="-311150" lvl="5" marL="27432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6pPr>
            <a:lvl7pPr indent="-311150" lvl="6" marL="32004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7pPr>
            <a:lvl8pPr indent="-311150" lvl="7" marL="36576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8pPr>
            <a:lvl9pPr indent="-311150" lvl="8" marL="41148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9pPr>
          </a:lstStyle>
          <a:p/>
        </p:txBody>
      </p:sp>
      <p:sp>
        <p:nvSpPr>
          <p:cNvPr id="54" name="Google Shape;54;p13"/>
          <p:cNvSpPr/>
          <p:nvPr/>
        </p:nvSpPr>
        <p:spPr>
          <a:xfrm>
            <a:off x="0" y="0"/>
            <a:ext cx="9144000" cy="27432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5" name="Google Shape;55;p1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6" name="Google Shape;56;p1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7" name="Google Shape;57;p1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1" i="0" sz="1400" u="none" cap="none" strike="noStrike">
                <a:solidFill>
                  <a:srgbClr val="FFFFFF"/>
                </a:solidFill>
                <a:latin typeface="Arial"/>
                <a:ea typeface="Arial"/>
                <a:cs typeface="Arial"/>
                <a:sym typeface="Arial"/>
              </a:defRPr>
            </a:lvl1pPr>
            <a:lvl2pPr indent="0" lvl="1" marL="0" marR="0" rtl="0" algn="l">
              <a:spcBef>
                <a:spcPts val="0"/>
              </a:spcBef>
              <a:buNone/>
              <a:defRPr b="1" i="0" sz="1400" u="none" cap="none" strike="noStrike">
                <a:solidFill>
                  <a:srgbClr val="FFFFFF"/>
                </a:solidFill>
                <a:latin typeface="Arial"/>
                <a:ea typeface="Arial"/>
                <a:cs typeface="Arial"/>
                <a:sym typeface="Arial"/>
              </a:defRPr>
            </a:lvl2pPr>
            <a:lvl3pPr indent="0" lvl="2" marL="0" marR="0" rtl="0" algn="l">
              <a:spcBef>
                <a:spcPts val="0"/>
              </a:spcBef>
              <a:buNone/>
              <a:defRPr b="1" i="0" sz="1400" u="none" cap="none" strike="noStrike">
                <a:solidFill>
                  <a:srgbClr val="FFFFFF"/>
                </a:solidFill>
                <a:latin typeface="Arial"/>
                <a:ea typeface="Arial"/>
                <a:cs typeface="Arial"/>
                <a:sym typeface="Arial"/>
              </a:defRPr>
            </a:lvl3pPr>
            <a:lvl4pPr indent="0" lvl="3" marL="0" marR="0" rtl="0" algn="l">
              <a:spcBef>
                <a:spcPts val="0"/>
              </a:spcBef>
              <a:buNone/>
              <a:defRPr b="1" i="0" sz="1400" u="none" cap="none" strike="noStrike">
                <a:solidFill>
                  <a:srgbClr val="FFFFFF"/>
                </a:solidFill>
                <a:latin typeface="Arial"/>
                <a:ea typeface="Arial"/>
                <a:cs typeface="Arial"/>
                <a:sym typeface="Arial"/>
              </a:defRPr>
            </a:lvl4pPr>
            <a:lvl5pPr indent="0" lvl="4" marL="0" marR="0" rtl="0" algn="l">
              <a:spcBef>
                <a:spcPts val="0"/>
              </a:spcBef>
              <a:buNone/>
              <a:defRPr b="1" i="0" sz="1400" u="none" cap="none" strike="noStrike">
                <a:solidFill>
                  <a:srgbClr val="FFFFFF"/>
                </a:solidFill>
                <a:latin typeface="Arial"/>
                <a:ea typeface="Arial"/>
                <a:cs typeface="Arial"/>
                <a:sym typeface="Arial"/>
              </a:defRPr>
            </a:lvl5pPr>
            <a:lvl6pPr indent="0" lvl="5" marL="0" marR="0" rtl="0" algn="l">
              <a:spcBef>
                <a:spcPts val="0"/>
              </a:spcBef>
              <a:buNone/>
              <a:defRPr b="1" i="0" sz="1400" u="none" cap="none" strike="noStrike">
                <a:solidFill>
                  <a:srgbClr val="FFFFFF"/>
                </a:solidFill>
                <a:latin typeface="Arial"/>
                <a:ea typeface="Arial"/>
                <a:cs typeface="Arial"/>
                <a:sym typeface="Arial"/>
              </a:defRPr>
            </a:lvl6pPr>
            <a:lvl7pPr indent="0" lvl="6" marL="0" marR="0" rtl="0" algn="l">
              <a:spcBef>
                <a:spcPts val="0"/>
              </a:spcBef>
              <a:buNone/>
              <a:defRPr b="1" i="0" sz="1400" u="none" cap="none" strike="noStrike">
                <a:solidFill>
                  <a:srgbClr val="FFFFFF"/>
                </a:solidFill>
                <a:latin typeface="Arial"/>
                <a:ea typeface="Arial"/>
                <a:cs typeface="Arial"/>
                <a:sym typeface="Arial"/>
              </a:defRPr>
            </a:lvl7pPr>
            <a:lvl8pPr indent="0" lvl="7" marL="0" marR="0" rtl="0" algn="l">
              <a:spcBef>
                <a:spcPts val="0"/>
              </a:spcBef>
              <a:buNone/>
              <a:defRPr b="1" i="0" sz="1400" u="none" cap="none" strike="noStrike">
                <a:solidFill>
                  <a:srgbClr val="FFFFFF"/>
                </a:solidFill>
                <a:latin typeface="Arial"/>
                <a:ea typeface="Arial"/>
                <a:cs typeface="Arial"/>
                <a:sym typeface="Arial"/>
              </a:defRPr>
            </a:lvl8pPr>
            <a:lvl9pPr indent="0" lvl="8" marL="0" marR="0" rtl="0" algn="l">
              <a:spcBef>
                <a:spcPts val="0"/>
              </a:spcBef>
              <a:buNone/>
              <a:defRPr b="1" i="0" sz="14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1.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7" name="Shape 137"/>
        <p:cNvGrpSpPr/>
        <p:nvPr/>
      </p:nvGrpSpPr>
      <p:grpSpPr>
        <a:xfrm>
          <a:off x="0" y="0"/>
          <a:ext cx="0" cy="0"/>
          <a:chOff x="0" y="0"/>
          <a:chExt cx="0" cy="0"/>
        </a:xfrm>
      </p:grpSpPr>
      <p:sp>
        <p:nvSpPr>
          <p:cNvPr id="138" name="Google Shape;138;p26"/>
          <p:cNvSpPr txBox="1"/>
          <p:nvPr/>
        </p:nvSpPr>
        <p:spPr>
          <a:xfrm>
            <a:off x="342900" y="448475"/>
            <a:ext cx="7799100" cy="1635600"/>
          </a:xfrm>
          <a:prstGeom prst="rect">
            <a:avLst/>
          </a:prstGeom>
          <a:noFill/>
          <a:ln>
            <a:noFill/>
          </a:ln>
        </p:spPr>
        <p:txBody>
          <a:bodyPr anchorCtr="0" anchor="ctr" bIns="45000" lIns="90000" spcFirstLastPara="1" rIns="90000" wrap="square" tIns="45000">
            <a:noAutofit/>
          </a:bodyPr>
          <a:lstStyle/>
          <a:p>
            <a:pPr indent="0" lvl="0" marL="0" marR="0" rtl="0" algn="l">
              <a:lnSpc>
                <a:spcPct val="90000"/>
              </a:lnSpc>
              <a:spcBef>
                <a:spcPts val="0"/>
              </a:spcBef>
              <a:spcAft>
                <a:spcPts val="0"/>
              </a:spcAft>
              <a:buNone/>
            </a:pPr>
            <a:r>
              <a:rPr i="0" lang="en" sz="2800" u="none" cap="none" strike="noStrike">
                <a:solidFill>
                  <a:schemeClr val="dk2"/>
                </a:solidFill>
                <a:latin typeface="Times New Roman"/>
                <a:ea typeface="Times New Roman"/>
                <a:cs typeface="Times New Roman"/>
                <a:sym typeface="Times New Roman"/>
              </a:rPr>
              <a:t>FINAL YEAR RESEARCH PROJECT </a:t>
            </a:r>
            <a:endParaRPr i="0" sz="2800" u="none" cap="none" strike="noStrike">
              <a:solidFill>
                <a:schemeClr val="dk2"/>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lang="en" sz="2800">
                <a:solidFill>
                  <a:schemeClr val="dk2"/>
                </a:solidFill>
                <a:latin typeface="Times New Roman"/>
                <a:ea typeface="Times New Roman"/>
                <a:cs typeface="Times New Roman"/>
                <a:sym typeface="Times New Roman"/>
              </a:rPr>
              <a:t>End Term</a:t>
            </a:r>
            <a:r>
              <a:rPr i="0" lang="en" sz="2800" u="none" cap="none" strike="noStrike">
                <a:solidFill>
                  <a:schemeClr val="dk2"/>
                </a:solidFill>
                <a:latin typeface="Times New Roman"/>
                <a:ea typeface="Times New Roman"/>
                <a:cs typeface="Times New Roman"/>
                <a:sym typeface="Times New Roman"/>
              </a:rPr>
              <a:t> Presentation</a:t>
            </a:r>
            <a:br>
              <a:rPr i="0" lang="en" sz="1100" u="none" cap="none" strike="noStrike">
                <a:solidFill>
                  <a:schemeClr val="dk1"/>
                </a:solidFill>
                <a:latin typeface="Times New Roman"/>
                <a:ea typeface="Times New Roman"/>
                <a:cs typeface="Times New Roman"/>
                <a:sym typeface="Times New Roman"/>
              </a:rPr>
            </a:br>
            <a:endParaRPr i="0" sz="1100" u="none" cap="none" strike="noStrike">
              <a:solidFill>
                <a:schemeClr val="dk1"/>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i="0" lang="en" sz="2200" u="none" cap="none" strike="noStrike">
                <a:solidFill>
                  <a:srgbClr val="572314"/>
                </a:solidFill>
                <a:latin typeface="Times New Roman"/>
                <a:ea typeface="Times New Roman"/>
                <a:cs typeface="Times New Roman"/>
                <a:sym typeface="Times New Roman"/>
              </a:rPr>
              <a:t>Automated Detection of Hardcoded Secrets in Modern Source Code Repositories using LLM-Augmented Static Analysis</a:t>
            </a:r>
            <a:endParaRPr i="0" sz="2200" u="none" cap="none" strike="noStrike">
              <a:solidFill>
                <a:srgbClr val="000000"/>
              </a:solidFill>
              <a:latin typeface="Times New Roman"/>
              <a:ea typeface="Times New Roman"/>
              <a:cs typeface="Times New Roman"/>
              <a:sym typeface="Times New Roman"/>
            </a:endParaRPr>
          </a:p>
        </p:txBody>
      </p:sp>
      <p:sp>
        <p:nvSpPr>
          <p:cNvPr id="139" name="Google Shape;139;p26"/>
          <p:cNvSpPr txBox="1"/>
          <p:nvPr/>
        </p:nvSpPr>
        <p:spPr>
          <a:xfrm>
            <a:off x="342904" y="2412400"/>
            <a:ext cx="3993900" cy="420900"/>
          </a:xfrm>
          <a:prstGeom prst="rect">
            <a:avLst/>
          </a:prstGeom>
          <a:noFill/>
          <a:ln>
            <a:noFill/>
          </a:ln>
        </p:spPr>
        <p:txBody>
          <a:bodyPr anchorCtr="0" anchor="ctr" bIns="45000" lIns="90000" spcFirstLastPara="1" rIns="90000" wrap="square" tIns="0">
            <a:normAutofit/>
          </a:bodyPr>
          <a:lstStyle/>
          <a:p>
            <a:pPr indent="0" lvl="0" marL="27305" marR="0" rtl="0" algn="l">
              <a:lnSpc>
                <a:spcPct val="110000"/>
              </a:lnSpc>
              <a:spcBef>
                <a:spcPts val="0"/>
              </a:spcBef>
              <a:spcAft>
                <a:spcPts val="0"/>
              </a:spcAft>
              <a:buNone/>
            </a:pPr>
            <a:r>
              <a:rPr b="1" i="0" lang="en" sz="1700" u="none" cap="none" strike="noStrike">
                <a:solidFill>
                  <a:srgbClr val="0070C0"/>
                </a:solidFill>
                <a:latin typeface="Times New Roman"/>
                <a:ea typeface="Times New Roman"/>
                <a:cs typeface="Times New Roman"/>
                <a:sym typeface="Times New Roman"/>
              </a:rPr>
              <a:t>Supervised By</a:t>
            </a:r>
            <a:r>
              <a:rPr b="1" i="0" lang="en" sz="1700" u="none" cap="none" strike="noStrike">
                <a:solidFill>
                  <a:srgbClr val="361309"/>
                </a:solidFill>
                <a:latin typeface="Times New Roman"/>
                <a:ea typeface="Times New Roman"/>
                <a:cs typeface="Times New Roman"/>
                <a:sym typeface="Times New Roman"/>
              </a:rPr>
              <a:t>: Dr. Bhanu Pratap Rajak </a:t>
            </a:r>
            <a:endParaRPr i="0" sz="1700" u="none" cap="none" strike="noStrike">
              <a:solidFill>
                <a:schemeClr val="dk1"/>
              </a:solidFill>
              <a:latin typeface="Times New Roman"/>
              <a:ea typeface="Times New Roman"/>
              <a:cs typeface="Times New Roman"/>
              <a:sym typeface="Times New Roman"/>
            </a:endParaRPr>
          </a:p>
        </p:txBody>
      </p:sp>
      <p:sp>
        <p:nvSpPr>
          <p:cNvPr id="140" name="Google Shape;140;p26"/>
          <p:cNvSpPr/>
          <p:nvPr/>
        </p:nvSpPr>
        <p:spPr>
          <a:xfrm>
            <a:off x="342900" y="2860050"/>
            <a:ext cx="3993900" cy="1713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400" u="none" cap="none" strike="noStrike">
                <a:solidFill>
                  <a:srgbClr val="0070C0"/>
                </a:solidFill>
                <a:latin typeface="Times New Roman"/>
                <a:ea typeface="Times New Roman"/>
                <a:cs typeface="Times New Roman"/>
                <a:sym typeface="Times New Roman"/>
              </a:rPr>
              <a:t>Group No.: </a:t>
            </a:r>
            <a:r>
              <a:rPr b="1" i="0" lang="en" sz="1400" u="none" cap="none" strike="noStrike">
                <a:solidFill>
                  <a:schemeClr val="dk1"/>
                </a:solidFill>
                <a:latin typeface="Times New Roman"/>
                <a:ea typeface="Times New Roman"/>
                <a:cs typeface="Times New Roman"/>
                <a:sym typeface="Times New Roman"/>
              </a:rPr>
              <a:t>03</a:t>
            </a:r>
            <a:endParaRPr i="0" sz="14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400" u="none" cap="none" strike="noStrike">
                <a:solidFill>
                  <a:srgbClr val="000000"/>
                </a:solidFill>
                <a:latin typeface="Times New Roman"/>
                <a:ea typeface="Times New Roman"/>
                <a:cs typeface="Times New Roman"/>
                <a:sym typeface="Times New Roman"/>
              </a:rPr>
              <a:t>Name of the Student(s) with Regd. No.:</a:t>
            </a:r>
            <a:endParaRPr i="0" sz="14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Satyajeet Satapathy -  2241019340</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Dinanath Dash  -  2241004161</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Avignyan Sarangi - 2241019304</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Ashutosh Raj - 2241018015</a:t>
            </a:r>
            <a:endParaRPr i="0" sz="1400" u="none" cap="none" strike="noStrike">
              <a:solidFill>
                <a:schemeClr val="dk1"/>
              </a:solidFill>
              <a:latin typeface="Times New Roman"/>
              <a:ea typeface="Times New Roman"/>
              <a:cs typeface="Times New Roman"/>
              <a:sym typeface="Times New Roman"/>
            </a:endParaRPr>
          </a:p>
        </p:txBody>
      </p:sp>
      <p:sp>
        <p:nvSpPr>
          <p:cNvPr id="141" name="Google Shape;141;p26"/>
          <p:cNvSpPr/>
          <p:nvPr/>
        </p:nvSpPr>
        <p:spPr>
          <a:xfrm>
            <a:off x="4884715" y="3529052"/>
            <a:ext cx="3729000" cy="1044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500" u="none" cap="none" strike="noStrike">
                <a:solidFill>
                  <a:srgbClr val="0070C0"/>
                </a:solidFill>
                <a:latin typeface="Times New Roman"/>
                <a:ea typeface="Times New Roman"/>
                <a:cs typeface="Times New Roman"/>
                <a:sym typeface="Times New Roman"/>
              </a:rPr>
              <a:t>Department of Computer Sc. and Engineering</a:t>
            </a:r>
            <a:endParaRPr b="1" i="0" sz="15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300" u="none" cap="none" strike="noStrike">
                <a:solidFill>
                  <a:srgbClr val="000000"/>
                </a:solidFill>
                <a:latin typeface="Times New Roman"/>
                <a:ea typeface="Times New Roman"/>
                <a:cs typeface="Times New Roman"/>
                <a:sym typeface="Times New Roman"/>
              </a:rPr>
              <a:t>Faculty of Engineering &amp; Technology (ITER)</a:t>
            </a:r>
            <a:endParaRPr i="0" sz="13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Siksha ‘O’ Anusandhan (Deemed to be) University</a:t>
            </a:r>
            <a:r>
              <a:rPr i="0" lang="en" sz="1200" u="none" cap="none" strike="noStrike">
                <a:solidFill>
                  <a:srgbClr val="000000"/>
                </a:solidFill>
                <a:latin typeface="Times New Roman"/>
                <a:ea typeface="Times New Roman"/>
                <a:cs typeface="Times New Roman"/>
                <a:sym typeface="Times New Roman"/>
              </a:rPr>
              <a:t> </a:t>
            </a:r>
            <a:endParaRPr i="0" sz="1200" u="none" cap="none" strike="noStrike">
              <a:solidFill>
                <a:srgbClr val="00000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Bhubaneswar, Odisha</a:t>
            </a:r>
            <a:endParaRPr i="0" sz="1200" u="none" cap="none" strike="noStrike">
              <a:solidFill>
                <a:schemeClr val="dk1"/>
              </a:solidFill>
              <a:latin typeface="Times New Roman"/>
              <a:ea typeface="Times New Roman"/>
              <a:cs typeface="Times New Roman"/>
              <a:sym typeface="Times New Roman"/>
            </a:endParaRPr>
          </a:p>
        </p:txBody>
      </p:sp>
      <p:sp>
        <p:nvSpPr>
          <p:cNvPr id="142" name="Google Shape;142;p2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chemeClr val="dk1"/>
              </a:solidFill>
              <a:latin typeface="Times New Roman"/>
              <a:ea typeface="Times New Roman"/>
              <a:cs typeface="Times New Roman"/>
              <a:sym typeface="Times New Roman"/>
            </a:endParaRPr>
          </a:p>
        </p:txBody>
      </p:sp>
      <p:sp>
        <p:nvSpPr>
          <p:cNvPr id="143" name="Google Shape;143;p26"/>
          <p:cNvSpPr/>
          <p:nvPr/>
        </p:nvSpPr>
        <p:spPr>
          <a:xfrm>
            <a:off x="155520" y="-108270"/>
            <a:ext cx="304560" cy="2284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id="144" name="Google Shape;144;p26" title="Frame 6.png"/>
          <p:cNvPicPr preferRelativeResize="0"/>
          <p:nvPr/>
        </p:nvPicPr>
        <p:blipFill rotWithShape="1">
          <a:blip r:embed="rId3">
            <a:alphaModFix/>
          </a:blip>
          <a:srcRect b="0" l="0" r="0" t="0"/>
          <a:stretch/>
        </p:blipFill>
        <p:spPr>
          <a:xfrm>
            <a:off x="8141862" y="299025"/>
            <a:ext cx="1002150" cy="10021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9" name="Shape 149"/>
        <p:cNvGrpSpPr/>
        <p:nvPr/>
      </p:nvGrpSpPr>
      <p:grpSpPr>
        <a:xfrm>
          <a:off x="0" y="0"/>
          <a:ext cx="0" cy="0"/>
          <a:chOff x="0" y="0"/>
          <a:chExt cx="0" cy="0"/>
        </a:xfrm>
      </p:grpSpPr>
      <p:sp>
        <p:nvSpPr>
          <p:cNvPr id="150" name="Google Shape;150;p27"/>
          <p:cNvSpPr txBox="1"/>
          <p:nvPr/>
        </p:nvSpPr>
        <p:spPr>
          <a:xfrm>
            <a:off x="342900" y="274625"/>
            <a:ext cx="34425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a:t>
            </a:r>
            <a:r>
              <a:rPr b="1" lang="en" sz="2800" strike="noStrike">
                <a:solidFill>
                  <a:srgbClr val="572314"/>
                </a:solidFill>
                <a:latin typeface="Times New Roman"/>
                <a:ea typeface="Times New Roman"/>
                <a:cs typeface="Times New Roman"/>
                <a:sym typeface="Times New Roman"/>
              </a:rPr>
              <a:t>resentation Outlin</a:t>
            </a:r>
            <a:r>
              <a:rPr b="1" lang="en" sz="2800">
                <a:solidFill>
                  <a:srgbClr val="572314"/>
                </a:solidFill>
                <a:latin typeface="Times New Roman"/>
                <a:ea typeface="Times New Roman"/>
                <a:cs typeface="Times New Roman"/>
                <a:sym typeface="Times New Roman"/>
              </a:rPr>
              <a:t>e</a:t>
            </a:r>
            <a:endParaRPr b="0" sz="2800" strike="noStrike">
              <a:solidFill>
                <a:srgbClr val="000000"/>
              </a:solidFill>
              <a:latin typeface="Times New Roman"/>
              <a:ea typeface="Times New Roman"/>
              <a:cs typeface="Times New Roman"/>
              <a:sym typeface="Times New Roman"/>
            </a:endParaRPr>
          </a:p>
        </p:txBody>
      </p:sp>
      <p:sp>
        <p:nvSpPr>
          <p:cNvPr id="151" name="Google Shape;151;p27"/>
          <p:cNvSpPr txBox="1"/>
          <p:nvPr/>
        </p:nvSpPr>
        <p:spPr>
          <a:xfrm>
            <a:off x="342900" y="1004625"/>
            <a:ext cx="7798800" cy="3885600"/>
          </a:xfrm>
          <a:prstGeom prst="rect">
            <a:avLst/>
          </a:prstGeom>
          <a:noFill/>
          <a:ln>
            <a:noFill/>
          </a:ln>
        </p:spPr>
        <p:txBody>
          <a:bodyPr anchorCtr="0" anchor="ctr" bIns="45000" lIns="90000" spcFirstLastPara="1" rIns="90000" wrap="square" tIns="45000">
            <a:noAutofit/>
          </a:bodyPr>
          <a:lstStyle/>
          <a:p>
            <a:pPr indent="-303530" lvl="0" marL="365760" marR="0" rtl="0" algn="l">
              <a:spcBef>
                <a:spcPts val="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Problem Statement &amp; Motivations</a:t>
            </a:r>
            <a:endParaRPr sz="1600">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Problem Statement</a:t>
            </a:r>
            <a:endParaRPr i="0" u="none" cap="none" strike="noStrike">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Motivations</a:t>
            </a:r>
            <a:endParaRPr i="0" u="none" cap="none" strike="noStrike">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Literature Review</a:t>
            </a:r>
            <a:endParaRPr sz="1600">
              <a:solidFill>
                <a:schemeClr val="dk1"/>
              </a:solidFill>
              <a:latin typeface="Times New Roman"/>
              <a:ea typeface="Times New Roman"/>
              <a:cs typeface="Times New Roman"/>
              <a:sym typeface="Times New Roman"/>
            </a:endParaRPr>
          </a:p>
          <a:p>
            <a:pPr indent="-313690" lvl="1" marL="822960" marR="0" rtl="0" algn="l">
              <a:spcBef>
                <a:spcPts val="600"/>
              </a:spcBef>
              <a:spcAft>
                <a:spcPts val="0"/>
              </a:spcAft>
              <a:buClr>
                <a:srgbClr val="3891A7"/>
              </a:buClr>
              <a:buSzPts val="1600"/>
              <a:buFont typeface="Times New Roman"/>
              <a:buChar char="▪"/>
            </a:pPr>
            <a:r>
              <a:rPr i="0" lang="en" u="none" cap="none" strike="noStrike">
                <a:solidFill>
                  <a:srgbClr val="000000"/>
                </a:solidFill>
                <a:latin typeface="Times New Roman"/>
                <a:ea typeface="Times New Roman"/>
                <a:cs typeface="Times New Roman"/>
                <a:sym typeface="Times New Roman"/>
              </a:rPr>
              <a:t>Existing Solutions &amp; Limitations</a:t>
            </a:r>
            <a:r>
              <a:rPr i="0" lang="en" sz="1600" u="none" cap="none" strike="noStrike">
                <a:solidFill>
                  <a:srgbClr val="000000"/>
                </a:solidFill>
                <a:latin typeface="Times New Roman"/>
                <a:ea typeface="Times New Roman"/>
                <a:cs typeface="Times New Roman"/>
                <a:sym typeface="Times New Roman"/>
              </a:rPr>
              <a:t> </a:t>
            </a:r>
            <a:endParaRPr i="0" sz="1600" u="none" cap="none" strike="noStrike">
              <a:solidFill>
                <a:srgbClr val="000000"/>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Proposed Methodology &amp; Approach </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Key Components/Modules &amp; Algorithms Used</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Dataset &amp; Tools/Technologies</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Experimentation</a:t>
            </a:r>
            <a:endParaRPr sz="1600">
              <a:solidFill>
                <a:schemeClr val="dk1"/>
              </a:solidFill>
              <a:latin typeface="Times New Roman"/>
              <a:ea typeface="Times New Roman"/>
              <a:cs typeface="Times New Roman"/>
              <a:sym typeface="Times New Roman"/>
            </a:endParaRPr>
          </a:p>
          <a:p>
            <a:pPr indent="-288925" lvl="0" marL="800100" marR="0" rtl="0" algn="l">
              <a:spcBef>
                <a:spcPts val="600"/>
              </a:spcBef>
              <a:spcAft>
                <a:spcPts val="0"/>
              </a:spcAft>
              <a:buClr>
                <a:srgbClr val="3891A7"/>
              </a:buClr>
              <a:buSzPts val="1400"/>
              <a:buFont typeface="Times New Roman"/>
              <a:buChar char="▪"/>
            </a:pPr>
            <a:r>
              <a:rPr lang="en">
                <a:solidFill>
                  <a:schemeClr val="dk1"/>
                </a:solidFill>
                <a:latin typeface="Times New Roman"/>
                <a:ea typeface="Times New Roman"/>
                <a:cs typeface="Times New Roman"/>
                <a:sym typeface="Times New Roman"/>
              </a:rPr>
              <a:t>System Specification</a:t>
            </a:r>
            <a:endParaRPr>
              <a:solidFill>
                <a:schemeClr val="dk1"/>
              </a:solidFill>
              <a:latin typeface="Times New Roman"/>
              <a:ea typeface="Times New Roman"/>
              <a:cs typeface="Times New Roman"/>
              <a:sym typeface="Times New Roman"/>
            </a:endParaRPr>
          </a:p>
          <a:p>
            <a:pPr indent="-288925" lvl="0" marL="800100" marR="0" rtl="0" algn="l">
              <a:spcBef>
                <a:spcPts val="600"/>
              </a:spcBef>
              <a:spcAft>
                <a:spcPts val="0"/>
              </a:spcAft>
              <a:buClr>
                <a:srgbClr val="3891A7"/>
              </a:buClr>
              <a:buSzPts val="1400"/>
              <a:buFont typeface="Times New Roman"/>
              <a:buChar char="▪"/>
            </a:pPr>
            <a:r>
              <a:rPr lang="en">
                <a:solidFill>
                  <a:schemeClr val="dk1"/>
                </a:solidFill>
                <a:latin typeface="Times New Roman"/>
                <a:ea typeface="Times New Roman"/>
                <a:cs typeface="Times New Roman"/>
                <a:sym typeface="Times New Roman"/>
              </a:rPr>
              <a:t>Experimental Results</a:t>
            </a:r>
            <a:endParaRPr>
              <a:solidFill>
                <a:schemeClr val="dk1"/>
              </a:solidFill>
              <a:latin typeface="Times New Roman"/>
              <a:ea typeface="Times New Roman"/>
              <a:cs typeface="Times New Roman"/>
              <a:sym typeface="Times New Roman"/>
            </a:endParaRPr>
          </a:p>
          <a:p>
            <a:pPr indent="-288925" lvl="0" marL="800100" marR="0" rtl="0" algn="l">
              <a:spcBef>
                <a:spcPts val="600"/>
              </a:spcBef>
              <a:spcAft>
                <a:spcPts val="0"/>
              </a:spcAft>
              <a:buClr>
                <a:srgbClr val="3891A7"/>
              </a:buClr>
              <a:buSzPts val="1400"/>
              <a:buFont typeface="Times New Roman"/>
              <a:buChar char="▪"/>
            </a:pPr>
            <a:r>
              <a:rPr lang="en">
                <a:solidFill>
                  <a:schemeClr val="dk1"/>
                </a:solidFill>
                <a:latin typeface="Times New Roman"/>
                <a:ea typeface="Times New Roman"/>
                <a:cs typeface="Times New Roman"/>
                <a:sym typeface="Times New Roman"/>
              </a:rPr>
              <a:t>Performance Analysis</a:t>
            </a:r>
            <a:endParaRPr>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Conclusion and Future Scope</a:t>
            </a:r>
            <a:endParaRPr sz="1600">
              <a:solidFill>
                <a:schemeClr val="dk1"/>
              </a:solidFill>
              <a:latin typeface="Times New Roman"/>
              <a:ea typeface="Times New Roman"/>
              <a:cs typeface="Times New Roman"/>
              <a:sym typeface="Times New Roman"/>
            </a:endParaRPr>
          </a:p>
          <a:p>
            <a:pPr indent="-303530" lvl="1" marL="365760" marR="0" rtl="0" algn="l">
              <a:spcBef>
                <a:spcPts val="600"/>
              </a:spcBef>
              <a:spcAft>
                <a:spcPts val="0"/>
              </a:spcAft>
              <a:buClr>
                <a:srgbClr val="3891A7"/>
              </a:buClr>
              <a:buSzPts val="1600"/>
              <a:buFont typeface="Times New Roman"/>
              <a:buChar char="▪"/>
            </a:pPr>
            <a:r>
              <a:rPr i="0" lang="en" sz="1600" u="none" cap="none" strike="noStrike">
                <a:solidFill>
                  <a:schemeClr val="dk1"/>
                </a:solidFill>
                <a:latin typeface="Times New Roman"/>
                <a:ea typeface="Times New Roman"/>
                <a:cs typeface="Times New Roman"/>
                <a:sym typeface="Times New Roman"/>
              </a:rPr>
              <a:t>References</a:t>
            </a:r>
            <a:endParaRPr i="0" sz="1600" u="none" cap="none" strike="noStrike">
              <a:solidFill>
                <a:schemeClr val="dk1"/>
              </a:solidFill>
              <a:latin typeface="Times New Roman"/>
              <a:ea typeface="Times New Roman"/>
              <a:cs typeface="Times New Roman"/>
              <a:sym typeface="Times New Roman"/>
            </a:endParaRPr>
          </a:p>
        </p:txBody>
      </p:sp>
      <p:sp>
        <p:nvSpPr>
          <p:cNvPr id="152" name="Google Shape;152;p27"/>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53" name="Google Shape;153;p2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8"/>
          <p:cNvSpPr txBox="1"/>
          <p:nvPr/>
        </p:nvSpPr>
        <p:spPr>
          <a:xfrm>
            <a:off x="342900" y="274625"/>
            <a:ext cx="33576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Problem Statement</a:t>
            </a:r>
            <a:endParaRPr b="1" sz="2800">
              <a:solidFill>
                <a:srgbClr val="572314"/>
              </a:solidFill>
              <a:latin typeface="Times New Roman"/>
              <a:ea typeface="Times New Roman"/>
              <a:cs typeface="Times New Roman"/>
              <a:sym typeface="Times New Roman"/>
            </a:endParaRPr>
          </a:p>
        </p:txBody>
      </p:sp>
      <p:sp>
        <p:nvSpPr>
          <p:cNvPr id="159" name="Google Shape;159;p28"/>
          <p:cNvSpPr txBox="1"/>
          <p:nvPr/>
        </p:nvSpPr>
        <p:spPr>
          <a:xfrm>
            <a:off x="342900" y="1143000"/>
            <a:ext cx="7798800" cy="2800800"/>
          </a:xfrm>
          <a:prstGeom prst="rect">
            <a:avLst/>
          </a:prstGeom>
          <a:noFill/>
          <a:ln>
            <a:noFill/>
          </a:ln>
        </p:spPr>
        <p:txBody>
          <a:bodyPr anchorCtr="0" anchor="ctr" bIns="45000" lIns="90000" spcFirstLastPara="1" rIns="90000" wrap="square" tIns="45000">
            <a:noAutofit/>
          </a:bodyPr>
          <a:lstStyle/>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Domain: DevSecOps and Software Supply Chain Security.</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Problem Statement: </a:t>
            </a:r>
            <a:endParaRPr sz="1600" strike="noStrike">
              <a:solidFill>
                <a:srgbClr val="000000"/>
              </a:solidFill>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Traditional static secret scanners lack semantic understanding, generating prohibitively high False Positive Rates by flagging safe test variables.</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To resolve this, we engineered a two-stage hybrid scanning pipeline that uses Regex as a Stage-1 pre-filter and invokes a locally deployed, 4-bit quantized Meta Llama 3 model.</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By analyzing a strict 11-line context window, our solution drastically reduces false alarms while maintaining total offline execution and data privacy.</a:t>
            </a:r>
            <a:endParaRPr b="0" sz="2800" strike="noStrike">
              <a:solidFill>
                <a:srgbClr val="000000"/>
              </a:solidFill>
              <a:latin typeface="Times New Roman"/>
              <a:ea typeface="Times New Roman"/>
              <a:cs typeface="Times New Roman"/>
              <a:sym typeface="Times New Roman"/>
            </a:endParaRPr>
          </a:p>
        </p:txBody>
      </p:sp>
      <p:sp>
        <p:nvSpPr>
          <p:cNvPr id="160" name="Google Shape;160;p2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1" name="Google Shape;161;p28"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9"/>
          <p:cNvSpPr txBox="1"/>
          <p:nvPr/>
        </p:nvSpPr>
        <p:spPr>
          <a:xfrm>
            <a:off x="342900" y="274625"/>
            <a:ext cx="20859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lang="en" sz="2800">
                <a:solidFill>
                  <a:srgbClr val="572314"/>
                </a:solidFill>
                <a:latin typeface="Times New Roman"/>
                <a:ea typeface="Times New Roman"/>
                <a:cs typeface="Times New Roman"/>
                <a:sym typeface="Times New Roman"/>
              </a:rPr>
              <a:t>Motivations</a:t>
            </a:r>
            <a:endParaRPr b="1" sz="2800">
              <a:solidFill>
                <a:srgbClr val="572314"/>
              </a:solidFill>
              <a:latin typeface="Times New Roman"/>
              <a:ea typeface="Times New Roman"/>
              <a:cs typeface="Times New Roman"/>
              <a:sym typeface="Times New Roman"/>
            </a:endParaRPr>
          </a:p>
        </p:txBody>
      </p:sp>
      <p:sp>
        <p:nvSpPr>
          <p:cNvPr id="167" name="Google Shape;167;p29"/>
          <p:cNvSpPr txBox="1"/>
          <p:nvPr/>
        </p:nvSpPr>
        <p:spPr>
          <a:xfrm>
            <a:off x="342900" y="1143000"/>
            <a:ext cx="7799100" cy="3547800"/>
          </a:xfrm>
          <a:prstGeom prst="rect">
            <a:avLst/>
          </a:prstGeom>
          <a:noFill/>
          <a:ln>
            <a:noFill/>
          </a:ln>
        </p:spPr>
        <p:txBody>
          <a:bodyPr anchorCtr="0" anchor="ctr" bIns="45000" lIns="90000" spcFirstLastPara="1" rIns="90000" wrap="square" tIns="45000">
            <a:noAutofit/>
          </a:bodyPr>
          <a:lstStyle/>
          <a:p>
            <a:pPr indent="-283210" lvl="0" marL="335915" marR="0" rtl="0" algn="just">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Motivation: </a:t>
            </a:r>
            <a:endParaRPr sz="1600">
              <a:solidFill>
                <a:srgbClr val="000000"/>
              </a:solidFill>
              <a:latin typeface="Times New Roman"/>
              <a:ea typeface="Times New Roman"/>
              <a:cs typeface="Times New Roman"/>
              <a:sym typeface="Times New Roman"/>
            </a:endParaRPr>
          </a:p>
          <a:p>
            <a:pPr indent="0" lvl="0" marL="342900" marR="0" rtl="0" algn="just">
              <a:spcBef>
                <a:spcPts val="0"/>
              </a:spcBef>
              <a:spcAft>
                <a:spcPts val="0"/>
              </a:spcAft>
              <a:buClr>
                <a:srgbClr val="000000"/>
              </a:buClr>
              <a:buSzPts val="1600"/>
              <a:buFont typeface="Arial"/>
              <a:buNone/>
            </a:pPr>
            <a:r>
              <a:rPr lang="en" sz="1600">
                <a:solidFill>
                  <a:srgbClr val="000000"/>
                </a:solidFill>
                <a:latin typeface="Times New Roman"/>
                <a:ea typeface="Times New Roman"/>
                <a:cs typeface="Times New Roman"/>
                <a:sym typeface="Times New Roman"/>
              </a:rPr>
              <a:t>High FPR causes severe </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Alert Fatigue</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 among security teams, delaying CI/CD pipelines and increasing the likelihood that genuine, critical vulnerabilities are overlooked in large-scale codebases.</a:t>
            </a:r>
            <a:br>
              <a:rPr lang="en" sz="1600">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Primary Objective: </a:t>
            </a:r>
            <a:endParaRPr sz="1600" strike="noStrike">
              <a:solidFill>
                <a:srgbClr val="000000"/>
              </a:solidFill>
              <a:latin typeface="Times New Roman"/>
              <a:ea typeface="Times New Roman"/>
              <a:cs typeface="Times New Roman"/>
              <a:sym typeface="Times New Roman"/>
            </a:endParaRPr>
          </a:p>
          <a:p>
            <a:pPr indent="0" lvl="0" marL="335915" marR="0" rtl="0" algn="just">
              <a:spcBef>
                <a:spcPts val="0"/>
              </a:spcBef>
              <a:spcAft>
                <a:spcPts val="0"/>
              </a:spcAft>
              <a:buClr>
                <a:srgbClr val="000000"/>
              </a:buClr>
              <a:buSzPts val="1600"/>
              <a:buFont typeface="Arial"/>
              <a:buNone/>
            </a:pPr>
            <a:r>
              <a:rPr lang="en" sz="1600">
                <a:latin typeface="Times New Roman"/>
                <a:ea typeface="Times New Roman"/>
                <a:cs typeface="Times New Roman"/>
                <a:sym typeface="Times New Roman"/>
              </a:rPr>
              <a:t>D</a:t>
            </a:r>
            <a:r>
              <a:rPr lang="en" sz="1600" strike="noStrike">
                <a:solidFill>
                  <a:srgbClr val="000000"/>
                </a:solidFill>
                <a:latin typeface="Times New Roman"/>
                <a:ea typeface="Times New Roman"/>
                <a:cs typeface="Times New Roman"/>
                <a:sym typeface="Times New Roman"/>
              </a:rPr>
              <a:t>esigned and implemented a two-stage hybrid scanning pipeline</a:t>
            </a:r>
            <a:r>
              <a:rPr lang="en" sz="1600" strike="noStrike">
                <a:solidFill>
                  <a:srgbClr val="000000"/>
                </a:solidFill>
                <a:latin typeface="Times New Roman"/>
                <a:ea typeface="Times New Roman"/>
                <a:cs typeface="Times New Roman"/>
                <a:sym typeface="Times New Roman"/>
              </a:rPr>
              <a:t> that drastically reduces False Positive Rates in secret detection without compromising recall capabilities.</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Measurable Objectives: </a:t>
            </a:r>
            <a:endParaRPr sz="1600" strike="noStrike">
              <a:solidFill>
                <a:srgbClr val="000000"/>
              </a:solidFill>
              <a:latin typeface="Times New Roman"/>
              <a:ea typeface="Times New Roman"/>
              <a:cs typeface="Times New Roman"/>
              <a:sym typeface="Times New Roman"/>
            </a:endParaRPr>
          </a:p>
          <a:p>
            <a:pPr indent="-282575" lvl="0" marL="600710"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E</a:t>
            </a:r>
            <a:r>
              <a:rPr lang="en" sz="1600">
                <a:solidFill>
                  <a:schemeClr val="dk1"/>
                </a:solidFill>
                <a:latin typeface="Times New Roman"/>
                <a:ea typeface="Times New Roman"/>
                <a:cs typeface="Times New Roman"/>
                <a:sym typeface="Times New Roman"/>
              </a:rPr>
              <a:t>valuated baseline Regex performance against the Hybrid LLM pipeline using a quantitative Confusion Matrix.</a:t>
            </a:r>
            <a:endParaRPr sz="1600">
              <a:solidFill>
                <a:schemeClr val="dk1"/>
              </a:solidFill>
              <a:latin typeface="Times New Roman"/>
              <a:ea typeface="Times New Roman"/>
              <a:cs typeface="Times New Roman"/>
              <a:sym typeface="Times New Roman"/>
            </a:endParaRPr>
          </a:p>
          <a:p>
            <a:pPr indent="-307975" lvl="0" marL="600710" marR="0" rtl="0" algn="just">
              <a:spcBef>
                <a:spcPts val="0"/>
              </a:spcBef>
              <a:spcAft>
                <a:spcPts val="0"/>
              </a:spcAft>
              <a:buClr>
                <a:schemeClr val="dk1"/>
              </a:buClr>
              <a:buSzPts val="2000"/>
              <a:buFont typeface="Times New Roman"/>
              <a:buChar char="•"/>
            </a:pPr>
            <a:r>
              <a:rPr lang="en" sz="1600">
                <a:solidFill>
                  <a:srgbClr val="1F2328"/>
                </a:solidFill>
                <a:highlight>
                  <a:srgbClr val="FFFFFF"/>
                </a:highlight>
                <a:latin typeface="Times New Roman"/>
                <a:ea typeface="Times New Roman"/>
                <a:cs typeface="Times New Roman"/>
                <a:sym typeface="Times New Roman"/>
              </a:rPr>
              <a:t>Guaranteed zero-trust data privacy by executing a fine-tuned LLM entirely offline, while benchmarking the resulting inference latency trade-offs.</a:t>
            </a:r>
            <a:endParaRPr sz="2000" strike="noStrike">
              <a:solidFill>
                <a:srgbClr val="000000"/>
              </a:solidFill>
              <a:latin typeface="Times New Roman"/>
              <a:ea typeface="Times New Roman"/>
              <a:cs typeface="Times New Roman"/>
              <a:sym typeface="Times New Roman"/>
            </a:endParaRPr>
          </a:p>
        </p:txBody>
      </p:sp>
      <p:sp>
        <p:nvSpPr>
          <p:cNvPr id="168" name="Google Shape;168;p2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9" name="Google Shape;169;p2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0"/>
          <p:cNvSpPr txBox="1"/>
          <p:nvPr/>
        </p:nvSpPr>
        <p:spPr>
          <a:xfrm>
            <a:off x="342900" y="274627"/>
            <a:ext cx="3128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a:t>
            </a:r>
            <a:endParaRPr b="1" sz="2800">
              <a:solidFill>
                <a:srgbClr val="572314"/>
              </a:solidFill>
              <a:latin typeface="Times New Roman"/>
              <a:ea typeface="Times New Roman"/>
              <a:cs typeface="Times New Roman"/>
              <a:sym typeface="Times New Roman"/>
            </a:endParaRPr>
          </a:p>
        </p:txBody>
      </p:sp>
      <p:sp>
        <p:nvSpPr>
          <p:cNvPr id="175" name="Google Shape;175;p3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76" name="Google Shape;176;p30"/>
          <p:cNvSpPr txBox="1"/>
          <p:nvPr/>
        </p:nvSpPr>
        <p:spPr>
          <a:xfrm>
            <a:off x="342900" y="800100"/>
            <a:ext cx="48006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Table1: Summary of Existing Approaches and Research Limitations</a:t>
            </a:r>
            <a:endParaRPr sz="1200">
              <a:solidFill>
                <a:schemeClr val="dk1"/>
              </a:solidFill>
              <a:latin typeface="Arial"/>
              <a:ea typeface="Arial"/>
              <a:cs typeface="Arial"/>
              <a:sym typeface="Arial"/>
            </a:endParaRPr>
          </a:p>
        </p:txBody>
      </p:sp>
      <p:graphicFrame>
        <p:nvGraphicFramePr>
          <p:cNvPr id="177" name="Google Shape;177;p30"/>
          <p:cNvGraphicFramePr/>
          <p:nvPr/>
        </p:nvGraphicFramePr>
        <p:xfrm>
          <a:off x="342900" y="1201590"/>
          <a:ext cx="3000000" cy="3000000"/>
        </p:xfrm>
        <a:graphic>
          <a:graphicData uri="http://schemas.openxmlformats.org/drawingml/2006/table">
            <a:tbl>
              <a:tblPr bandRow="1" firstRow="1">
                <a:noFill/>
                <a:tableStyleId>{91615823-763D-4289-AFF7-78FB870AD9B0}</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Apostolidis et al.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CppCheck static analysis filtered by a fine-tuned CodeBERT vulnerability prediction model.</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Big-Vul and ReVeal (C/C++ GitHub samples).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Reduced false positives, improving static analysis practicality with minimal impact on detection accuracy.</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Vulnerability prediction models lack line-level granularity; static tools suffer from overwhelming false alarms.</a:t>
                      </a:r>
                      <a:endParaRPr b="0" sz="1000" u="none" cap="none" strike="noStrike">
                        <a:latin typeface="Times New Roman"/>
                        <a:ea typeface="Times New Roman"/>
                        <a:cs typeface="Times New Roman"/>
                        <a:sym typeface="Times New Roman"/>
                      </a:endParaRPr>
                    </a:p>
                  </a:txBody>
                  <a:tcPr marT="45725" marB="45725" marR="91450" marL="91450"/>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Jin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Categorization of LLM adaptation into base application, static augmentation, RAG, fine-tuning, and hybrid fusion.</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(Survey paper analyzing standardized benchmarks).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Identified optimal architectural strengths (encoder vs. decoder) for different security priorities.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High token consumption, context window limits, and poor generalization remain major barriers.</a:t>
                      </a:r>
                      <a:endParaRPr b="0" sz="1000" u="none" cap="none" strike="noStrike">
                        <a:latin typeface="Times New Roman"/>
                        <a:ea typeface="Times New Roman"/>
                        <a:cs typeface="Times New Roman"/>
                        <a:sym typeface="Times New Roman"/>
                      </a:endParaRPr>
                    </a:p>
                  </a:txBody>
                  <a:tcPr marT="45725" marB="45725" marR="91450" marL="91450"/>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Dozono et al.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Empirical evaluation of 5 frontier LLMs comparing open-source vs. closed-source code performance.</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CWE-Bench-Java (Open) and TS-Vuls (Closed, commercial Teamscale codebase).</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Precision dropped significantly from 56% on open-source code to 34% on closed-source code.</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LLM metrics are heavily inflated on open-source data due to training contamination.</a:t>
                      </a:r>
                      <a:endParaRPr b="0" sz="1000" u="none" cap="none" strike="noStrike">
                        <a:latin typeface="Times New Roman"/>
                        <a:ea typeface="Times New Roman"/>
                        <a:cs typeface="Times New Roman"/>
                        <a:sym typeface="Times New Roman"/>
                      </a:endParaRPr>
                    </a:p>
                  </a:txBody>
                  <a:tcPr marT="45725" marB="45725" marR="91450" marL="91450"/>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Guo et al. (2023)</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Systematic review of 130 false positive mitigation studies across 5 technical categories.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(Literature Review).</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Established a taxonomy for false positive mitigation and identified deep learning and NLP as future directions.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Current approaches suffer from low explainability, ambiguous concept definitions, and dataset biases.</a:t>
                      </a:r>
                      <a:endParaRPr b="0" sz="1000" u="none" cap="none" strike="noStrike">
                        <a:latin typeface="Times New Roman"/>
                        <a:ea typeface="Times New Roman"/>
                        <a:cs typeface="Times New Roman"/>
                        <a:sym typeface="Times New Roman"/>
                      </a:endParaRPr>
                    </a:p>
                  </a:txBody>
                  <a:tcPr marT="45725" marB="45725" marR="91450" marL="91450"/>
                </a:tc>
              </a:tr>
            </a:tbl>
          </a:graphicData>
        </a:graphic>
      </p:graphicFrame>
      <p:pic>
        <p:nvPicPr>
          <p:cNvPr id="178" name="Google Shape;178;p3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1"/>
          <p:cNvSpPr txBox="1"/>
          <p:nvPr/>
        </p:nvSpPr>
        <p:spPr>
          <a:xfrm>
            <a:off x="342900" y="274625"/>
            <a:ext cx="4424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 	contd.</a:t>
            </a:r>
            <a:endParaRPr b="1" sz="2800">
              <a:solidFill>
                <a:srgbClr val="572314"/>
              </a:solidFill>
              <a:latin typeface="Times New Roman"/>
              <a:ea typeface="Times New Roman"/>
              <a:cs typeface="Times New Roman"/>
              <a:sym typeface="Times New Roman"/>
            </a:endParaRPr>
          </a:p>
        </p:txBody>
      </p:sp>
      <p:sp>
        <p:nvSpPr>
          <p:cNvPr id="184" name="Google Shape;184;p31"/>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85" name="Google Shape;185;p31"/>
          <p:cNvSpPr txBox="1"/>
          <p:nvPr/>
        </p:nvSpPr>
        <p:spPr>
          <a:xfrm>
            <a:off x="342900" y="800095"/>
            <a:ext cx="53208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Table2: Summary of Existing Approaches and Research Limitations, contd.</a:t>
            </a:r>
            <a:endParaRPr sz="1200">
              <a:solidFill>
                <a:schemeClr val="dk1"/>
              </a:solidFill>
              <a:latin typeface="Arial"/>
              <a:ea typeface="Arial"/>
              <a:cs typeface="Arial"/>
              <a:sym typeface="Arial"/>
            </a:endParaRPr>
          </a:p>
        </p:txBody>
      </p:sp>
      <p:graphicFrame>
        <p:nvGraphicFramePr>
          <p:cNvPr id="186" name="Google Shape;186;p31"/>
          <p:cNvGraphicFramePr/>
          <p:nvPr/>
        </p:nvGraphicFramePr>
        <p:xfrm>
          <a:off x="342900" y="1095305"/>
          <a:ext cx="3000000" cy="3000000"/>
        </p:xfrm>
        <a:graphic>
          <a:graphicData uri="http://schemas.openxmlformats.org/drawingml/2006/table">
            <a:tbl>
              <a:tblPr bandRow="1" firstRow="1">
                <a:noFill/>
                <a:tableStyleId>{91615823-763D-4289-AFF7-78FB870AD9B0}</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Li et al.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Injecting vulnerability steering vectors into LLM activation layers without altering original parameters.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SARD, FFmpeg+Qemu, Reveal, REEF.</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Outperformed state-of-the-art methods with a 12.86% F1-score increase on real-world datasets.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Existing representation methods focus on overall semantics instead of isolating specific vulnerability concepts.</a:t>
                      </a:r>
                      <a:endParaRPr b="0" sz="1000" u="none" cap="none" strike="noStrike">
                        <a:latin typeface="Times New Roman"/>
                        <a:ea typeface="Times New Roman"/>
                        <a:cs typeface="Times New Roman"/>
                        <a:sym typeface="Times New Roman"/>
                      </a:endParaRPr>
                    </a:p>
                  </a:txBody>
                  <a:tcPr marT="45725" marB="45725" marR="91450" marL="91450"/>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Muske &amp; Khedker (2015)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Data flow analysis computing Complete-range Non-deterministic Value (cnv) variables.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Embedded C system applications (SCMS, BCM).</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Cut redundant model checking calls by 49.49% and reduced false positive elimination time by 39.28%.</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Speed gains were achieved at the cost of missing 2.78% of false positives due to execution path over-approximation.</a:t>
                      </a:r>
                      <a:endParaRPr b="0" sz="1000" u="none" cap="none" strike="noStrike">
                        <a:latin typeface="Times New Roman"/>
                        <a:ea typeface="Times New Roman"/>
                        <a:cs typeface="Times New Roman"/>
                        <a:sym typeface="Times New Roman"/>
                      </a:endParaRPr>
                    </a:p>
                  </a:txBody>
                  <a:tcPr marT="45725" marB="45725" marR="91450" marL="91450"/>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Kim et al.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Reinforcement learning (RL) based context generator to infer contextual signals from user prompts.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SafetyInstruct, Advbench, Wildjailbreak, XSTest.</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Reduces harmful responses while preventing unnecessary refusals of benign requests.</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Conventional LLM frameworks fail on ambiguous tasks; extracting context is necessary to prevent bypassing safeguards.</a:t>
                      </a:r>
                      <a:endParaRPr b="0" sz="1000" u="none" cap="none" strike="noStrike">
                        <a:latin typeface="Times New Roman"/>
                        <a:ea typeface="Times New Roman"/>
                        <a:cs typeface="Times New Roman"/>
                        <a:sym typeface="Times New Roman"/>
                      </a:endParaRPr>
                    </a:p>
                  </a:txBody>
                  <a:tcPr marT="45725" marB="45725" marR="91450" marL="91450"/>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Schwarz (2025)</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"Countermind" multi-layered security architecture using Semantic Boundary Logic (SBL) and Parameter-Space Restriction (PSR).</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(Conceptual/Architectural design).</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Shifts LLM defenses from reactive post-hoc filtering to proactive pre-inference structural validation.</a:t>
                      </a:r>
                      <a:endParaRPr b="0" sz="1000" u="none" cap="none" strike="noStrike">
                        <a:latin typeface="Times New Roman"/>
                        <a:ea typeface="Times New Roman"/>
                        <a:cs typeface="Times New Roman"/>
                        <a:sym typeface="Times New Roman"/>
                      </a:endParaRPr>
                    </a:p>
                  </a:txBody>
                  <a:tcPr marT="45725" marB="45725" marR="91450" marL="91450"/>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Post-hoc filters are brittle against prompt injections; models inherently struggle to distinguish trusted instructions from untrusted data.</a:t>
                      </a:r>
                      <a:endParaRPr b="0" sz="1000" u="none" cap="none" strike="noStrike">
                        <a:latin typeface="Times New Roman"/>
                        <a:ea typeface="Times New Roman"/>
                        <a:cs typeface="Times New Roman"/>
                        <a:sym typeface="Times New Roman"/>
                      </a:endParaRPr>
                    </a:p>
                  </a:txBody>
                  <a:tcPr marT="45725" marB="45725" marR="91450" marL="91450"/>
                </a:tc>
              </a:tr>
            </a:tbl>
          </a:graphicData>
        </a:graphic>
      </p:graphicFrame>
      <p:pic>
        <p:nvPicPr>
          <p:cNvPr id="187" name="Google Shape;187;p3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2"/>
          <p:cNvSpPr txBox="1"/>
          <p:nvPr/>
        </p:nvSpPr>
        <p:spPr>
          <a:xfrm>
            <a:off x="342900" y="274625"/>
            <a:ext cx="50361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a:t>
            </a:r>
            <a:endParaRPr b="1" i="0" sz="2800" u="none" cap="none" strike="noStrike">
              <a:solidFill>
                <a:srgbClr val="572314"/>
              </a:solidFill>
              <a:latin typeface="Times New Roman"/>
              <a:ea typeface="Times New Roman"/>
              <a:cs typeface="Times New Roman"/>
              <a:sym typeface="Times New Roman"/>
            </a:endParaRPr>
          </a:p>
        </p:txBody>
      </p:sp>
      <p:sp>
        <p:nvSpPr>
          <p:cNvPr id="193" name="Google Shape;193;p32"/>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1: Token Inefficiency &amp; Latency Bottlenecks</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Recent surveys (e.g., Jin, 2025) highlight that analyzing entire repositories using LLMs results in severe token consumption and context window exhaustion.</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a:t>
            </a:r>
            <a:r>
              <a:rPr lang="en" sz="1600">
                <a:latin typeface="Times New Roman"/>
                <a:ea typeface="Times New Roman"/>
                <a:cs typeface="Times New Roman"/>
                <a:sym typeface="Times New Roman"/>
              </a:rPr>
              <a:t>Engineered Solution</a:t>
            </a:r>
            <a:r>
              <a:rPr i="0" lang="en" sz="1600" cap="none" strike="noStrike">
                <a:solidFill>
                  <a:srgbClr val="000000"/>
                </a:solidFill>
                <a:latin typeface="Times New Roman"/>
                <a:ea typeface="Times New Roman"/>
                <a:cs typeface="Times New Roman"/>
                <a:sym typeface="Times New Roman"/>
              </a:rPr>
              <a:t>: We utilized a "cascading filter" approach. By using deterministic Regex as a Stage-1 pre-filter, we only invoked the LLM on a strict 11-line context window, bypassing the latency constraints of pure-LLM scanners.</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2: Granularity and "Context Blindness"</a:t>
            </a:r>
            <a:endParaRPr i="0" sz="1600" cap="none" strike="noStrike">
              <a:solidFill>
                <a:srgbClr val="000000"/>
              </a:solidFill>
              <a:latin typeface="Times New Roman"/>
              <a:ea typeface="Times New Roman"/>
              <a:cs typeface="Times New Roman"/>
              <a:sym typeface="Times New Roman"/>
            </a:endParaRPr>
          </a:p>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Existing vulnerability models often evaluate overall file semantics rather than isolating specific vulnerability concepts (Li et al., 2025), and lack line-level granularity (Apostolidis et al., 2025).</a:t>
            </a:r>
            <a:endParaRPr sz="1600">
              <a:latin typeface="Times New Roman"/>
              <a:ea typeface="Times New Roman"/>
              <a:cs typeface="Times New Roman"/>
              <a:sym typeface="Times New Roman"/>
            </a:endParaRPr>
          </a:p>
        </p:txBody>
      </p:sp>
      <p:sp>
        <p:nvSpPr>
          <p:cNvPr id="194" name="Google Shape;194;p3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195" name="Google Shape;195;p32"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3"/>
          <p:cNvSpPr txBox="1"/>
          <p:nvPr/>
        </p:nvSpPr>
        <p:spPr>
          <a:xfrm>
            <a:off x="342900" y="274625"/>
            <a:ext cx="66636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		contd.</a:t>
            </a:r>
            <a:endParaRPr b="1" i="0" sz="2800" u="none" cap="none" strike="noStrike">
              <a:solidFill>
                <a:srgbClr val="572314"/>
              </a:solidFill>
              <a:latin typeface="Times New Roman"/>
              <a:ea typeface="Times New Roman"/>
              <a:cs typeface="Times New Roman"/>
              <a:sym typeface="Times New Roman"/>
            </a:endParaRPr>
          </a:p>
        </p:txBody>
      </p:sp>
      <p:sp>
        <p:nvSpPr>
          <p:cNvPr id="201" name="Google Shape;201;p33"/>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a:t>
            </a:r>
            <a:r>
              <a:rPr lang="en" sz="1600">
                <a:solidFill>
                  <a:schemeClr val="dk1"/>
                </a:solidFill>
                <a:latin typeface="Times New Roman"/>
                <a:ea typeface="Times New Roman"/>
                <a:cs typeface="Times New Roman"/>
                <a:sym typeface="Times New Roman"/>
              </a:rPr>
              <a:t>Engineered Solution</a:t>
            </a:r>
            <a:r>
              <a:rPr i="0" lang="en" sz="1600" cap="none" strike="noStrike">
                <a:solidFill>
                  <a:srgbClr val="000000"/>
                </a:solidFill>
                <a:latin typeface="Times New Roman"/>
                <a:ea typeface="Times New Roman"/>
                <a:cs typeface="Times New Roman"/>
                <a:sym typeface="Times New Roman"/>
              </a:rPr>
              <a:t>: We extracted the Abstract Syntax Tree (AST) context (5 lines above and below the Regex match). Our LoRA fine-tuning specifically train</a:t>
            </a:r>
            <a:r>
              <a:rPr lang="en" sz="1600">
                <a:latin typeface="Times New Roman"/>
                <a:ea typeface="Times New Roman"/>
                <a:cs typeface="Times New Roman"/>
                <a:sym typeface="Times New Roman"/>
              </a:rPr>
              <a:t>ed</a:t>
            </a:r>
            <a:r>
              <a:rPr i="0" lang="en" sz="1600" cap="none" strike="noStrike">
                <a:solidFill>
                  <a:srgbClr val="000000"/>
                </a:solidFill>
                <a:latin typeface="Times New Roman"/>
                <a:ea typeface="Times New Roman"/>
                <a:cs typeface="Times New Roman"/>
                <a:sym typeface="Times New Roman"/>
              </a:rPr>
              <a:t> the model to evaluate variable scope and dummy test parameters within this micro-context.</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3: The Data Privacy Paradigm</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State-of-the-art LLM security tools rely on cloud-based APIs. Sending proprietary, unredacted corporate source code to external servers (OpenAI/Anthropic) violates Zero-Trust security models and data compliance laws.</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a:t>
            </a:r>
            <a:r>
              <a:rPr lang="en" sz="1600">
                <a:solidFill>
                  <a:schemeClr val="dk1"/>
                </a:solidFill>
                <a:latin typeface="Times New Roman"/>
                <a:ea typeface="Times New Roman"/>
                <a:cs typeface="Times New Roman"/>
                <a:sym typeface="Times New Roman"/>
              </a:rPr>
              <a:t>Engineered Solution</a:t>
            </a:r>
            <a:r>
              <a:rPr i="0" lang="en" sz="1600" cap="none" strike="noStrike">
                <a:solidFill>
                  <a:srgbClr val="000000"/>
                </a:solidFill>
                <a:latin typeface="Times New Roman"/>
                <a:ea typeface="Times New Roman"/>
                <a:cs typeface="Times New Roman"/>
                <a:sym typeface="Times New Roman"/>
              </a:rPr>
              <a:t>: Total offline execution. We bridged this gap by deploying a 4-bit quantized Meta Llama 3 8B model locally using the Apple MLX framework, leveraging Unified Memory for secure, on-device inference.</a:t>
            </a:r>
            <a:endParaRPr b="0" i="0" sz="1600" u="none" cap="none" strike="noStrike">
              <a:solidFill>
                <a:srgbClr val="000000"/>
              </a:solidFill>
              <a:latin typeface="Times New Roman"/>
              <a:ea typeface="Times New Roman"/>
              <a:cs typeface="Times New Roman"/>
              <a:sym typeface="Times New Roman"/>
            </a:endParaRPr>
          </a:p>
        </p:txBody>
      </p:sp>
      <p:sp>
        <p:nvSpPr>
          <p:cNvPr id="202" name="Google Shape;202;p33"/>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03" name="Google Shape;203;p33"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4"/>
          <p:cNvSpPr txBox="1"/>
          <p:nvPr/>
        </p:nvSpPr>
        <p:spPr>
          <a:xfrm>
            <a:off x="342900" y="274625"/>
            <a:ext cx="54075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i="0" lang="en" sz="2800" u="none" cap="none" strike="noStrike">
                <a:solidFill>
                  <a:srgbClr val="572314"/>
                </a:solidFill>
                <a:latin typeface="Times New Roman"/>
                <a:ea typeface="Times New Roman"/>
                <a:cs typeface="Times New Roman"/>
                <a:sym typeface="Times New Roman"/>
              </a:rPr>
              <a:t>Proposed Solution &amp; Architecture</a:t>
            </a:r>
            <a:endParaRPr b="1" i="0" sz="2800" u="none" cap="none" strike="noStrike">
              <a:solidFill>
                <a:srgbClr val="572314"/>
              </a:solidFill>
              <a:latin typeface="Times New Roman"/>
              <a:ea typeface="Times New Roman"/>
              <a:cs typeface="Times New Roman"/>
              <a:sym typeface="Times New Roman"/>
            </a:endParaRPr>
          </a:p>
        </p:txBody>
      </p:sp>
      <p:sp>
        <p:nvSpPr>
          <p:cNvPr id="209" name="Google Shape;209;p34"/>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sp>
        <p:nvSpPr>
          <p:cNvPr id="210" name="Google Shape;210;p34"/>
          <p:cNvSpPr txBox="1"/>
          <p:nvPr/>
        </p:nvSpPr>
        <p:spPr>
          <a:xfrm>
            <a:off x="2427000" y="4707775"/>
            <a:ext cx="4290000" cy="310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dk1"/>
                </a:solidFill>
                <a:latin typeface="Times New Roman"/>
                <a:ea typeface="Times New Roman"/>
                <a:cs typeface="Times New Roman"/>
                <a:sym typeface="Times New Roman"/>
              </a:rPr>
              <a:t>Fig. 1: Schematic Model Diagram of the Proposed Model</a:t>
            </a:r>
            <a:endParaRPr sz="1300">
              <a:solidFill>
                <a:schemeClr val="dk1"/>
              </a:solidFill>
              <a:latin typeface="Times New Roman"/>
              <a:ea typeface="Times New Roman"/>
              <a:cs typeface="Times New Roman"/>
              <a:sym typeface="Times New Roman"/>
            </a:endParaRPr>
          </a:p>
        </p:txBody>
      </p:sp>
      <p:pic>
        <p:nvPicPr>
          <p:cNvPr descr="WhatsApp Image 2026-03-24 at 15.28.24" id="211" name="Google Shape;211;p34"/>
          <p:cNvPicPr preferRelativeResize="0"/>
          <p:nvPr/>
        </p:nvPicPr>
        <p:blipFill rotWithShape="1">
          <a:blip r:embed="rId3">
            <a:alphaModFix/>
          </a:blip>
          <a:srcRect b="0" l="0" r="0" t="0"/>
          <a:stretch/>
        </p:blipFill>
        <p:spPr>
          <a:xfrm>
            <a:off x="520700" y="853450"/>
            <a:ext cx="7621148" cy="3801101"/>
          </a:xfrm>
          <a:prstGeom prst="rect">
            <a:avLst/>
          </a:prstGeom>
          <a:noFill/>
          <a:ln>
            <a:noFill/>
          </a:ln>
        </p:spPr>
      </p:pic>
      <p:pic>
        <p:nvPicPr>
          <p:cNvPr id="212" name="Google Shape;212;p34"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35"/>
          <p:cNvSpPr txBox="1"/>
          <p:nvPr/>
        </p:nvSpPr>
        <p:spPr>
          <a:xfrm>
            <a:off x="342900" y="274625"/>
            <a:ext cx="48654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Dataset &amp; Tools/Technologies</a:t>
            </a:r>
            <a:endParaRPr b="1" i="0" sz="2800" u="none" cap="none" strike="noStrike">
              <a:solidFill>
                <a:srgbClr val="572314"/>
              </a:solidFill>
              <a:latin typeface="Times New Roman"/>
              <a:ea typeface="Times New Roman"/>
              <a:cs typeface="Times New Roman"/>
              <a:sym typeface="Times New Roman"/>
            </a:endParaRPr>
          </a:p>
        </p:txBody>
      </p:sp>
      <p:sp>
        <p:nvSpPr>
          <p:cNvPr id="218" name="Google Shape;218;p35"/>
          <p:cNvSpPr txBox="1"/>
          <p:nvPr/>
        </p:nvSpPr>
        <p:spPr>
          <a:xfrm>
            <a:off x="342900" y="1149300"/>
            <a:ext cx="7798800" cy="3233700"/>
          </a:xfrm>
          <a:prstGeom prst="rect">
            <a:avLst/>
          </a:prstGeom>
          <a:noFill/>
          <a:ln>
            <a:noFill/>
          </a:ln>
        </p:spPr>
        <p:txBody>
          <a:bodyPr anchorCtr="0" anchor="ctr" bIns="45000" lIns="90000" spcFirstLastPara="1" rIns="90000" wrap="square" tIns="45000">
            <a:noAutofit/>
          </a:bodyPr>
          <a:lstStyle/>
          <a:p>
            <a:pPr indent="-285750" lvl="0" marL="285750" marR="0" rtl="0" algn="just">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Dataset Description:</a:t>
            </a:r>
            <a:endParaRPr i="0" sz="1600" cap="none" strike="noStrike">
              <a:solidFill>
                <a:srgbClr val="000000"/>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Source: The open-source CredData benchmark dataset.</a:t>
            </a:r>
            <a:endParaRPr sz="1600">
              <a:solidFill>
                <a:schemeClr val="dk1"/>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Composition: The benchmark comprises 27,000 lines of source code. Due to extreme local compute constraints, legacy baseline tools were evaluated against the full dataset, while the Hybrid LLM was rigorously benchmarked against a standardized 1,000-hit subset.</a:t>
            </a:r>
            <a:br>
              <a:rPr lang="en" sz="1600">
                <a:solidFill>
                  <a:schemeClr val="dk1"/>
                </a:solidFill>
                <a:latin typeface="Times New Roman"/>
                <a:ea typeface="Times New Roman"/>
                <a:cs typeface="Times New Roman"/>
                <a:sym typeface="Times New Roman"/>
              </a:rPr>
            </a:br>
            <a:endParaRPr sz="1600">
              <a:solidFill>
                <a:schemeClr val="dk1"/>
              </a:solidFill>
              <a:latin typeface="Times New Roman"/>
              <a:ea typeface="Times New Roman"/>
              <a:cs typeface="Times New Roman"/>
              <a:sym typeface="Times New Roman"/>
            </a:endParaRPr>
          </a:p>
          <a:p>
            <a:pPr indent="-302895" lvl="0" marL="30289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Tools &amp; Technologies:</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Language &amp; Orchestration: Python 3.10+</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AI Model: Meta Llama 3 8B Instruct (4-bit quantized).</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Compute Framework: Apple MLX Framework.</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Hardware: Local execution on Apple Silicon (M-series Mac) utilizing Unified Memory for offline inference.</a:t>
            </a:r>
            <a:endParaRPr i="0" sz="1600" cap="none" strike="noStrike">
              <a:solidFill>
                <a:srgbClr val="000000"/>
              </a:solidFill>
              <a:latin typeface="Times New Roman"/>
              <a:ea typeface="Times New Roman"/>
              <a:cs typeface="Times New Roman"/>
              <a:sym typeface="Times New Roman"/>
            </a:endParaRPr>
          </a:p>
        </p:txBody>
      </p:sp>
      <p:sp>
        <p:nvSpPr>
          <p:cNvPr id="219" name="Google Shape;219;p35"/>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0" name="Google Shape;220;p35"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6"/>
          <p:cNvSpPr txBox="1"/>
          <p:nvPr/>
        </p:nvSpPr>
        <p:spPr>
          <a:xfrm>
            <a:off x="342900" y="274625"/>
            <a:ext cx="7741800" cy="8685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System Specifications &amp; Parameters</a:t>
            </a:r>
            <a:endParaRPr b="1" i="0" sz="2800" u="none" cap="none" strike="noStrike">
              <a:solidFill>
                <a:srgbClr val="572314"/>
              </a:solidFill>
              <a:latin typeface="Times New Roman"/>
              <a:ea typeface="Times New Roman"/>
              <a:cs typeface="Times New Roman"/>
              <a:sym typeface="Times New Roman"/>
            </a:endParaRPr>
          </a:p>
        </p:txBody>
      </p:sp>
      <p:sp>
        <p:nvSpPr>
          <p:cNvPr id="226" name="Google Shape;226;p36"/>
          <p:cNvSpPr txBox="1"/>
          <p:nvPr/>
        </p:nvSpPr>
        <p:spPr>
          <a:xfrm>
            <a:off x="342900" y="1143000"/>
            <a:ext cx="7799100" cy="2109300"/>
          </a:xfrm>
          <a:prstGeom prst="rect">
            <a:avLst/>
          </a:prstGeom>
          <a:noFill/>
          <a:ln>
            <a:noFill/>
          </a:ln>
        </p:spPr>
        <p:txBody>
          <a:bodyPr anchorCtr="0" anchor="ctr" bIns="45000" lIns="90000" spcFirstLastPara="1" rIns="90000" wrap="square" tIns="45000">
            <a:noAutofit/>
          </a:bodyPr>
          <a:lstStyle/>
          <a:p>
            <a:pPr indent="-282575" lvl="0" marL="319405"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Hardware &amp; Compute Environment: All inference executed locally on Apple Silicon (M-series Mac) utilizing Unified Memory to strictly enforce zero-trust data privacy constraints.</a:t>
            </a:r>
            <a:endParaRPr sz="1600">
              <a:solidFill>
                <a:schemeClr val="dk1"/>
              </a:solidFill>
              <a:latin typeface="Times New Roman"/>
              <a:ea typeface="Times New Roman"/>
              <a:cs typeface="Times New Roman"/>
              <a:sym typeface="Times New Roman"/>
            </a:endParaRPr>
          </a:p>
          <a:p>
            <a:pPr indent="-282575" lvl="0" marL="319405"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Pipeline Implementation:</a:t>
            </a:r>
            <a:endParaRPr sz="1600">
              <a:solidFill>
                <a:schemeClr val="dk1"/>
              </a:solidFill>
              <a:latin typeface="Times New Roman"/>
              <a:ea typeface="Times New Roman"/>
              <a:cs typeface="Times New Roman"/>
              <a:sym typeface="Times New Roman"/>
            </a:endParaRPr>
          </a:p>
          <a:p>
            <a:pPr indent="-282575" lvl="0" marL="68580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Phase 1 (Regex + 11-line AST context extraction) and Phase 2 (Apple MLX inference) were fully integrated and operationalized.</a:t>
            </a:r>
            <a:endParaRPr sz="1600">
              <a:solidFill>
                <a:schemeClr val="dk1"/>
              </a:solidFill>
              <a:latin typeface="Times New Roman"/>
              <a:ea typeface="Times New Roman"/>
              <a:cs typeface="Times New Roman"/>
              <a:sym typeface="Times New Roman"/>
            </a:endParaRPr>
          </a:p>
          <a:p>
            <a:pPr indent="-282575" lvl="0" marL="68580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Model fine-tuning (4-bit quantized, LoRA at 3000 iterations) successfully stabilized strict JSON output parsing.</a:t>
            </a:r>
            <a:endParaRPr sz="1600">
              <a:latin typeface="Times New Roman"/>
              <a:ea typeface="Times New Roman"/>
              <a:cs typeface="Times New Roman"/>
              <a:sym typeface="Times New Roman"/>
            </a:endParaRPr>
          </a:p>
        </p:txBody>
      </p:sp>
      <p:sp>
        <p:nvSpPr>
          <p:cNvPr id="227" name="Google Shape;227;p3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8" name="Google Shape;228;p36"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nvSpPr>
        <p:spPr>
          <a:xfrm>
            <a:off x="342900" y="274625"/>
            <a:ext cx="7757100" cy="525600"/>
          </a:xfrm>
          <a:prstGeom prst="rect">
            <a:avLst/>
          </a:prstGeom>
          <a:noFill/>
          <a:ln>
            <a:noFill/>
          </a:ln>
        </p:spPr>
        <p:txBody>
          <a:bodyPr anchorCtr="0" anchor="ctr" bIns="45000" lIns="90000" spcFirstLastPara="1" rIns="90000" wrap="square" tIns="45000">
            <a:noAutofit/>
          </a:bodyPr>
          <a:lstStyle/>
          <a:p>
            <a:pPr indent="0" lvl="0" marL="0" rtl="0" algn="l">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Experimental Results</a:t>
            </a:r>
            <a:endParaRPr b="1" sz="2800">
              <a:solidFill>
                <a:srgbClr val="572314"/>
              </a:solidFill>
              <a:latin typeface="Times New Roman"/>
              <a:ea typeface="Times New Roman"/>
              <a:cs typeface="Times New Roman"/>
              <a:sym typeface="Times New Roman"/>
            </a:endParaRPr>
          </a:p>
        </p:txBody>
      </p:sp>
      <p:sp>
        <p:nvSpPr>
          <p:cNvPr id="234" name="Google Shape;234;p37"/>
          <p:cNvSpPr txBox="1"/>
          <p:nvPr/>
        </p:nvSpPr>
        <p:spPr>
          <a:xfrm>
            <a:off x="342900" y="1143000"/>
            <a:ext cx="7799100" cy="3216900"/>
          </a:xfrm>
          <a:prstGeom prst="rect">
            <a:avLst/>
          </a:prstGeom>
          <a:noFill/>
          <a:ln>
            <a:noFill/>
          </a:ln>
        </p:spPr>
        <p:txBody>
          <a:bodyPr anchorCtr="0" anchor="t"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Experimental Setup: </a:t>
            </a:r>
            <a:r>
              <a:rPr b="0" i="0" lang="en" sz="1600" cap="none" strike="noStrike">
                <a:solidFill>
                  <a:srgbClr val="000000"/>
                </a:solidFill>
                <a:latin typeface="Times New Roman"/>
                <a:ea typeface="Times New Roman"/>
                <a:cs typeface="Times New Roman"/>
                <a:sym typeface="Times New Roman"/>
              </a:rPr>
              <a:t>Conducted a head-to-head comparative analysis on the CredData dataset against industry-standard offline scanners (TruffleHog and Gitleaks).</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The Baseline Failure (Context Blindness):</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TruffleHog failed entirely (Precision: 0.4301, Recall: 0.0123).</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Gitleaks (Regex) maintained high Precision (0.8600) but suffered catastrophic False Negatives, missing 74% of actual secrets (Recall: 0.2600).</a:t>
            </a:r>
            <a:br>
              <a:rPr b="0" i="0" lang="en" sz="1600" cap="none" strike="noStrike">
                <a:solidFill>
                  <a:srgbClr val="000000"/>
                </a:solidFill>
                <a:latin typeface="Times New Roman"/>
                <a:ea typeface="Times New Roman"/>
                <a:cs typeface="Times New Roman"/>
                <a:sym typeface="Times New Roman"/>
              </a:rPr>
            </a:b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Hybrid Model Performance:</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lang="en" sz="1600">
                <a:solidFill>
                  <a:schemeClr val="dk1"/>
                </a:solidFill>
                <a:latin typeface="Times New Roman"/>
                <a:ea typeface="Times New Roman"/>
                <a:cs typeface="Times New Roman"/>
                <a:sym typeface="Times New Roman"/>
              </a:rPr>
              <a:t>Overall Accuracy: Achieved 87.0%, demonstrating stable and reliable classification across a standardized 1,000-hit evaluation subset.</a:t>
            </a:r>
            <a:endParaRPr sz="2100">
              <a:solidFill>
                <a:schemeClr val="dk1"/>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i="0" lang="en" sz="1600" cap="none" strike="noStrike">
                <a:solidFill>
                  <a:srgbClr val="000000"/>
                </a:solidFill>
                <a:latin typeface="Times New Roman"/>
                <a:ea typeface="Times New Roman"/>
                <a:cs typeface="Times New Roman"/>
                <a:sym typeface="Times New Roman"/>
              </a:rPr>
              <a:t>Achieved a dominant F1-Score of 0.8723 within the test sample.</a:t>
            </a:r>
            <a:endParaRPr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Precision re</a:t>
            </a:r>
            <a:r>
              <a:rPr b="0" i="0" lang="en" sz="1600" cap="none" strike="noStrike">
                <a:solidFill>
                  <a:srgbClr val="000000"/>
                </a:solidFill>
                <a:latin typeface="Times New Roman"/>
                <a:ea typeface="Times New Roman"/>
                <a:cs typeface="Times New Roman"/>
                <a:sym typeface="Times New Roman"/>
              </a:rPr>
              <a:t>mained highly competitive at 0.8117, while Recall surged to 0.9427</a:t>
            </a:r>
            <a:r>
              <a:rPr lang="en" sz="1600">
                <a:latin typeface="Times New Roman"/>
                <a:ea typeface="Times New Roman"/>
                <a:cs typeface="Times New Roman"/>
                <a:sym typeface="Times New Roman"/>
              </a:rPr>
              <a:t>.</a:t>
            </a:r>
            <a:endParaRPr sz="1600">
              <a:latin typeface="Times New Roman"/>
              <a:ea typeface="Times New Roman"/>
              <a:cs typeface="Times New Roman"/>
              <a:sym typeface="Times New Roman"/>
            </a:endParaRPr>
          </a:p>
        </p:txBody>
      </p:sp>
      <p:sp>
        <p:nvSpPr>
          <p:cNvPr id="235" name="Google Shape;235;p37"/>
          <p:cNvSpPr txBox="1"/>
          <p:nvPr/>
        </p:nvSpPr>
        <p:spPr>
          <a:xfrm>
            <a:off x="8613720" y="4729050"/>
            <a:ext cx="456900" cy="35700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36" name="Google Shape;236;p3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38"/>
          <p:cNvSpPr txBox="1"/>
          <p:nvPr/>
        </p:nvSpPr>
        <p:spPr>
          <a:xfrm>
            <a:off x="342900" y="274625"/>
            <a:ext cx="7798800" cy="525600"/>
          </a:xfrm>
          <a:prstGeom prst="rect">
            <a:avLst/>
          </a:prstGeom>
          <a:noFill/>
          <a:ln>
            <a:noFill/>
          </a:ln>
        </p:spPr>
        <p:txBody>
          <a:bodyPr anchorCtr="0" anchor="ctr" bIns="45000" lIns="90000" spcFirstLastPara="1" rIns="90000" wrap="square" tIns="45000">
            <a:noAutofit/>
          </a:bodyPr>
          <a:lstStyle/>
          <a:p>
            <a:pPr indent="0" lvl="0" marL="0" rtl="0" algn="l">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Experimental Results</a:t>
            </a:r>
            <a:r>
              <a:rPr b="1" lang="en" sz="2800">
                <a:solidFill>
                  <a:srgbClr val="572314"/>
                </a:solidFill>
                <a:latin typeface="Times New Roman"/>
                <a:ea typeface="Times New Roman"/>
                <a:cs typeface="Times New Roman"/>
                <a:sym typeface="Times New Roman"/>
              </a:rPr>
              <a:t>	contd.</a:t>
            </a:r>
            <a:endParaRPr b="1" i="0" sz="2800" u="none" cap="none" strike="noStrike">
              <a:solidFill>
                <a:srgbClr val="572314"/>
              </a:solidFill>
              <a:latin typeface="Times New Roman"/>
              <a:ea typeface="Times New Roman"/>
              <a:cs typeface="Times New Roman"/>
              <a:sym typeface="Times New Roman"/>
            </a:endParaRPr>
          </a:p>
        </p:txBody>
      </p:sp>
      <p:sp>
        <p:nvSpPr>
          <p:cNvPr id="242" name="Google Shape;242;p3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descr="Code_Generated_Image" id="243" name="Google Shape;243;p38"/>
          <p:cNvPicPr preferRelativeResize="0"/>
          <p:nvPr/>
        </p:nvPicPr>
        <p:blipFill rotWithShape="1">
          <a:blip r:embed="rId3">
            <a:alphaModFix/>
          </a:blip>
          <a:srcRect b="0" l="0" r="0" t="0"/>
          <a:stretch/>
        </p:blipFill>
        <p:spPr>
          <a:xfrm>
            <a:off x="1447800" y="859610"/>
            <a:ext cx="6248400" cy="3749040"/>
          </a:xfrm>
          <a:prstGeom prst="rect">
            <a:avLst/>
          </a:prstGeom>
          <a:noFill/>
          <a:ln>
            <a:noFill/>
          </a:ln>
        </p:spPr>
      </p:pic>
      <p:sp>
        <p:nvSpPr>
          <p:cNvPr id="244" name="Google Shape;244;p38"/>
          <p:cNvSpPr txBox="1"/>
          <p:nvPr/>
        </p:nvSpPr>
        <p:spPr>
          <a:xfrm>
            <a:off x="2234100" y="4562800"/>
            <a:ext cx="4675800" cy="585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300">
                <a:solidFill>
                  <a:schemeClr val="dk1"/>
                </a:solidFill>
                <a:latin typeface="Times New Roman"/>
                <a:ea typeface="Times New Roman"/>
                <a:cs typeface="Times New Roman"/>
                <a:sym typeface="Times New Roman"/>
              </a:rPr>
              <a:t>Fig. 2: </a:t>
            </a:r>
            <a:r>
              <a:rPr lang="en" sz="1300">
                <a:solidFill>
                  <a:schemeClr val="dk1"/>
                </a:solidFill>
                <a:latin typeface="Times New Roman"/>
                <a:ea typeface="Times New Roman"/>
                <a:cs typeface="Times New Roman"/>
                <a:sym typeface="Times New Roman"/>
              </a:rPr>
              <a:t>Precision, Recall, and F1-Score evaluation of the Hybrid Llama 3/MLX architecture against industry baselines.</a:t>
            </a:r>
            <a:endParaRPr sz="1300">
              <a:solidFill>
                <a:schemeClr val="dk1"/>
              </a:solidFill>
              <a:latin typeface="Times New Roman"/>
              <a:ea typeface="Times New Roman"/>
              <a:cs typeface="Times New Roman"/>
              <a:sym typeface="Times New Roman"/>
            </a:endParaRPr>
          </a:p>
        </p:txBody>
      </p:sp>
      <p:pic>
        <p:nvPicPr>
          <p:cNvPr id="245" name="Google Shape;245;p38"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9"/>
          <p:cNvSpPr txBox="1"/>
          <p:nvPr/>
        </p:nvSpPr>
        <p:spPr>
          <a:xfrm>
            <a:off x="342900" y="274625"/>
            <a:ext cx="6826800" cy="525600"/>
          </a:xfrm>
          <a:prstGeom prst="rect">
            <a:avLst/>
          </a:prstGeom>
          <a:noFill/>
          <a:ln>
            <a:noFill/>
          </a:ln>
        </p:spPr>
        <p:txBody>
          <a:bodyPr anchorCtr="0" anchor="ctr" bIns="45000" lIns="90000" spcFirstLastPara="1" rIns="90000" wrap="square" tIns="45000">
            <a:noAutofit/>
          </a:bodyPr>
          <a:lstStyle/>
          <a:p>
            <a:pPr indent="0" lvl="0" marL="0" rtl="0" algn="l">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Performance Analysis</a:t>
            </a:r>
            <a:endParaRPr b="1" sz="2800">
              <a:solidFill>
                <a:srgbClr val="572314"/>
              </a:solidFill>
              <a:latin typeface="Times New Roman"/>
              <a:ea typeface="Times New Roman"/>
              <a:cs typeface="Times New Roman"/>
              <a:sym typeface="Times New Roman"/>
            </a:endParaRPr>
          </a:p>
        </p:txBody>
      </p:sp>
      <p:sp>
        <p:nvSpPr>
          <p:cNvPr id="251" name="Google Shape;251;p39"/>
          <p:cNvSpPr txBox="1"/>
          <p:nvPr/>
        </p:nvSpPr>
        <p:spPr>
          <a:xfrm>
            <a:off x="342900" y="1143000"/>
            <a:ext cx="7799100" cy="2920800"/>
          </a:xfrm>
          <a:prstGeom prst="rect">
            <a:avLst/>
          </a:prstGeom>
          <a:noFill/>
          <a:ln>
            <a:noFill/>
          </a:ln>
        </p:spPr>
        <p:txBody>
          <a:bodyPr anchorCtr="0" anchor="ctr"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The Latency Reality: While the Apple MLX framework ensured Zero-Trust privacy via local execution, executing a quantized 8B parameter model was fundamentally slower than pure C-based Regex.</a:t>
            </a:r>
            <a:br>
              <a:rPr b="0" i="0" lang="en" sz="1600" cap="none" strike="noStrike">
                <a:solidFill>
                  <a:srgbClr val="000000"/>
                </a:solidFill>
                <a:latin typeface="Times New Roman"/>
                <a:ea typeface="Times New Roman"/>
                <a:cs typeface="Times New Roman"/>
                <a:sym typeface="Times New Roman"/>
              </a:rPr>
            </a:b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Pipeline Blocking: Executing sequential LLM inference on hundreds of initial Regex matches created a severe bottleneck, rendering it impractical for monolithic repository scans</a:t>
            </a:r>
            <a:r>
              <a:rPr b="0" i="0" lang="en" sz="1600" cap="none" strike="noStrike">
                <a:solidFill>
                  <a:srgbClr val="000000"/>
                </a:solidFill>
                <a:latin typeface="Times New Roman"/>
                <a:ea typeface="Times New Roman"/>
                <a:cs typeface="Times New Roman"/>
                <a:sym typeface="Times New Roman"/>
              </a:rPr>
              <a:t> in a fast-paced CI/CD environment.</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Prompt Engineering Impact: Implementation of a strict Few-Shot Prompting template halved the initial context processing time and stabilized outputs, but the baseline per-snippet inference speed remained a critical hurdle</a:t>
            </a:r>
            <a:r>
              <a:rPr b="0" i="0" lang="en" sz="1600" cap="none" strike="noStrike">
                <a:solidFill>
                  <a:srgbClr val="000000"/>
                </a:solidFill>
                <a:latin typeface="Times New Roman"/>
                <a:ea typeface="Times New Roman"/>
                <a:cs typeface="Times New Roman"/>
                <a:sym typeface="Times New Roman"/>
              </a:rPr>
              <a:t> for production deployment.</a:t>
            </a:r>
            <a:endParaRPr b="0" i="0" sz="1600" cap="none" strike="noStrike">
              <a:solidFill>
                <a:srgbClr val="000000"/>
              </a:solidFill>
              <a:latin typeface="Times New Roman"/>
              <a:ea typeface="Times New Roman"/>
              <a:cs typeface="Times New Roman"/>
              <a:sym typeface="Times New Roman"/>
            </a:endParaRPr>
          </a:p>
        </p:txBody>
      </p:sp>
      <p:sp>
        <p:nvSpPr>
          <p:cNvPr id="252" name="Google Shape;252;p3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53" name="Google Shape;253;p3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0"/>
          <p:cNvSpPr txBox="1"/>
          <p:nvPr/>
        </p:nvSpPr>
        <p:spPr>
          <a:xfrm>
            <a:off x="342900" y="274625"/>
            <a:ext cx="51399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Conclusion and Future Scope</a:t>
            </a:r>
            <a:endParaRPr b="1" i="0" sz="2800" u="none" cap="none" strike="noStrike">
              <a:solidFill>
                <a:srgbClr val="572314"/>
              </a:solidFill>
              <a:latin typeface="Times New Roman"/>
              <a:ea typeface="Times New Roman"/>
              <a:cs typeface="Times New Roman"/>
              <a:sym typeface="Times New Roman"/>
            </a:endParaRPr>
          </a:p>
        </p:txBody>
      </p:sp>
      <p:sp>
        <p:nvSpPr>
          <p:cNvPr id="259" name="Google Shape;259;p40"/>
          <p:cNvSpPr txBox="1"/>
          <p:nvPr/>
        </p:nvSpPr>
        <p:spPr>
          <a:xfrm>
            <a:off x="342900" y="1143000"/>
            <a:ext cx="7799100" cy="3635100"/>
          </a:xfrm>
          <a:prstGeom prst="rect">
            <a:avLst/>
          </a:prstGeom>
          <a:noFill/>
          <a:ln>
            <a:noFill/>
          </a:ln>
        </p:spPr>
        <p:txBody>
          <a:bodyPr anchorCtr="0" anchor="ctr" bIns="45000" lIns="90000" spcFirstLastPara="1" rIns="90000" wrap="square" tIns="45000">
            <a:noAutofit/>
          </a:bodyPr>
          <a:lstStyle/>
          <a:p>
            <a:pPr indent="-374650" lvl="0" marL="342900" marR="0" rtl="0" algn="just">
              <a:lnSpc>
                <a:spcPct val="100000"/>
              </a:lnSpc>
              <a:spcBef>
                <a:spcPts val="0"/>
              </a:spcBef>
              <a:spcAft>
                <a:spcPts val="0"/>
              </a:spcAft>
              <a:buClr>
                <a:srgbClr val="000000"/>
              </a:buClr>
              <a:buSzPts val="2100"/>
              <a:buFont typeface="Times New Roman"/>
              <a:buChar char="•"/>
            </a:pPr>
            <a:r>
              <a:rPr lang="en" sz="1600">
                <a:solidFill>
                  <a:schemeClr val="dk1"/>
                </a:solidFill>
                <a:latin typeface="Times New Roman"/>
                <a:ea typeface="Times New Roman"/>
                <a:cs typeface="Times New Roman"/>
                <a:sym typeface="Times New Roman"/>
              </a:rPr>
              <a:t>Conclusion: The hybrid LLM-augmented pipeline successfully eliminated Regex context-blindness (achieving an 87.23% F1-Score) and guaranteed zero-trust data privacy via local MLX execution, definitively validating the core research hypothesis.</a:t>
            </a:r>
            <a:endParaRPr sz="1600">
              <a:solidFill>
                <a:schemeClr val="dk1"/>
              </a:solidFill>
              <a:latin typeface="Times New Roman"/>
              <a:ea typeface="Times New Roman"/>
              <a:cs typeface="Times New Roman"/>
              <a:sym typeface="Times New Roman"/>
            </a:endParaRPr>
          </a:p>
          <a:p>
            <a:pPr indent="0" lvl="0" marL="457200" marR="0" rtl="0" algn="just">
              <a:lnSpc>
                <a:spcPct val="100000"/>
              </a:lnSpc>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chemeClr val="dk1"/>
              </a:buClr>
              <a:buSzPts val="1600"/>
              <a:buFont typeface="Times New Roman"/>
              <a:buChar char="•"/>
            </a:pPr>
            <a:r>
              <a:rPr lang="en" sz="1600">
                <a:solidFill>
                  <a:schemeClr val="dk1"/>
                </a:solidFill>
                <a:latin typeface="Times New Roman"/>
                <a:ea typeface="Times New Roman"/>
                <a:cs typeface="Times New Roman"/>
                <a:sym typeface="Times New Roman"/>
              </a:rPr>
              <a:t>Future Scope:</a:t>
            </a:r>
            <a:endParaRPr sz="1600">
              <a:solidFill>
                <a:schemeClr val="dk1"/>
              </a:solidFill>
              <a:latin typeface="Times New Roman"/>
              <a:ea typeface="Times New Roman"/>
              <a:cs typeface="Times New Roman"/>
              <a:sym typeface="Times New Roman"/>
            </a:endParaRPr>
          </a:p>
          <a:p>
            <a:pPr indent="-333375" lvl="0" marL="742950" marR="0" rtl="0" algn="just">
              <a:lnSpc>
                <a:spcPct val="100000"/>
              </a:lnSpc>
              <a:spcBef>
                <a:spcPts val="0"/>
              </a:spcBef>
              <a:spcAft>
                <a:spcPts val="0"/>
              </a:spcAft>
              <a:buClr>
                <a:srgbClr val="000000"/>
              </a:buClr>
              <a:buSzPts val="1500"/>
              <a:buFont typeface="Arial"/>
              <a:buChar char="•"/>
            </a:pPr>
            <a:r>
              <a:rPr b="0" i="0" lang="en" sz="1500" cap="none" strike="noStrike">
                <a:solidFill>
                  <a:srgbClr val="000000"/>
                </a:solidFill>
                <a:latin typeface="Times New Roman"/>
                <a:ea typeface="Times New Roman"/>
                <a:cs typeface="Times New Roman"/>
                <a:sym typeface="Times New Roman"/>
              </a:rPr>
              <a:t>Cross-Dataset Validation: The model’s current performance is heavily biased toward the CredData benchmark. </a:t>
            </a:r>
            <a:r>
              <a:rPr lang="en" sz="1500">
                <a:solidFill>
                  <a:schemeClr val="dk1"/>
                </a:solidFill>
                <a:latin typeface="Times New Roman"/>
                <a:ea typeface="Times New Roman"/>
                <a:cs typeface="Times New Roman"/>
                <a:sym typeface="Times New Roman"/>
              </a:rPr>
              <a:t>We plan to validate generalization by testing</a:t>
            </a:r>
            <a:r>
              <a:rPr b="0" i="0" lang="en" sz="1500" cap="none" strike="noStrike">
                <a:solidFill>
                  <a:srgbClr val="000000"/>
                </a:solidFill>
                <a:latin typeface="Times New Roman"/>
                <a:ea typeface="Times New Roman"/>
                <a:cs typeface="Times New Roman"/>
                <a:sym typeface="Times New Roman"/>
              </a:rPr>
              <a:t> against the FPSecretBench dataset, pending access approval from the authors.</a:t>
            </a:r>
            <a:endParaRPr b="0" i="0" sz="1500" cap="none" strike="noStrike">
              <a:solidFill>
                <a:srgbClr val="000000"/>
              </a:solidFill>
              <a:latin typeface="Times New Roman"/>
              <a:ea typeface="Times New Roman"/>
              <a:cs typeface="Times New Roman"/>
              <a:sym typeface="Times New Roman"/>
            </a:endParaRPr>
          </a:p>
          <a:p>
            <a:pPr indent="-238125" lvl="0" marL="742950" marR="0" rtl="0" algn="just">
              <a:lnSpc>
                <a:spcPct val="100000"/>
              </a:lnSpc>
              <a:spcBef>
                <a:spcPts val="0"/>
              </a:spcBef>
              <a:spcAft>
                <a:spcPts val="0"/>
              </a:spcAft>
              <a:buClr>
                <a:schemeClr val="dk1"/>
              </a:buClr>
              <a:buSzPts val="1600"/>
              <a:buFont typeface="Arial"/>
              <a:buNone/>
            </a:pPr>
            <a:r>
              <a:t/>
            </a:r>
            <a:endParaRPr b="0" i="0" sz="1500" cap="none" strike="noStrike">
              <a:solidFill>
                <a:srgbClr val="000000"/>
              </a:solidFill>
              <a:latin typeface="Times New Roman"/>
              <a:ea typeface="Times New Roman"/>
              <a:cs typeface="Times New Roman"/>
              <a:sym typeface="Times New Roman"/>
            </a:endParaRPr>
          </a:p>
          <a:p>
            <a:pPr indent="-333375" lvl="0" marL="742950" marR="0" rtl="0" algn="just">
              <a:lnSpc>
                <a:spcPct val="100000"/>
              </a:lnSpc>
              <a:spcBef>
                <a:spcPts val="0"/>
              </a:spcBef>
              <a:spcAft>
                <a:spcPts val="0"/>
              </a:spcAft>
              <a:buClr>
                <a:srgbClr val="000000"/>
              </a:buClr>
              <a:buSzPts val="1500"/>
              <a:buFont typeface="Arial"/>
              <a:buChar char="•"/>
            </a:pPr>
            <a:r>
              <a:rPr b="0" i="0" lang="en" sz="1500" cap="none" strike="noStrike">
                <a:solidFill>
                  <a:srgbClr val="000000"/>
                </a:solidFill>
                <a:latin typeface="Times New Roman"/>
                <a:ea typeface="Times New Roman"/>
                <a:cs typeface="Times New Roman"/>
                <a:sym typeface="Times New Roman"/>
              </a:rPr>
              <a:t>Aggressive Latency Mitigation: Shift research focus from detection accuracy to operational speed. Investigate batch processing through the MLX engine or aggressive model pruning to drop per-snippet inference times to a viable DevSecOps threshold.</a:t>
            </a:r>
            <a:endParaRPr b="0" i="0" sz="1500" cap="none" strike="noStrike">
              <a:solidFill>
                <a:srgbClr val="000000"/>
              </a:solidFill>
              <a:latin typeface="Times New Roman"/>
              <a:ea typeface="Times New Roman"/>
              <a:cs typeface="Times New Roman"/>
              <a:sym typeface="Times New Roman"/>
            </a:endParaRPr>
          </a:p>
          <a:p>
            <a:pPr indent="-238125" lvl="0" marL="742950" marR="0" rtl="0" algn="just">
              <a:lnSpc>
                <a:spcPct val="100000"/>
              </a:lnSpc>
              <a:spcBef>
                <a:spcPts val="0"/>
              </a:spcBef>
              <a:spcAft>
                <a:spcPts val="0"/>
              </a:spcAft>
              <a:buClr>
                <a:schemeClr val="dk1"/>
              </a:buClr>
              <a:buSzPts val="1600"/>
              <a:buFont typeface="Arial"/>
              <a:buNone/>
            </a:pPr>
            <a:r>
              <a:t/>
            </a:r>
            <a:endParaRPr b="0" i="0" sz="1500" cap="none" strike="noStrike">
              <a:solidFill>
                <a:srgbClr val="000000"/>
              </a:solidFill>
              <a:latin typeface="Times New Roman"/>
              <a:ea typeface="Times New Roman"/>
              <a:cs typeface="Times New Roman"/>
              <a:sym typeface="Times New Roman"/>
            </a:endParaRPr>
          </a:p>
          <a:p>
            <a:pPr indent="-333375" lvl="0" marL="742950" marR="0" rtl="0" algn="just">
              <a:lnSpc>
                <a:spcPct val="100000"/>
              </a:lnSpc>
              <a:spcBef>
                <a:spcPts val="0"/>
              </a:spcBef>
              <a:spcAft>
                <a:spcPts val="0"/>
              </a:spcAft>
              <a:buClr>
                <a:srgbClr val="000000"/>
              </a:buClr>
              <a:buSzPts val="1500"/>
              <a:buFont typeface="Arial"/>
              <a:buChar char="•"/>
            </a:pPr>
            <a:r>
              <a:rPr b="0" i="0" lang="en" sz="1500" cap="none" strike="noStrike">
                <a:solidFill>
                  <a:srgbClr val="000000"/>
                </a:solidFill>
                <a:latin typeface="Times New Roman"/>
                <a:ea typeface="Times New Roman"/>
                <a:cs typeface="Times New Roman"/>
                <a:sym typeface="Times New Roman"/>
              </a:rPr>
              <a:t>Pipeline Integration: Package the validated Python/MLX architecture into a deployable CLI tool or a standardized GitHub Action for seamless CI/CD pipeline integration.</a:t>
            </a:r>
            <a:endParaRPr b="0" i="0" sz="1500" cap="none" strike="noStrike">
              <a:solidFill>
                <a:srgbClr val="000000"/>
              </a:solidFill>
              <a:latin typeface="Times New Roman"/>
              <a:ea typeface="Times New Roman"/>
              <a:cs typeface="Times New Roman"/>
              <a:sym typeface="Times New Roman"/>
            </a:endParaRPr>
          </a:p>
        </p:txBody>
      </p:sp>
      <p:sp>
        <p:nvSpPr>
          <p:cNvPr id="260" name="Google Shape;260;p4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61" name="Google Shape;261;p4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1"/>
          <p:cNvSpPr txBox="1"/>
          <p:nvPr>
            <p:ph type="title"/>
          </p:nvPr>
        </p:nvSpPr>
        <p:spPr>
          <a:xfrm>
            <a:off x="342900" y="274628"/>
            <a:ext cx="1888500" cy="525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572314"/>
              </a:buClr>
              <a:buSzPts val="2500"/>
              <a:buFont typeface="Times New Roman"/>
              <a:buNone/>
            </a:pPr>
            <a:r>
              <a:rPr b="1" lang="en" sz="2800">
                <a:solidFill>
                  <a:srgbClr val="572314"/>
                </a:solidFill>
                <a:latin typeface="Times New Roman"/>
                <a:ea typeface="Times New Roman"/>
                <a:cs typeface="Times New Roman"/>
                <a:sym typeface="Times New Roman"/>
              </a:rPr>
              <a:t>References</a:t>
            </a:r>
            <a:endParaRPr b="1" sz="2800">
              <a:solidFill>
                <a:srgbClr val="572314"/>
              </a:solidFill>
              <a:latin typeface="Times New Roman"/>
              <a:ea typeface="Times New Roman"/>
              <a:cs typeface="Times New Roman"/>
              <a:sym typeface="Times New Roman"/>
            </a:endParaRPr>
          </a:p>
        </p:txBody>
      </p:sp>
      <p:sp>
        <p:nvSpPr>
          <p:cNvPr id="267" name="Google Shape;267;p41"/>
          <p:cNvSpPr txBox="1"/>
          <p:nvPr/>
        </p:nvSpPr>
        <p:spPr>
          <a:xfrm>
            <a:off x="342900" y="899300"/>
            <a:ext cx="7799100" cy="4027800"/>
          </a:xfrm>
          <a:prstGeom prst="rect">
            <a:avLst/>
          </a:prstGeom>
          <a:noFill/>
          <a:ln>
            <a:noFill/>
          </a:ln>
        </p:spPr>
        <p:txBody>
          <a:bodyPr anchorCtr="0" anchor="ctr" bIns="45700" lIns="91425" spcFirstLastPara="1" rIns="91425" wrap="square" tIns="45700">
            <a:noAutofit/>
          </a:bodyPr>
          <a:lstStyle/>
          <a:p>
            <a:pPr indent="0" lvl="0" marL="0" marR="0" rtl="0" algn="just">
              <a:lnSpc>
                <a:spcPct val="100000"/>
              </a:lnSpc>
              <a:spcBef>
                <a:spcPts val="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[1] G. D. Apostolidis, I. Kalouptsoglou, M. Siavvas, D. Kehagias, and D. Tzovaras, "AI-Enhanced Static Analysis: Reducing False Alarms Using Large Language Models," in 2025 IEEE International Conference on Smart Computing (SMARTCOMP),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[2] S. Jin, "Large Language Models for Vulnerability Detection in Static Code Analysis: A Survey," in 2025 8th International Conference on Artificial Intelligence and Big Data (ICAIBD),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[3] K. Dozono, J. Engesser, B. Hummelt, T. Roehm, and A. Pretschner, "Should We Evaluate LLM Based Security Analysis Approaches on Open Source Systems?," in 2025 40th IEEE/ACM International Conference on Automated Software Engineering (ASE),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[4] Z. Guo et al., "Mitigating False Positive Static Analysis Warnings: Progress, Challenges, and Opportunities," IEEE Transactions on Software Engineering, vol. 49, no. 12, pp. 5154-5186, Dec. 2023.</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[5] J. Li et al., "Steering Large Language Models for Vulnerability Detection," in 2025 IEEE International Conference on Acoustics, Speech and Signal Processing (ICASSP),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[6] T. Muske and U. P. Khedker, "Efficient Elimination of False Positives using Static Analysis," in 2015 IEEE, 2015.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Clr>
                <a:schemeClr val="dk1"/>
              </a:buClr>
              <a:buSzPts val="1200"/>
              <a:buFont typeface="Times New Roman"/>
              <a:buNone/>
            </a:pPr>
            <a:r>
              <a:rPr lang="en" sz="1200">
                <a:solidFill>
                  <a:schemeClr val="dk1"/>
                </a:solidFill>
                <a:latin typeface="Times New Roman"/>
                <a:ea typeface="Times New Roman"/>
                <a:cs typeface="Times New Roman"/>
                <a:sym typeface="Times New Roman"/>
              </a:rPr>
              <a:t>[7] M. Kim, L. Caccia, Z. Shi, M. Pereira, M.-A. Côté, X. Yuan, and A. Sordoni, "Learning to Extract Context for Context-Aware LLM Inference," Microsoft Research, 2025.</a:t>
            </a:r>
            <a:endParaRPr sz="1200">
              <a:solidFill>
                <a:schemeClr val="dk1"/>
              </a:solidFill>
              <a:latin typeface="Times New Roman"/>
              <a:ea typeface="Times New Roman"/>
              <a:cs typeface="Times New Roman"/>
              <a:sym typeface="Times New Roman"/>
            </a:endParaRPr>
          </a:p>
          <a:p>
            <a:pPr indent="0" lvl="0" marL="0" marR="0" rtl="0" algn="just">
              <a:lnSpc>
                <a:spcPct val="100000"/>
              </a:lnSpc>
              <a:spcBef>
                <a:spcPts val="800"/>
              </a:spcBef>
              <a:spcAft>
                <a:spcPts val="0"/>
              </a:spcAft>
              <a:buNone/>
            </a:pPr>
            <a:r>
              <a:rPr lang="en" sz="1200">
                <a:solidFill>
                  <a:schemeClr val="dk1"/>
                </a:solidFill>
                <a:latin typeface="Times New Roman"/>
                <a:ea typeface="Times New Roman"/>
                <a:cs typeface="Times New Roman"/>
                <a:sym typeface="Times New Roman"/>
              </a:rPr>
              <a:t>[8] D. Schwarz, "Countermind: A Multi-Layered Security Architecture for Large Language Models," arXiv preprint arXiv:2510.11837v1, Oct. 2025.</a:t>
            </a:r>
            <a:endParaRPr sz="1200">
              <a:solidFill>
                <a:schemeClr val="dk1"/>
              </a:solidFill>
              <a:latin typeface="Times New Roman"/>
              <a:ea typeface="Times New Roman"/>
              <a:cs typeface="Times New Roman"/>
              <a:sym typeface="Times New Roman"/>
            </a:endParaRPr>
          </a:p>
        </p:txBody>
      </p:sp>
      <p:pic>
        <p:nvPicPr>
          <p:cNvPr id="268" name="Google Shape;268;p4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274" name="Google Shape;274;p42" title="Gemini_Generated_Image_k7cps3k7cps3k7cp.png"/>
          <p:cNvPicPr preferRelativeResize="0"/>
          <p:nvPr/>
        </p:nvPicPr>
        <p:blipFill>
          <a:blip r:embed="rId3">
            <a:alphaModFix/>
          </a:blip>
          <a:stretch>
            <a:fillRect/>
          </a:stretch>
        </p:blipFill>
        <p:spPr>
          <a:xfrm>
            <a:off x="1360225" y="780813"/>
            <a:ext cx="6423552" cy="358187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larity">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